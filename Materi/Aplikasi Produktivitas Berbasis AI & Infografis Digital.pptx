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8288000" cy="10287000"/>
  <p:notesSz cx="6858000" cy="9144000"/>
  <p:embeddedFontLst>
    <p:embeddedFont>
      <p:font typeface="DM Sans" pitchFamily="2" charset="77"/>
      <p:regular r:id="rId11"/>
      <p:bold r:id="rId12"/>
      <p:italic r:id="rId13"/>
      <p:boldItalic r:id="rId14"/>
    </p:embeddedFont>
    <p:embeddedFont>
      <p:font typeface="DM Sans Bold" pitchFamily="2" charset="77"/>
      <p:regular r:id="rId15"/>
      <p:bold r:id="rId16"/>
    </p:embeddedFont>
    <p:embeddedFont>
      <p:font typeface="Montaser Arabic Semi-Bold" pitchFamily="2" charset="-78"/>
      <p:regular r:id="rId17"/>
      <p:bold r:id="rId18"/>
    </p:embeddedFont>
    <p:embeddedFont>
      <p:font typeface="Montserrat" pitchFamily="2" charset="77"/>
      <p:regular r:id="rId19"/>
    </p:embeddedFont>
    <p:embeddedFont>
      <p:font typeface="Montserrat Bold"/>
      <p:regular r:id="rId20"/>
      <p:bold r:id="rId21"/>
    </p:embeddedFont>
    <p:embeddedFont>
      <p:font typeface="Montserrat Medium" panose="00000600000000000000"/>
      <p:regular r:id="rId22"/>
    </p:embeddedFont>
    <p:embeddedFont>
      <p:font typeface="Open Sans" panose="020B0606030504020204" pitchFamily="34" charset="0"/>
      <p:regular r:id="rId23"/>
    </p:embeddedFont>
    <p:embeddedFont>
      <p:font typeface="Open Sans Bold" panose="020B0806030504020204" pitchFamily="34" charset="0"/>
      <p:regular r:id="rId24"/>
      <p:bold r:id="rId25"/>
    </p:embeddedFont>
    <p:embeddedFont>
      <p:font typeface="Open Sans Ultra-Bold" pitchFamily="2" charset="0"/>
      <p:regular r:id="rId26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589" autoAdjust="0"/>
  </p:normalViewPr>
  <p:slideViewPr>
    <p:cSldViewPr>
      <p:cViewPr varScale="1">
        <p:scale>
          <a:sx n="80" d="100"/>
          <a:sy n="80" d="100"/>
        </p:scale>
        <p:origin x="82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3" Type="http://schemas.openxmlformats.org/officeDocument/2006/relationships/image" Target="../media/image34.png"/><Relationship Id="rId21" Type="http://schemas.openxmlformats.org/officeDocument/2006/relationships/image" Target="../media/image52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5" Type="http://schemas.openxmlformats.org/officeDocument/2006/relationships/image" Target="../media/image56.png"/><Relationship Id="rId2" Type="http://schemas.openxmlformats.org/officeDocument/2006/relationships/image" Target="../media/image33.png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24" Type="http://schemas.openxmlformats.org/officeDocument/2006/relationships/image" Target="../media/image55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23" Type="http://schemas.openxmlformats.org/officeDocument/2006/relationships/image" Target="../media/image54.png"/><Relationship Id="rId10" Type="http://schemas.openxmlformats.org/officeDocument/2006/relationships/image" Target="../media/image41.png"/><Relationship Id="rId19" Type="http://schemas.openxmlformats.org/officeDocument/2006/relationships/image" Target="../media/image50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Relationship Id="rId22" Type="http://schemas.openxmlformats.org/officeDocument/2006/relationships/image" Target="../media/image5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18" Type="http://schemas.openxmlformats.org/officeDocument/2006/relationships/image" Target="../media/image87.png"/><Relationship Id="rId3" Type="http://schemas.openxmlformats.org/officeDocument/2006/relationships/image" Target="../media/image72.png"/><Relationship Id="rId21" Type="http://schemas.openxmlformats.org/officeDocument/2006/relationships/image" Target="../media/image90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17" Type="http://schemas.openxmlformats.org/officeDocument/2006/relationships/image" Target="../media/image86.png"/><Relationship Id="rId2" Type="http://schemas.openxmlformats.org/officeDocument/2006/relationships/image" Target="../media/image71.png"/><Relationship Id="rId16" Type="http://schemas.openxmlformats.org/officeDocument/2006/relationships/image" Target="../media/image85.png"/><Relationship Id="rId20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4.png"/><Relationship Id="rId10" Type="http://schemas.openxmlformats.org/officeDocument/2006/relationships/image" Target="../media/image79.png"/><Relationship Id="rId19" Type="http://schemas.openxmlformats.org/officeDocument/2006/relationships/image" Target="../media/image88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Relationship Id="rId22" Type="http://schemas.openxmlformats.org/officeDocument/2006/relationships/image" Target="../media/image9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3.png"/><Relationship Id="rId18" Type="http://schemas.openxmlformats.org/officeDocument/2006/relationships/image" Target="../media/image108.png"/><Relationship Id="rId3" Type="http://schemas.openxmlformats.org/officeDocument/2006/relationships/image" Target="../media/image93.png"/><Relationship Id="rId21" Type="http://schemas.openxmlformats.org/officeDocument/2006/relationships/image" Target="../media/image111.png"/><Relationship Id="rId7" Type="http://schemas.openxmlformats.org/officeDocument/2006/relationships/image" Target="../media/image97.png"/><Relationship Id="rId12" Type="http://schemas.openxmlformats.org/officeDocument/2006/relationships/image" Target="../media/image102.png"/><Relationship Id="rId17" Type="http://schemas.openxmlformats.org/officeDocument/2006/relationships/image" Target="../media/image107.png"/><Relationship Id="rId2" Type="http://schemas.openxmlformats.org/officeDocument/2006/relationships/image" Target="../media/image92.png"/><Relationship Id="rId16" Type="http://schemas.openxmlformats.org/officeDocument/2006/relationships/image" Target="../media/image106.png"/><Relationship Id="rId20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24" Type="http://schemas.openxmlformats.org/officeDocument/2006/relationships/image" Target="../media/image114.png"/><Relationship Id="rId5" Type="http://schemas.openxmlformats.org/officeDocument/2006/relationships/image" Target="../media/image95.png"/><Relationship Id="rId15" Type="http://schemas.openxmlformats.org/officeDocument/2006/relationships/image" Target="../media/image105.png"/><Relationship Id="rId23" Type="http://schemas.openxmlformats.org/officeDocument/2006/relationships/image" Target="../media/image113.png"/><Relationship Id="rId10" Type="http://schemas.openxmlformats.org/officeDocument/2006/relationships/image" Target="../media/image100.png"/><Relationship Id="rId19" Type="http://schemas.openxmlformats.org/officeDocument/2006/relationships/image" Target="../media/image109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Relationship Id="rId14" Type="http://schemas.openxmlformats.org/officeDocument/2006/relationships/image" Target="../media/image104.png"/><Relationship Id="rId22" Type="http://schemas.openxmlformats.org/officeDocument/2006/relationships/image" Target="../media/image1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18" Type="http://schemas.openxmlformats.org/officeDocument/2006/relationships/image" Target="../media/image131.png"/><Relationship Id="rId3" Type="http://schemas.openxmlformats.org/officeDocument/2006/relationships/image" Target="../media/image116.png"/><Relationship Id="rId21" Type="http://schemas.openxmlformats.org/officeDocument/2006/relationships/image" Target="../media/image134.png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17" Type="http://schemas.openxmlformats.org/officeDocument/2006/relationships/image" Target="../media/image130.png"/><Relationship Id="rId25" Type="http://schemas.openxmlformats.org/officeDocument/2006/relationships/image" Target="../media/image138.png"/><Relationship Id="rId2" Type="http://schemas.openxmlformats.org/officeDocument/2006/relationships/image" Target="../media/image115.png"/><Relationship Id="rId16" Type="http://schemas.openxmlformats.org/officeDocument/2006/relationships/image" Target="../media/image129.png"/><Relationship Id="rId20" Type="http://schemas.openxmlformats.org/officeDocument/2006/relationships/image" Target="../media/image1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24" Type="http://schemas.openxmlformats.org/officeDocument/2006/relationships/image" Target="../media/image137.png"/><Relationship Id="rId5" Type="http://schemas.openxmlformats.org/officeDocument/2006/relationships/image" Target="../media/image118.png"/><Relationship Id="rId15" Type="http://schemas.openxmlformats.org/officeDocument/2006/relationships/image" Target="../media/image128.png"/><Relationship Id="rId23" Type="http://schemas.openxmlformats.org/officeDocument/2006/relationships/image" Target="../media/image136.png"/><Relationship Id="rId10" Type="http://schemas.openxmlformats.org/officeDocument/2006/relationships/image" Target="../media/image123.png"/><Relationship Id="rId19" Type="http://schemas.openxmlformats.org/officeDocument/2006/relationships/image" Target="../media/image132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Relationship Id="rId14" Type="http://schemas.openxmlformats.org/officeDocument/2006/relationships/image" Target="../media/image127.png"/><Relationship Id="rId22" Type="http://schemas.openxmlformats.org/officeDocument/2006/relationships/image" Target="../media/image1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8287542" cy="102780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" y="0"/>
            <a:ext cx="18287543" cy="1028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B10D191D-E6AA-5557-C18C-5405BD62C20F}"/>
              </a:ext>
            </a:extLst>
          </p:cNvPr>
          <p:cNvSpPr txBox="1"/>
          <p:nvPr/>
        </p:nvSpPr>
        <p:spPr>
          <a:xfrm>
            <a:off x="9837816" y="4000500"/>
            <a:ext cx="8221584" cy="3810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000" b="1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  <a:sym typeface="Montaser Arabic Semi-Bold"/>
              </a:rPr>
              <a:t>Aplikasi</a:t>
            </a:r>
            <a:r>
              <a:rPr lang="en-US" sz="7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  <a:sym typeface="Montaser Arabic Semi-Bold"/>
              </a:rPr>
              <a:t> </a:t>
            </a:r>
            <a:r>
              <a:rPr lang="en-US" sz="7000" b="1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  <a:sym typeface="Montaser Arabic Semi-Bold"/>
              </a:rPr>
              <a:t>Produktivitas</a:t>
            </a:r>
            <a:r>
              <a:rPr lang="en-US" sz="7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  <a:sym typeface="Montaser Arabic Semi-Bold"/>
              </a:rPr>
              <a:t> </a:t>
            </a:r>
            <a:r>
              <a:rPr lang="en-US" sz="7000" b="1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  <a:sym typeface="Montaser Arabic Semi-Bold"/>
              </a:rPr>
              <a:t>Berbasis</a:t>
            </a:r>
            <a:r>
              <a:rPr lang="en-US" sz="7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  <a:sym typeface="Montaser Arabic Semi-Bold"/>
              </a:rPr>
              <a:t> AI &amp; </a:t>
            </a:r>
            <a:r>
              <a:rPr lang="en-US" sz="7000" b="1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  <a:sym typeface="Montaser Arabic Semi-Bold"/>
              </a:rPr>
              <a:t>Infografis</a:t>
            </a:r>
            <a:r>
              <a:rPr lang="en-US" sz="7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  <a:sym typeface="Montaser Arabic Semi-Bold"/>
              </a:rPr>
              <a:t> Digital</a:t>
            </a:r>
          </a:p>
        </p:txBody>
      </p:sp>
      <p:pic>
        <p:nvPicPr>
          <p:cNvPr id="8" name="Graphic 7" descr="Robot">
            <a:extLst>
              <a:ext uri="{FF2B5EF4-FFF2-40B4-BE49-F238E27FC236}">
                <a16:creationId xmlns:a16="http://schemas.microsoft.com/office/drawing/2014/main" id="{3D0F8125-D3CC-A576-ABCF-05A7AEF790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0705" y="2722979"/>
            <a:ext cx="6212640" cy="621264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379" y="-8965"/>
            <a:ext cx="9358011" cy="10295969"/>
            <a:chOff x="305" y="-5977"/>
            <a:chExt cx="6238675" cy="6863979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15401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32688" y="837978"/>
            <a:ext cx="5522976" cy="1974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22"/>
              </a:lnSpc>
            </a:pPr>
            <a:r>
              <a:rPr lang="en-US" sz="762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sebagai Asisten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32688" y="2778008"/>
            <a:ext cx="6748272" cy="944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74"/>
              </a:lnSpc>
            </a:pPr>
            <a:r>
              <a:rPr lang="en-US" sz="7174" b="1">
                <a:solidFill>
                  <a:srgbClr val="2A7FF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Produktivitas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32688" y="3887206"/>
            <a:ext cx="6967728" cy="806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7"/>
              </a:lnSpc>
            </a:pPr>
            <a:r>
              <a:rPr lang="en-US" sz="2498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Bantu bekerja lebih cepat dan terarah dalam membuat infografis dan presentasi.</a:t>
            </a:r>
          </a:p>
        </p:txBody>
      </p:sp>
      <p:sp>
        <p:nvSpPr>
          <p:cNvPr id="6" name="Freeform 6"/>
          <p:cNvSpPr/>
          <p:nvPr/>
        </p:nvSpPr>
        <p:spPr>
          <a:xfrm>
            <a:off x="866775" y="4924425"/>
            <a:ext cx="4362450" cy="219075"/>
          </a:xfrm>
          <a:custGeom>
            <a:avLst/>
            <a:gdLst/>
            <a:ahLst/>
            <a:cxnLst/>
            <a:rect l="l" t="t" r="r" b="b"/>
            <a:pathLst>
              <a:path w="4362450" h="219075">
                <a:moveTo>
                  <a:pt x="0" y="0"/>
                </a:moveTo>
                <a:lnTo>
                  <a:pt x="4362450" y="0"/>
                </a:lnTo>
                <a:lnTo>
                  <a:pt x="4362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866775" y="5353050"/>
            <a:ext cx="447675" cy="438150"/>
          </a:xfrm>
          <a:custGeom>
            <a:avLst/>
            <a:gdLst/>
            <a:ahLst/>
            <a:cxnLst/>
            <a:rect l="l" t="t" r="r" b="b"/>
            <a:pathLst>
              <a:path w="447675" h="438150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426464" y="5388072"/>
            <a:ext cx="4224528" cy="33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09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Mencari ide untuk isi infografis</a:t>
            </a:r>
          </a:p>
        </p:txBody>
      </p:sp>
      <p:sp>
        <p:nvSpPr>
          <p:cNvPr id="9" name="Freeform 9"/>
          <p:cNvSpPr/>
          <p:nvPr/>
        </p:nvSpPr>
        <p:spPr>
          <a:xfrm>
            <a:off x="866775" y="5781675"/>
            <a:ext cx="447675" cy="438150"/>
          </a:xfrm>
          <a:custGeom>
            <a:avLst/>
            <a:gdLst/>
            <a:ahLst/>
            <a:cxnLst/>
            <a:rect l="l" t="t" r="r" b="b"/>
            <a:pathLst>
              <a:path w="447675" h="438150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426464" y="5902586"/>
            <a:ext cx="5084064" cy="335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7"/>
              </a:lnSpc>
            </a:pPr>
            <a:r>
              <a:rPr lang="en-US" sz="2121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Membuat draf teks dan poin penting</a:t>
            </a:r>
          </a:p>
        </p:txBody>
      </p:sp>
      <p:sp>
        <p:nvSpPr>
          <p:cNvPr id="11" name="Freeform 11"/>
          <p:cNvSpPr/>
          <p:nvPr/>
        </p:nvSpPr>
        <p:spPr>
          <a:xfrm>
            <a:off x="866775" y="6429375"/>
            <a:ext cx="447675" cy="428625"/>
          </a:xfrm>
          <a:custGeom>
            <a:avLst/>
            <a:gdLst/>
            <a:ahLst/>
            <a:cxnLst/>
            <a:rect l="l" t="t" r="r" b="b"/>
            <a:pathLst>
              <a:path w="447675" h="42862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426464" y="6406485"/>
            <a:ext cx="6748272" cy="33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09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Menyederhanakan bahasa agar mudah dipahami</a:t>
            </a:r>
          </a:p>
        </p:txBody>
      </p:sp>
      <p:sp>
        <p:nvSpPr>
          <p:cNvPr id="13" name="Freeform 13"/>
          <p:cNvSpPr/>
          <p:nvPr/>
        </p:nvSpPr>
        <p:spPr>
          <a:xfrm>
            <a:off x="866775" y="6858000"/>
            <a:ext cx="447675" cy="428625"/>
          </a:xfrm>
          <a:custGeom>
            <a:avLst/>
            <a:gdLst/>
            <a:ahLst/>
            <a:cxnLst/>
            <a:rect l="l" t="t" r="r" b="b"/>
            <a:pathLst>
              <a:path w="447675" h="42862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426464" y="6920999"/>
            <a:ext cx="6126480" cy="335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7"/>
              </a:lnSpc>
            </a:pPr>
            <a:r>
              <a:rPr lang="en-US" sz="2121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Memberi ide desain seperti layout dan visual</a:t>
            </a:r>
          </a:p>
        </p:txBody>
      </p:sp>
      <p:sp>
        <p:nvSpPr>
          <p:cNvPr id="15" name="Freeform 15"/>
          <p:cNvSpPr/>
          <p:nvPr/>
        </p:nvSpPr>
        <p:spPr>
          <a:xfrm>
            <a:off x="647700" y="7496175"/>
            <a:ext cx="8496300" cy="2362200"/>
          </a:xfrm>
          <a:custGeom>
            <a:avLst/>
            <a:gdLst/>
            <a:ahLst/>
            <a:cxnLst/>
            <a:rect l="l" t="t" r="r" b="b"/>
            <a:pathLst>
              <a:path w="8496300" h="2362200">
                <a:moveTo>
                  <a:pt x="0" y="0"/>
                </a:moveTo>
                <a:lnTo>
                  <a:pt x="8496300" y="0"/>
                </a:lnTo>
                <a:lnTo>
                  <a:pt x="84963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085850" y="7924800"/>
            <a:ext cx="1095375" cy="1295400"/>
          </a:xfrm>
          <a:custGeom>
            <a:avLst/>
            <a:gdLst/>
            <a:ahLst/>
            <a:cxnLst/>
            <a:rect l="l" t="t" r="r" b="b"/>
            <a:pathLst>
              <a:path w="1095375" h="1295400">
                <a:moveTo>
                  <a:pt x="0" y="0"/>
                </a:moveTo>
                <a:lnTo>
                  <a:pt x="1095375" y="0"/>
                </a:lnTo>
                <a:lnTo>
                  <a:pt x="1095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2560320" y="7931444"/>
            <a:ext cx="4626864" cy="361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306" b="1">
                <a:solidFill>
                  <a:srgbClr val="2A7FF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bukan penentu kebenaran.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560320" y="8350892"/>
            <a:ext cx="6236208" cy="335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7"/>
              </a:lnSpc>
            </a:pPr>
            <a:r>
              <a:rPr lang="en-US" sz="2121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Manusia harus memeriksa dan memutuskan.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60320" y="8935536"/>
            <a:ext cx="3931920" cy="677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7"/>
              </a:lnSpc>
            </a:pPr>
            <a:r>
              <a:rPr lang="en-US" sz="2121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Gunakan AI sebagai asisten,</a:t>
            </a:r>
          </a:p>
          <a:p>
            <a:pPr algn="l">
              <a:lnSpc>
                <a:spcPts val="2757"/>
              </a:lnSpc>
            </a:pPr>
            <a:r>
              <a:rPr lang="en-US" sz="2121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bukan satu-satunya sumber.</a:t>
            </a:r>
          </a:p>
        </p:txBody>
      </p:sp>
      <p:sp>
        <p:nvSpPr>
          <p:cNvPr id="20" name="Freeform 20"/>
          <p:cNvSpPr/>
          <p:nvPr/>
        </p:nvSpPr>
        <p:spPr>
          <a:xfrm>
            <a:off x="10448925" y="1924050"/>
            <a:ext cx="2838450" cy="2790825"/>
          </a:xfrm>
          <a:custGeom>
            <a:avLst/>
            <a:gdLst/>
            <a:ahLst/>
            <a:cxnLst/>
            <a:rect l="l" t="t" r="r" b="b"/>
            <a:pathLst>
              <a:path w="2838450" h="2790825">
                <a:moveTo>
                  <a:pt x="0" y="0"/>
                </a:moveTo>
                <a:lnTo>
                  <a:pt x="2838450" y="0"/>
                </a:lnTo>
                <a:lnTo>
                  <a:pt x="283845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3716000" y="1714500"/>
            <a:ext cx="2619375" cy="1933575"/>
          </a:xfrm>
          <a:custGeom>
            <a:avLst/>
            <a:gdLst/>
            <a:ahLst/>
            <a:cxnLst/>
            <a:rect l="l" t="t" r="r" b="b"/>
            <a:pathLst>
              <a:path w="2619375" h="1933575">
                <a:moveTo>
                  <a:pt x="0" y="0"/>
                </a:moveTo>
                <a:lnTo>
                  <a:pt x="2619375" y="0"/>
                </a:lnTo>
                <a:lnTo>
                  <a:pt x="26193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9353550" y="4924425"/>
            <a:ext cx="2190750" cy="1933575"/>
          </a:xfrm>
          <a:custGeom>
            <a:avLst/>
            <a:gdLst/>
            <a:ahLst/>
            <a:cxnLst/>
            <a:rect l="l" t="t" r="r" b="b"/>
            <a:pathLst>
              <a:path w="2190750" h="1933575">
                <a:moveTo>
                  <a:pt x="0" y="0"/>
                </a:moveTo>
                <a:lnTo>
                  <a:pt x="2190750" y="0"/>
                </a:lnTo>
                <a:lnTo>
                  <a:pt x="21907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2192000" y="4924425"/>
            <a:ext cx="2181225" cy="2152650"/>
          </a:xfrm>
          <a:custGeom>
            <a:avLst/>
            <a:gdLst/>
            <a:ahLst/>
            <a:cxnLst/>
            <a:rect l="l" t="t" r="r" b="b"/>
            <a:pathLst>
              <a:path w="2181225" h="2152650">
                <a:moveTo>
                  <a:pt x="0" y="0"/>
                </a:moveTo>
                <a:lnTo>
                  <a:pt x="2181225" y="0"/>
                </a:lnTo>
                <a:lnTo>
                  <a:pt x="2181225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14582775" y="3857625"/>
            <a:ext cx="3057525" cy="3648075"/>
          </a:xfrm>
          <a:custGeom>
            <a:avLst/>
            <a:gdLst/>
            <a:ahLst/>
            <a:cxnLst/>
            <a:rect l="l" t="t" r="r" b="b"/>
            <a:pathLst>
              <a:path w="3057525" h="3648075">
                <a:moveTo>
                  <a:pt x="0" y="0"/>
                </a:moveTo>
                <a:lnTo>
                  <a:pt x="3057525" y="0"/>
                </a:lnTo>
                <a:lnTo>
                  <a:pt x="305752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0010775" y="3429000"/>
            <a:ext cx="447675" cy="1714500"/>
          </a:xfrm>
          <a:custGeom>
            <a:avLst/>
            <a:gdLst/>
            <a:ahLst/>
            <a:cxnLst/>
            <a:rect l="l" t="t" r="r" b="b"/>
            <a:pathLst>
              <a:path w="447675" h="1714500">
                <a:moveTo>
                  <a:pt x="0" y="0"/>
                </a:moveTo>
                <a:lnTo>
                  <a:pt x="447675" y="0"/>
                </a:lnTo>
                <a:lnTo>
                  <a:pt x="4476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13277850" y="3000375"/>
            <a:ext cx="438150" cy="1933575"/>
          </a:xfrm>
          <a:custGeom>
            <a:avLst/>
            <a:gdLst/>
            <a:ahLst/>
            <a:cxnLst/>
            <a:rect l="l" t="t" r="r" b="b"/>
            <a:pathLst>
              <a:path w="438150" h="1933575">
                <a:moveTo>
                  <a:pt x="0" y="0"/>
                </a:moveTo>
                <a:lnTo>
                  <a:pt x="438150" y="0"/>
                </a:lnTo>
                <a:lnTo>
                  <a:pt x="4381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11119104" y="2700632"/>
            <a:ext cx="1481328" cy="1413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41"/>
              </a:lnSpc>
            </a:pPr>
            <a:r>
              <a:rPr lang="en-US" sz="10641" b="1">
                <a:solidFill>
                  <a:srgbClr val="2A7FF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524625" y="0"/>
            <a:ext cx="2190750" cy="857250"/>
          </a:xfrm>
          <a:custGeom>
            <a:avLst/>
            <a:gdLst/>
            <a:ahLst/>
            <a:cxnLst/>
            <a:rect l="l" t="t" r="r" b="b"/>
            <a:pathLst>
              <a:path w="2190750" h="857250">
                <a:moveTo>
                  <a:pt x="0" y="0"/>
                </a:moveTo>
                <a:lnTo>
                  <a:pt x="2190750" y="0"/>
                </a:lnTo>
                <a:lnTo>
                  <a:pt x="2190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764000" y="9210675"/>
            <a:ext cx="1524000" cy="1076325"/>
          </a:xfrm>
          <a:custGeom>
            <a:avLst/>
            <a:gdLst/>
            <a:ahLst/>
            <a:cxnLst/>
            <a:rect l="l" t="t" r="r" b="b"/>
            <a:pathLst>
              <a:path w="1524000" h="1076325">
                <a:moveTo>
                  <a:pt x="0" y="0"/>
                </a:moveTo>
                <a:lnTo>
                  <a:pt x="1524000" y="0"/>
                </a:lnTo>
                <a:lnTo>
                  <a:pt x="15240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1972925" y="0"/>
            <a:ext cx="6315075" cy="3000375"/>
          </a:xfrm>
          <a:custGeom>
            <a:avLst/>
            <a:gdLst/>
            <a:ahLst/>
            <a:cxnLst/>
            <a:rect l="l" t="t" r="r" b="b"/>
            <a:pathLst>
              <a:path w="6315075" h="3000375">
                <a:moveTo>
                  <a:pt x="0" y="0"/>
                </a:moveTo>
                <a:lnTo>
                  <a:pt x="6315075" y="0"/>
                </a:lnTo>
                <a:lnTo>
                  <a:pt x="6315075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0" y="7496175"/>
            <a:ext cx="5229225" cy="2790825"/>
          </a:xfrm>
          <a:custGeom>
            <a:avLst/>
            <a:gdLst/>
            <a:ahLst/>
            <a:cxnLst/>
            <a:rect l="l" t="t" r="r" b="b"/>
            <a:pathLst>
              <a:path w="5229225" h="2790825">
                <a:moveTo>
                  <a:pt x="0" y="0"/>
                </a:moveTo>
                <a:lnTo>
                  <a:pt x="5229225" y="0"/>
                </a:lnTo>
                <a:lnTo>
                  <a:pt x="522922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731520" y="955479"/>
            <a:ext cx="5998464" cy="2217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85"/>
              </a:lnSpc>
            </a:pPr>
            <a:r>
              <a:rPr lang="en-US" sz="8932" b="1" dirty="0" err="1">
                <a:solidFill>
                  <a:srgbClr val="003070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Praktik</a:t>
            </a:r>
            <a:r>
              <a:rPr lang="en-US" sz="8932" b="1" dirty="0">
                <a:solidFill>
                  <a:srgbClr val="003070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 </a:t>
            </a:r>
            <a:r>
              <a:rPr lang="en-US" sz="8932" b="1" dirty="0" err="1">
                <a:solidFill>
                  <a:srgbClr val="003070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Pedagogis</a:t>
            </a:r>
            <a:endParaRPr lang="en-US" sz="8932" b="1" dirty="0">
              <a:solidFill>
                <a:srgbClr val="003070"/>
              </a:solidFill>
              <a:latin typeface="Montaser Arabic Semi-Bold"/>
              <a:ea typeface="Montaser Arabic Semi-Bold"/>
              <a:cs typeface="Montaser Arabic Semi-Bold"/>
              <a:sym typeface="Montaser Arabic Semi-Bol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647700" y="3209925"/>
            <a:ext cx="2190750" cy="438150"/>
          </a:xfrm>
          <a:custGeom>
            <a:avLst/>
            <a:gdLst/>
            <a:ahLst/>
            <a:cxnLst/>
            <a:rect l="l" t="t" r="r" b="b"/>
            <a:pathLst>
              <a:path w="2190750" h="438150">
                <a:moveTo>
                  <a:pt x="0" y="0"/>
                </a:moveTo>
                <a:lnTo>
                  <a:pt x="2190750" y="0"/>
                </a:lnTo>
                <a:lnTo>
                  <a:pt x="2190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647700" y="3857625"/>
            <a:ext cx="4800600" cy="4714875"/>
          </a:xfrm>
          <a:custGeom>
            <a:avLst/>
            <a:gdLst/>
            <a:ahLst/>
            <a:cxnLst/>
            <a:rect l="l" t="t" r="r" b="b"/>
            <a:pathLst>
              <a:path w="4800600" h="4714875">
                <a:moveTo>
                  <a:pt x="0" y="0"/>
                </a:moveTo>
                <a:lnTo>
                  <a:pt x="4800600" y="0"/>
                </a:lnTo>
                <a:lnTo>
                  <a:pt x="4800600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733550" y="4286250"/>
            <a:ext cx="3057525" cy="3648075"/>
          </a:xfrm>
          <a:custGeom>
            <a:avLst/>
            <a:gdLst/>
            <a:ahLst/>
            <a:cxnLst/>
            <a:rect l="l" t="t" r="r" b="b"/>
            <a:pathLst>
              <a:path w="3057525" h="3648075">
                <a:moveTo>
                  <a:pt x="0" y="0"/>
                </a:moveTo>
                <a:lnTo>
                  <a:pt x="3057525" y="0"/>
                </a:lnTo>
                <a:lnTo>
                  <a:pt x="305752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7181850" y="1495425"/>
            <a:ext cx="8934450" cy="7934325"/>
          </a:xfrm>
          <a:custGeom>
            <a:avLst/>
            <a:gdLst/>
            <a:ahLst/>
            <a:cxnLst/>
            <a:rect l="l" t="t" r="r" b="b"/>
            <a:pathLst>
              <a:path w="8934450" h="7934325">
                <a:moveTo>
                  <a:pt x="0" y="0"/>
                </a:moveTo>
                <a:lnTo>
                  <a:pt x="8934450" y="0"/>
                </a:lnTo>
                <a:lnTo>
                  <a:pt x="8934450" y="7934325"/>
                </a:lnTo>
                <a:lnTo>
                  <a:pt x="0" y="7934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7181850" y="1495425"/>
            <a:ext cx="4800600" cy="1076325"/>
          </a:xfrm>
          <a:custGeom>
            <a:avLst/>
            <a:gdLst/>
            <a:ahLst/>
            <a:cxnLst/>
            <a:rect l="l" t="t" r="r" b="b"/>
            <a:pathLst>
              <a:path w="4800600" h="1076325">
                <a:moveTo>
                  <a:pt x="0" y="0"/>
                </a:moveTo>
                <a:lnTo>
                  <a:pt x="4800600" y="0"/>
                </a:lnTo>
                <a:lnTo>
                  <a:pt x="4800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1753850" y="1495425"/>
            <a:ext cx="4362450" cy="1076325"/>
          </a:xfrm>
          <a:custGeom>
            <a:avLst/>
            <a:gdLst/>
            <a:ahLst/>
            <a:cxnLst/>
            <a:rect l="l" t="t" r="r" b="b"/>
            <a:pathLst>
              <a:path w="4362450" h="1076325">
                <a:moveTo>
                  <a:pt x="0" y="0"/>
                </a:moveTo>
                <a:lnTo>
                  <a:pt x="4362450" y="0"/>
                </a:lnTo>
                <a:lnTo>
                  <a:pt x="4362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8668512" y="1926580"/>
            <a:ext cx="1737360" cy="396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7"/>
              </a:lnSpc>
            </a:pPr>
            <a:r>
              <a:rPr lang="en-US" sz="2498" b="1" spc="-74">
                <a:solidFill>
                  <a:srgbClr val="FFFFF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Komponen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99264" y="1903884"/>
            <a:ext cx="1499616" cy="432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6"/>
              </a:lnSpc>
            </a:pPr>
            <a:r>
              <a:rPr lang="en-US" sz="2674" b="1" spc="-80">
                <a:solidFill>
                  <a:srgbClr val="FFFFF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Deskripsi</a:t>
            </a:r>
          </a:p>
        </p:txBody>
      </p:sp>
      <p:sp>
        <p:nvSpPr>
          <p:cNvPr id="16" name="Freeform 16"/>
          <p:cNvSpPr/>
          <p:nvPr/>
        </p:nvSpPr>
        <p:spPr>
          <a:xfrm>
            <a:off x="7400925" y="2571750"/>
            <a:ext cx="1314450" cy="1285875"/>
          </a:xfrm>
          <a:custGeom>
            <a:avLst/>
            <a:gdLst/>
            <a:ahLst/>
            <a:cxnLst/>
            <a:rect l="l" t="t" r="r" b="b"/>
            <a:pathLst>
              <a:path w="1314450" h="1285875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8887968" y="3077138"/>
            <a:ext cx="2578608" cy="380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1"/>
              </a:lnSpc>
            </a:pPr>
            <a:r>
              <a:rPr lang="en-US" sz="2308" b="1" spc="-69">
                <a:solidFill>
                  <a:srgbClr val="003070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Pengaturan Murid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216384" y="2842355"/>
            <a:ext cx="2212848" cy="789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2"/>
              </a:lnSpc>
            </a:pPr>
            <a:r>
              <a:rPr lang="en-US" sz="2287">
                <a:solidFill>
                  <a:srgbClr val="3D3D3D"/>
                </a:solidFill>
                <a:latin typeface="DM Sans"/>
                <a:ea typeface="DM Sans"/>
                <a:cs typeface="DM Sans"/>
                <a:sym typeface="DM Sans"/>
              </a:rPr>
              <a:t>Murid belajar dalam kelompok</a:t>
            </a:r>
          </a:p>
        </p:txBody>
      </p:sp>
      <p:sp>
        <p:nvSpPr>
          <p:cNvPr id="19" name="Freeform 19"/>
          <p:cNvSpPr/>
          <p:nvPr/>
        </p:nvSpPr>
        <p:spPr>
          <a:xfrm>
            <a:off x="7400925" y="3857625"/>
            <a:ext cx="1314450" cy="1285875"/>
          </a:xfrm>
          <a:custGeom>
            <a:avLst/>
            <a:gdLst/>
            <a:ahLst/>
            <a:cxnLst/>
            <a:rect l="l" t="t" r="r" b="b"/>
            <a:pathLst>
              <a:path w="1314450" h="1285875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8887968" y="4162806"/>
            <a:ext cx="1975104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0"/>
              </a:lnSpc>
            </a:pPr>
            <a:r>
              <a:rPr lang="en-US" sz="2308" b="1" spc="-69">
                <a:solidFill>
                  <a:srgbClr val="003070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Model Pembelajaran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216384" y="4079391"/>
            <a:ext cx="2121408" cy="82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1">
                <a:solidFill>
                  <a:srgbClr val="3D3D3D"/>
                </a:solidFill>
                <a:latin typeface="DM Sans"/>
                <a:ea typeface="DM Sans"/>
                <a:cs typeface="DM Sans"/>
                <a:sym typeface="DM Sans"/>
              </a:rPr>
              <a:t>Case-Based Learning (CBL).</a:t>
            </a:r>
          </a:p>
        </p:txBody>
      </p:sp>
      <p:sp>
        <p:nvSpPr>
          <p:cNvPr id="22" name="Freeform 22"/>
          <p:cNvSpPr/>
          <p:nvPr/>
        </p:nvSpPr>
        <p:spPr>
          <a:xfrm>
            <a:off x="7400925" y="5143500"/>
            <a:ext cx="1314450" cy="1285875"/>
          </a:xfrm>
          <a:custGeom>
            <a:avLst/>
            <a:gdLst/>
            <a:ahLst/>
            <a:cxnLst/>
            <a:rect l="l" t="t" r="r" b="b"/>
            <a:pathLst>
              <a:path w="1314450" h="1285875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8887968" y="5448681"/>
            <a:ext cx="1975104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0"/>
              </a:lnSpc>
            </a:pPr>
            <a:r>
              <a:rPr lang="en-US" sz="2308" b="1" spc="-69">
                <a:solidFill>
                  <a:srgbClr val="003070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Pendekatan Pembelajaran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216384" y="5392412"/>
            <a:ext cx="2377440" cy="780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3"/>
              </a:lnSpc>
            </a:pPr>
            <a:r>
              <a:rPr lang="en-US" sz="2259">
                <a:solidFill>
                  <a:srgbClr val="3D3D3D"/>
                </a:solidFill>
                <a:latin typeface="DM Sans"/>
                <a:ea typeface="DM Sans"/>
                <a:cs typeface="DM Sans"/>
                <a:sym typeface="DM Sans"/>
              </a:rPr>
              <a:t>Pembelajaran Mendalam (Deep)</a:t>
            </a:r>
          </a:p>
        </p:txBody>
      </p:sp>
      <p:sp>
        <p:nvSpPr>
          <p:cNvPr id="25" name="Freeform 25"/>
          <p:cNvSpPr/>
          <p:nvPr/>
        </p:nvSpPr>
        <p:spPr>
          <a:xfrm>
            <a:off x="7400925" y="6429375"/>
            <a:ext cx="1314450" cy="1285875"/>
          </a:xfrm>
          <a:custGeom>
            <a:avLst/>
            <a:gdLst/>
            <a:ahLst/>
            <a:cxnLst/>
            <a:rect l="l" t="t" r="r" b="b"/>
            <a:pathLst>
              <a:path w="1314450" h="1285875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8887968" y="6703695"/>
            <a:ext cx="1975104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0"/>
              </a:lnSpc>
            </a:pPr>
            <a:r>
              <a:rPr lang="en-US" sz="2308" b="1" spc="-69">
                <a:solidFill>
                  <a:srgbClr val="003070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Metode Pembelajaran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216384" y="6609993"/>
            <a:ext cx="2523744" cy="82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1">
                <a:solidFill>
                  <a:srgbClr val="3D3D3D"/>
                </a:solidFill>
                <a:latin typeface="DM Sans"/>
                <a:ea typeface="DM Sans"/>
                <a:cs typeface="DM Sans"/>
                <a:sym typeface="DM Sans"/>
              </a:rPr>
              <a:t>Diskusi kelompok, tanya jawab,</a:t>
            </a:r>
          </a:p>
        </p:txBody>
      </p:sp>
      <p:sp>
        <p:nvSpPr>
          <p:cNvPr id="28" name="Freeform 28"/>
          <p:cNvSpPr/>
          <p:nvPr/>
        </p:nvSpPr>
        <p:spPr>
          <a:xfrm>
            <a:off x="7400925" y="7715250"/>
            <a:ext cx="1314450" cy="1285875"/>
          </a:xfrm>
          <a:custGeom>
            <a:avLst/>
            <a:gdLst/>
            <a:ahLst/>
            <a:cxnLst/>
            <a:rect l="l" t="t" r="r" b="b"/>
            <a:pathLst>
              <a:path w="1314450" h="1285875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8887968" y="8167307"/>
            <a:ext cx="2761488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6"/>
              </a:lnSpc>
            </a:pPr>
            <a:r>
              <a:rPr lang="en-US" sz="2371" b="1" spc="-71">
                <a:solidFill>
                  <a:srgbClr val="003070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Strategi Pedagogis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216384" y="7833217"/>
            <a:ext cx="3364992" cy="1207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1"/>
              </a:lnSpc>
            </a:pPr>
            <a:r>
              <a:rPr lang="en-US" sz="2343">
                <a:solidFill>
                  <a:srgbClr val="3D3D3D"/>
                </a:solidFill>
                <a:latin typeface="DM Sans"/>
                <a:ea typeface="DM Sans"/>
                <a:cs typeface="DM Sans"/>
                <a:sym typeface="DM Sans"/>
              </a:rPr>
              <a:t>Guru berperan sebagai fasilitator dengan memberikan scaffolding,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2400300" cy="1714500"/>
          </a:xfrm>
          <a:custGeom>
            <a:avLst/>
            <a:gdLst/>
            <a:ahLst/>
            <a:cxnLst/>
            <a:rect l="l" t="t" r="r" b="b"/>
            <a:pathLst>
              <a:path w="2400300" h="1714500">
                <a:moveTo>
                  <a:pt x="0" y="0"/>
                </a:moveTo>
                <a:lnTo>
                  <a:pt x="2400300" y="0"/>
                </a:lnTo>
                <a:lnTo>
                  <a:pt x="24003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544925" y="0"/>
            <a:ext cx="1743075" cy="1076325"/>
          </a:xfrm>
          <a:custGeom>
            <a:avLst/>
            <a:gdLst/>
            <a:ahLst/>
            <a:cxnLst/>
            <a:rect l="l" t="t" r="r" b="b"/>
            <a:pathLst>
              <a:path w="1743075" h="1076325">
                <a:moveTo>
                  <a:pt x="0" y="0"/>
                </a:moveTo>
                <a:lnTo>
                  <a:pt x="1743075" y="0"/>
                </a:lnTo>
                <a:lnTo>
                  <a:pt x="17430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4133850" y="0"/>
            <a:ext cx="10239375" cy="1285875"/>
          </a:xfrm>
          <a:custGeom>
            <a:avLst/>
            <a:gdLst/>
            <a:ahLst/>
            <a:cxnLst/>
            <a:rect l="l" t="t" r="r" b="b"/>
            <a:pathLst>
              <a:path w="10239375" h="1285875">
                <a:moveTo>
                  <a:pt x="0" y="0"/>
                </a:moveTo>
                <a:lnTo>
                  <a:pt x="10239375" y="0"/>
                </a:lnTo>
                <a:lnTo>
                  <a:pt x="10239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285232" y="214445"/>
            <a:ext cx="7955280" cy="854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6"/>
              </a:lnSpc>
            </a:pPr>
            <a:r>
              <a:rPr lang="en-US" sz="4990" b="1">
                <a:solidFill>
                  <a:srgbClr val="FFFFFF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TUJUAN PEMBELAJARAN</a:t>
            </a:r>
          </a:p>
        </p:txBody>
      </p:sp>
      <p:sp>
        <p:nvSpPr>
          <p:cNvPr id="7" name="Freeform 7"/>
          <p:cNvSpPr/>
          <p:nvPr/>
        </p:nvSpPr>
        <p:spPr>
          <a:xfrm>
            <a:off x="3476625" y="1285875"/>
            <a:ext cx="2409825" cy="428625"/>
          </a:xfrm>
          <a:custGeom>
            <a:avLst/>
            <a:gdLst/>
            <a:ahLst/>
            <a:cxnLst/>
            <a:rect l="l" t="t" r="r" b="b"/>
            <a:pathLst>
              <a:path w="2409825" h="428625">
                <a:moveTo>
                  <a:pt x="0" y="0"/>
                </a:moveTo>
                <a:lnTo>
                  <a:pt x="2409825" y="0"/>
                </a:lnTo>
                <a:lnTo>
                  <a:pt x="24098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6071616" y="1330994"/>
            <a:ext cx="6419088" cy="396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6"/>
              </a:lnSpc>
            </a:pPr>
            <a:r>
              <a:rPr lang="en-US" sz="2397" b="1">
                <a:solidFill>
                  <a:srgbClr val="003F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Untuk Fase E/Kelas X SMK, saya sarankan:</a:t>
            </a:r>
          </a:p>
        </p:txBody>
      </p:sp>
      <p:sp>
        <p:nvSpPr>
          <p:cNvPr id="9" name="Freeform 9"/>
          <p:cNvSpPr/>
          <p:nvPr/>
        </p:nvSpPr>
        <p:spPr>
          <a:xfrm>
            <a:off x="12620625" y="1285875"/>
            <a:ext cx="2409825" cy="428625"/>
          </a:xfrm>
          <a:custGeom>
            <a:avLst/>
            <a:gdLst/>
            <a:ahLst/>
            <a:cxnLst/>
            <a:rect l="l" t="t" r="r" b="b"/>
            <a:pathLst>
              <a:path w="2409825" h="428625">
                <a:moveTo>
                  <a:pt x="0" y="0"/>
                </a:moveTo>
                <a:lnTo>
                  <a:pt x="2409825" y="0"/>
                </a:lnTo>
                <a:lnTo>
                  <a:pt x="24098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647700" y="1714500"/>
            <a:ext cx="17211675" cy="3000375"/>
          </a:xfrm>
          <a:custGeom>
            <a:avLst/>
            <a:gdLst/>
            <a:ahLst/>
            <a:cxnLst/>
            <a:rect l="l" t="t" r="r" b="b"/>
            <a:pathLst>
              <a:path w="17211675" h="3000375">
                <a:moveTo>
                  <a:pt x="0" y="0"/>
                </a:moveTo>
                <a:lnTo>
                  <a:pt x="17211675" y="0"/>
                </a:lnTo>
                <a:lnTo>
                  <a:pt x="17211675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647700" y="1714500"/>
            <a:ext cx="2619375" cy="3000375"/>
          </a:xfrm>
          <a:custGeom>
            <a:avLst/>
            <a:gdLst/>
            <a:ahLst/>
            <a:cxnLst/>
            <a:rect l="l" t="t" r="r" b="b"/>
            <a:pathLst>
              <a:path w="2619375" h="3000375">
                <a:moveTo>
                  <a:pt x="0" y="0"/>
                </a:moveTo>
                <a:lnTo>
                  <a:pt x="2619375" y="0"/>
                </a:lnTo>
                <a:lnTo>
                  <a:pt x="2619375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085850" y="2143125"/>
            <a:ext cx="1533525" cy="1714500"/>
          </a:xfrm>
          <a:custGeom>
            <a:avLst/>
            <a:gdLst/>
            <a:ahLst/>
            <a:cxnLst/>
            <a:rect l="l" t="t" r="r" b="b"/>
            <a:pathLst>
              <a:path w="1533525" h="1714500">
                <a:moveTo>
                  <a:pt x="0" y="0"/>
                </a:moveTo>
                <a:lnTo>
                  <a:pt x="1533525" y="0"/>
                </a:lnTo>
                <a:lnTo>
                  <a:pt x="15335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261872" y="3856178"/>
            <a:ext cx="1316736" cy="355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9"/>
              </a:lnSpc>
            </a:pPr>
            <a:r>
              <a:rPr lang="en-US" sz="2121" b="1">
                <a:solidFill>
                  <a:srgbClr val="FFFFFF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KOGNITIF</a:t>
            </a:r>
          </a:p>
        </p:txBody>
      </p:sp>
      <p:sp>
        <p:nvSpPr>
          <p:cNvPr id="14" name="Freeform 14"/>
          <p:cNvSpPr/>
          <p:nvPr/>
        </p:nvSpPr>
        <p:spPr>
          <a:xfrm>
            <a:off x="3257550" y="2143125"/>
            <a:ext cx="666750" cy="428625"/>
          </a:xfrm>
          <a:custGeom>
            <a:avLst/>
            <a:gdLst/>
            <a:ahLst/>
            <a:cxnLst/>
            <a:rect l="l" t="t" r="r" b="b"/>
            <a:pathLst>
              <a:path w="666750" h="428625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4005072" y="2177677"/>
            <a:ext cx="13222224" cy="647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sz="18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Murid mampu menjelaskan (C2) fungsi aplikasi produktivitas berbasis AI serta karakteristik infografis dan presentasi digital dalam menyampaikan informasi.</a:t>
            </a:r>
          </a:p>
        </p:txBody>
      </p:sp>
      <p:sp>
        <p:nvSpPr>
          <p:cNvPr id="16" name="Freeform 16"/>
          <p:cNvSpPr/>
          <p:nvPr/>
        </p:nvSpPr>
        <p:spPr>
          <a:xfrm>
            <a:off x="3257550" y="2781300"/>
            <a:ext cx="666750" cy="647700"/>
          </a:xfrm>
          <a:custGeom>
            <a:avLst/>
            <a:gdLst/>
            <a:ahLst/>
            <a:cxnLst/>
            <a:rect l="l" t="t" r="r" b="b"/>
            <a:pathLst>
              <a:path w="666750" h="64770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4005072" y="2949202"/>
            <a:ext cx="13185648" cy="647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sz="18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Murid mampu menerapkan (C3) prinsip prompt engineering sederhana untuk menghasilkan ide, teks, struktur, atau alternatif konten sesuai kebutuhan.</a:t>
            </a:r>
          </a:p>
        </p:txBody>
      </p:sp>
      <p:sp>
        <p:nvSpPr>
          <p:cNvPr id="18" name="Freeform 18"/>
          <p:cNvSpPr/>
          <p:nvPr/>
        </p:nvSpPr>
        <p:spPr>
          <a:xfrm>
            <a:off x="3257550" y="3638550"/>
            <a:ext cx="666750" cy="647700"/>
          </a:xfrm>
          <a:custGeom>
            <a:avLst/>
            <a:gdLst/>
            <a:ahLst/>
            <a:cxnLst/>
            <a:rect l="l" t="t" r="r" b="b"/>
            <a:pathLst>
              <a:path w="666750" h="64770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4005072" y="3720727"/>
            <a:ext cx="12691872" cy="647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sz="18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Murid mampu menganalisis (C4) keluaran AI berdasarkan kesesuaian dengan tujuan, ketepatan informasi, dan kebutuhan audiens sebelum digunakan dalam konten digital.</a:t>
            </a:r>
          </a:p>
        </p:txBody>
      </p:sp>
      <p:sp>
        <p:nvSpPr>
          <p:cNvPr id="20" name="Freeform 20"/>
          <p:cNvSpPr/>
          <p:nvPr/>
        </p:nvSpPr>
        <p:spPr>
          <a:xfrm>
            <a:off x="647700" y="4495800"/>
            <a:ext cx="17211675" cy="3009900"/>
          </a:xfrm>
          <a:custGeom>
            <a:avLst/>
            <a:gdLst/>
            <a:ahLst/>
            <a:cxnLst/>
            <a:rect l="l" t="t" r="r" b="b"/>
            <a:pathLst>
              <a:path w="17211675" h="3009900">
                <a:moveTo>
                  <a:pt x="0" y="0"/>
                </a:moveTo>
                <a:lnTo>
                  <a:pt x="17211675" y="0"/>
                </a:lnTo>
                <a:lnTo>
                  <a:pt x="17211675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647700" y="4495800"/>
            <a:ext cx="2619375" cy="3009900"/>
          </a:xfrm>
          <a:custGeom>
            <a:avLst/>
            <a:gdLst/>
            <a:ahLst/>
            <a:cxnLst/>
            <a:rect l="l" t="t" r="r" b="b"/>
            <a:pathLst>
              <a:path w="2619375" h="3009900">
                <a:moveTo>
                  <a:pt x="0" y="0"/>
                </a:moveTo>
                <a:lnTo>
                  <a:pt x="2619375" y="0"/>
                </a:lnTo>
                <a:lnTo>
                  <a:pt x="2619375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085850" y="4924425"/>
            <a:ext cx="1533525" cy="1504950"/>
          </a:xfrm>
          <a:custGeom>
            <a:avLst/>
            <a:gdLst/>
            <a:ahLst/>
            <a:cxnLst/>
            <a:rect l="l" t="t" r="r" b="b"/>
            <a:pathLst>
              <a:path w="1533525" h="1504950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1024128" y="6597063"/>
            <a:ext cx="1792224" cy="357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1"/>
              </a:lnSpc>
            </a:pPr>
            <a:r>
              <a:rPr lang="en-US" sz="2043" b="1">
                <a:solidFill>
                  <a:srgbClr val="FFFFFF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PSIKOMOTOR</a:t>
            </a:r>
          </a:p>
        </p:txBody>
      </p:sp>
      <p:sp>
        <p:nvSpPr>
          <p:cNvPr id="24" name="Freeform 24"/>
          <p:cNvSpPr/>
          <p:nvPr/>
        </p:nvSpPr>
        <p:spPr>
          <a:xfrm>
            <a:off x="3257550" y="4714875"/>
            <a:ext cx="666750" cy="647700"/>
          </a:xfrm>
          <a:custGeom>
            <a:avLst/>
            <a:gdLst/>
            <a:ahLst/>
            <a:cxnLst/>
            <a:rect l="l" t="t" r="r" b="b"/>
            <a:pathLst>
              <a:path w="666750" h="64770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4005072" y="4924306"/>
            <a:ext cx="13222224" cy="647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sz="18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Murid mampu menggunakan (P3) aplikasi produktivitas berbasis AI untuk membantu menyusun bahan infografis dan presentasi digital sesuai kasus yang diberikan.</a:t>
            </a:r>
          </a:p>
        </p:txBody>
      </p:sp>
      <p:sp>
        <p:nvSpPr>
          <p:cNvPr id="26" name="Freeform 26"/>
          <p:cNvSpPr/>
          <p:nvPr/>
        </p:nvSpPr>
        <p:spPr>
          <a:xfrm>
            <a:off x="3257550" y="5572125"/>
            <a:ext cx="666750" cy="647700"/>
          </a:xfrm>
          <a:custGeom>
            <a:avLst/>
            <a:gdLst/>
            <a:ahLst/>
            <a:cxnLst/>
            <a:rect l="l" t="t" r="r" b="b"/>
            <a:pathLst>
              <a:path w="666750" h="64770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4005072" y="5654683"/>
            <a:ext cx="13094208" cy="647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sz="18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Murid mampu menyusun (P3) infografis dan presentasi digital yang memuat informasi terverifikasi, terstruktur, dan sesuai dengan karakteristik audiens.</a:t>
            </a:r>
          </a:p>
        </p:txBody>
      </p:sp>
      <p:sp>
        <p:nvSpPr>
          <p:cNvPr id="28" name="Freeform 28"/>
          <p:cNvSpPr/>
          <p:nvPr/>
        </p:nvSpPr>
        <p:spPr>
          <a:xfrm>
            <a:off x="3257550" y="6429375"/>
            <a:ext cx="666750" cy="428625"/>
          </a:xfrm>
          <a:custGeom>
            <a:avLst/>
            <a:gdLst/>
            <a:ahLst/>
            <a:cxnLst/>
            <a:rect l="l" t="t" r="r" b="b"/>
            <a:pathLst>
              <a:path w="666750" h="428625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4005072" y="6436495"/>
            <a:ext cx="13094208" cy="647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sz="18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Murid mampu mempresentasikan (P4) hasil konten digital secara runtut serta menjelaskan keputusan penggunaan informasi dan keluaran AI yang digunakan.</a:t>
            </a:r>
          </a:p>
        </p:txBody>
      </p:sp>
      <p:sp>
        <p:nvSpPr>
          <p:cNvPr id="30" name="Freeform 30"/>
          <p:cNvSpPr/>
          <p:nvPr/>
        </p:nvSpPr>
        <p:spPr>
          <a:xfrm>
            <a:off x="647700" y="7286625"/>
            <a:ext cx="17211675" cy="2571750"/>
          </a:xfrm>
          <a:custGeom>
            <a:avLst/>
            <a:gdLst/>
            <a:ahLst/>
            <a:cxnLst/>
            <a:rect l="l" t="t" r="r" b="b"/>
            <a:pathLst>
              <a:path w="17211675" h="2571750">
                <a:moveTo>
                  <a:pt x="0" y="0"/>
                </a:moveTo>
                <a:lnTo>
                  <a:pt x="17211675" y="0"/>
                </a:lnTo>
                <a:lnTo>
                  <a:pt x="1721167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647700" y="7286625"/>
            <a:ext cx="2619375" cy="2571750"/>
          </a:xfrm>
          <a:custGeom>
            <a:avLst/>
            <a:gdLst/>
            <a:ahLst/>
            <a:cxnLst/>
            <a:rect l="l" t="t" r="r" b="b"/>
            <a:pathLst>
              <a:path w="2619375" h="2571750">
                <a:moveTo>
                  <a:pt x="0" y="0"/>
                </a:moveTo>
                <a:lnTo>
                  <a:pt x="2619375" y="0"/>
                </a:lnTo>
                <a:lnTo>
                  <a:pt x="261937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1085850" y="7715250"/>
            <a:ext cx="1533525" cy="1504950"/>
          </a:xfrm>
          <a:custGeom>
            <a:avLst/>
            <a:gdLst/>
            <a:ahLst/>
            <a:cxnLst/>
            <a:rect l="l" t="t" r="r" b="b"/>
            <a:pathLst>
              <a:path w="1533525" h="1504950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TextBox 33"/>
          <p:cNvSpPr txBox="1"/>
          <p:nvPr/>
        </p:nvSpPr>
        <p:spPr>
          <a:xfrm>
            <a:off x="1335024" y="9180737"/>
            <a:ext cx="1133856" cy="363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1"/>
              </a:lnSpc>
            </a:pPr>
            <a:r>
              <a:rPr lang="en-US" sz="2172" b="1">
                <a:solidFill>
                  <a:srgbClr val="FFFFFF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AFEKTIF</a:t>
            </a:r>
          </a:p>
        </p:txBody>
      </p:sp>
      <p:sp>
        <p:nvSpPr>
          <p:cNvPr id="34" name="Freeform 34"/>
          <p:cNvSpPr/>
          <p:nvPr/>
        </p:nvSpPr>
        <p:spPr>
          <a:xfrm>
            <a:off x="3257550" y="7924800"/>
            <a:ext cx="666750" cy="647700"/>
          </a:xfrm>
          <a:custGeom>
            <a:avLst/>
            <a:gdLst/>
            <a:ahLst/>
            <a:cxnLst/>
            <a:rect l="l" t="t" r="r" b="b"/>
            <a:pathLst>
              <a:path w="666750" h="64770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TextBox 35"/>
          <p:cNvSpPr txBox="1"/>
          <p:nvPr/>
        </p:nvSpPr>
        <p:spPr>
          <a:xfrm>
            <a:off x="4005072" y="8247793"/>
            <a:ext cx="13094208" cy="593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7"/>
              </a:lnSpc>
            </a:pPr>
            <a:r>
              <a:rPr lang="en-US" sz="176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Murid mampu menunjukkan (A3) sikap bertanggung jawab dalam menggunakan AI dengan memeriksa keluaran AI, mencantumkan sumber, menjaga data pribadi, menghindari plagiarisme, serta menghargai pendapat anggota kelompok.</a:t>
            </a:r>
          </a:p>
        </p:txBody>
      </p:sp>
      <p:sp>
        <p:nvSpPr>
          <p:cNvPr id="36" name="Freeform 36"/>
          <p:cNvSpPr/>
          <p:nvPr/>
        </p:nvSpPr>
        <p:spPr>
          <a:xfrm>
            <a:off x="0" y="9210675"/>
            <a:ext cx="1524000" cy="1076325"/>
          </a:xfrm>
          <a:custGeom>
            <a:avLst/>
            <a:gdLst/>
            <a:ahLst/>
            <a:cxnLst/>
            <a:rect l="l" t="t" r="r" b="b"/>
            <a:pathLst>
              <a:path w="1524000" h="1076325">
                <a:moveTo>
                  <a:pt x="0" y="0"/>
                </a:moveTo>
                <a:lnTo>
                  <a:pt x="1524000" y="0"/>
                </a:lnTo>
                <a:lnTo>
                  <a:pt x="15240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15668625" y="8572500"/>
            <a:ext cx="2619375" cy="1714500"/>
          </a:xfrm>
          <a:custGeom>
            <a:avLst/>
            <a:gdLst/>
            <a:ahLst/>
            <a:cxnLst/>
            <a:rect l="l" t="t" r="r" b="b"/>
            <a:pathLst>
              <a:path w="2619375" h="1714500">
                <a:moveTo>
                  <a:pt x="0" y="0"/>
                </a:moveTo>
                <a:lnTo>
                  <a:pt x="2619375" y="0"/>
                </a:lnTo>
                <a:lnTo>
                  <a:pt x="26193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68096" y="514872"/>
            <a:ext cx="9912096" cy="2194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5"/>
              </a:lnSpc>
            </a:pPr>
            <a:r>
              <a:rPr lang="en-US" sz="7777" b="1">
                <a:solidFill>
                  <a:srgbClr val="0015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Apa yang</a:t>
            </a:r>
          </a:p>
          <a:p>
            <a:pPr algn="l">
              <a:lnSpc>
                <a:spcPts val="8555"/>
              </a:lnSpc>
            </a:pPr>
            <a:r>
              <a:rPr lang="en-US" sz="7777" b="1">
                <a:solidFill>
                  <a:srgbClr val="0015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Harus Kalian </a:t>
            </a:r>
            <a:r>
              <a:rPr lang="en-US" sz="7777" b="1">
                <a:solidFill>
                  <a:srgbClr val="196B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Buat?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68096" y="2853053"/>
            <a:ext cx="6364224" cy="480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2814">
                <a:solidFill>
                  <a:srgbClr val="00153B"/>
                </a:solidFill>
                <a:latin typeface="DM Sans"/>
                <a:ea typeface="DM Sans"/>
                <a:cs typeface="DM Sans"/>
                <a:sym typeface="DM Sans"/>
              </a:rPr>
              <a:t>Ikuti alur tugas berbasis kasus berikut.</a:t>
            </a:r>
          </a:p>
        </p:txBody>
      </p:sp>
      <p:sp>
        <p:nvSpPr>
          <p:cNvPr id="5" name="Freeform 5"/>
          <p:cNvSpPr/>
          <p:nvPr/>
        </p:nvSpPr>
        <p:spPr>
          <a:xfrm>
            <a:off x="1733550" y="3857625"/>
            <a:ext cx="447675" cy="5362575"/>
          </a:xfrm>
          <a:custGeom>
            <a:avLst/>
            <a:gdLst/>
            <a:ahLst/>
            <a:cxnLst/>
            <a:rect l="l" t="t" r="r" b="b"/>
            <a:pathLst>
              <a:path w="447675" h="5362575">
                <a:moveTo>
                  <a:pt x="0" y="0"/>
                </a:moveTo>
                <a:lnTo>
                  <a:pt x="447675" y="0"/>
                </a:lnTo>
                <a:lnTo>
                  <a:pt x="447675" y="5362575"/>
                </a:lnTo>
                <a:lnTo>
                  <a:pt x="0" y="53625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768096" y="3702593"/>
            <a:ext cx="475488" cy="440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4"/>
              </a:lnSpc>
            </a:pPr>
            <a:r>
              <a:rPr lang="en-US" sz="3204" b="1">
                <a:solidFill>
                  <a:srgbClr val="196B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8096" y="4711741"/>
            <a:ext cx="512064" cy="449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3163" b="1">
                <a:solidFill>
                  <a:srgbClr val="196B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8096" y="5730154"/>
            <a:ext cx="512064" cy="449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3163" b="1">
                <a:solidFill>
                  <a:srgbClr val="196B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8096" y="6748698"/>
            <a:ext cx="548640" cy="449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7"/>
              </a:lnSpc>
            </a:pPr>
            <a:r>
              <a:rPr lang="en-US" sz="3142" b="1">
                <a:solidFill>
                  <a:srgbClr val="196B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8096" y="7766980"/>
            <a:ext cx="512064" cy="449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3163" b="1">
                <a:solidFill>
                  <a:srgbClr val="196B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8096" y="8795570"/>
            <a:ext cx="512064" cy="429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7"/>
              </a:lnSpc>
            </a:pPr>
            <a:r>
              <a:rPr lang="en-US" sz="3060" b="1">
                <a:solidFill>
                  <a:srgbClr val="196B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06</a:t>
            </a:r>
          </a:p>
        </p:txBody>
      </p:sp>
      <p:sp>
        <p:nvSpPr>
          <p:cNvPr id="12" name="Freeform 12"/>
          <p:cNvSpPr/>
          <p:nvPr/>
        </p:nvSpPr>
        <p:spPr>
          <a:xfrm>
            <a:off x="2390775" y="3429000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3913632" y="3755499"/>
            <a:ext cx="1609344" cy="413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2"/>
              </a:lnSpc>
            </a:pPr>
            <a:r>
              <a:rPr lang="en-US" sz="2458">
                <a:solidFill>
                  <a:srgbClr val="00153B"/>
                </a:solidFill>
                <a:latin typeface="DM Sans"/>
                <a:ea typeface="DM Sans"/>
                <a:cs typeface="DM Sans"/>
                <a:sym typeface="DM Sans"/>
              </a:rPr>
              <a:t>Baca kasus</a:t>
            </a:r>
          </a:p>
        </p:txBody>
      </p:sp>
      <p:sp>
        <p:nvSpPr>
          <p:cNvPr id="14" name="Freeform 14"/>
          <p:cNvSpPr/>
          <p:nvPr/>
        </p:nvSpPr>
        <p:spPr>
          <a:xfrm>
            <a:off x="2390775" y="4495800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3913632" y="4783050"/>
            <a:ext cx="2322576" cy="405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428">
                <a:solidFill>
                  <a:srgbClr val="00153B"/>
                </a:solidFill>
                <a:latin typeface="DM Sans"/>
                <a:ea typeface="DM Sans"/>
                <a:cs typeface="DM Sans"/>
                <a:sym typeface="DM Sans"/>
              </a:rPr>
              <a:t>Pahami masalah</a:t>
            </a:r>
          </a:p>
        </p:txBody>
      </p:sp>
      <p:sp>
        <p:nvSpPr>
          <p:cNvPr id="16" name="Freeform 16"/>
          <p:cNvSpPr/>
          <p:nvPr/>
        </p:nvSpPr>
        <p:spPr>
          <a:xfrm>
            <a:off x="2390775" y="5353050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3913632" y="5801463"/>
            <a:ext cx="4480560" cy="405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428">
                <a:solidFill>
                  <a:srgbClr val="00153B"/>
                </a:solidFill>
                <a:latin typeface="DM Sans"/>
                <a:ea typeface="DM Sans"/>
                <a:cs typeface="DM Sans"/>
                <a:sym typeface="DM Sans"/>
              </a:rPr>
              <a:t>Cari informasi yang dibutuhkan</a:t>
            </a:r>
          </a:p>
        </p:txBody>
      </p:sp>
      <p:sp>
        <p:nvSpPr>
          <p:cNvPr id="18" name="Freeform 18"/>
          <p:cNvSpPr/>
          <p:nvPr/>
        </p:nvSpPr>
        <p:spPr>
          <a:xfrm>
            <a:off x="2390775" y="6429375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3913632" y="6765215"/>
            <a:ext cx="4242816" cy="422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sz="2489">
                <a:solidFill>
                  <a:srgbClr val="00153B"/>
                </a:solidFill>
                <a:latin typeface="DM Sans"/>
                <a:ea typeface="DM Sans"/>
                <a:cs typeface="DM Sans"/>
                <a:sym typeface="DM Sans"/>
              </a:rPr>
              <a:t>Gunakan AI untuk membantu</a:t>
            </a:r>
          </a:p>
        </p:txBody>
      </p:sp>
      <p:sp>
        <p:nvSpPr>
          <p:cNvPr id="20" name="Freeform 20"/>
          <p:cNvSpPr/>
          <p:nvPr/>
        </p:nvSpPr>
        <p:spPr>
          <a:xfrm>
            <a:off x="2390775" y="7496175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3913632" y="7767429"/>
            <a:ext cx="3657600" cy="413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2"/>
              </a:lnSpc>
            </a:pPr>
            <a:r>
              <a:rPr lang="en-US" sz="2458">
                <a:solidFill>
                  <a:srgbClr val="00153B"/>
                </a:solidFill>
                <a:latin typeface="DM Sans"/>
                <a:ea typeface="DM Sans"/>
                <a:cs typeface="DM Sans"/>
                <a:sym typeface="DM Sans"/>
              </a:rPr>
              <a:t>Periksa kembali informasi</a:t>
            </a:r>
          </a:p>
        </p:txBody>
      </p:sp>
      <p:sp>
        <p:nvSpPr>
          <p:cNvPr id="22" name="Freeform 22"/>
          <p:cNvSpPr/>
          <p:nvPr/>
        </p:nvSpPr>
        <p:spPr>
          <a:xfrm>
            <a:off x="2390775" y="8353425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3913632" y="8713470"/>
            <a:ext cx="4279392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519">
                <a:solidFill>
                  <a:srgbClr val="00153B"/>
                </a:solidFill>
                <a:latin typeface="DM Sans"/>
                <a:ea typeface="DM Sans"/>
                <a:cs typeface="DM Sans"/>
                <a:sym typeface="DM Sans"/>
              </a:rPr>
              <a:t>Buat infografis dan presentasi (4–5 slide)</a:t>
            </a:r>
          </a:p>
        </p:txBody>
      </p:sp>
      <p:sp>
        <p:nvSpPr>
          <p:cNvPr id="24" name="Freeform 24"/>
          <p:cNvSpPr/>
          <p:nvPr/>
        </p:nvSpPr>
        <p:spPr>
          <a:xfrm>
            <a:off x="10668000" y="3000375"/>
            <a:ext cx="3267075" cy="857250"/>
          </a:xfrm>
          <a:custGeom>
            <a:avLst/>
            <a:gdLst/>
            <a:ahLst/>
            <a:cxnLst/>
            <a:rect l="l" t="t" r="r" b="b"/>
            <a:pathLst>
              <a:path w="3267075" h="857250">
                <a:moveTo>
                  <a:pt x="0" y="0"/>
                </a:moveTo>
                <a:lnTo>
                  <a:pt x="3267075" y="0"/>
                </a:lnTo>
                <a:lnTo>
                  <a:pt x="32670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11100816" y="3182237"/>
            <a:ext cx="2523744" cy="480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0"/>
              </a:lnSpc>
            </a:pPr>
            <a:r>
              <a:rPr lang="en-US" sz="2814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Contoh kasus</a:t>
            </a:r>
          </a:p>
        </p:txBody>
      </p:sp>
      <p:sp>
        <p:nvSpPr>
          <p:cNvPr id="26" name="Freeform 26"/>
          <p:cNvSpPr/>
          <p:nvPr/>
        </p:nvSpPr>
        <p:spPr>
          <a:xfrm>
            <a:off x="10668000" y="4067175"/>
            <a:ext cx="1743075" cy="1724025"/>
          </a:xfrm>
          <a:custGeom>
            <a:avLst/>
            <a:gdLst/>
            <a:ahLst/>
            <a:cxnLst/>
            <a:rect l="l" t="t" r="r" b="b"/>
            <a:pathLst>
              <a:path w="1743075" h="1724025">
                <a:moveTo>
                  <a:pt x="0" y="0"/>
                </a:moveTo>
                <a:lnTo>
                  <a:pt x="1743075" y="0"/>
                </a:lnTo>
                <a:lnTo>
                  <a:pt x="17430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13002768" y="4341007"/>
            <a:ext cx="4407408" cy="1343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2"/>
              </a:lnSpc>
            </a:pPr>
            <a:r>
              <a:rPr lang="en-US" sz="2343">
                <a:solidFill>
                  <a:srgbClr val="00153B"/>
                </a:solidFill>
                <a:latin typeface="DM Sans"/>
                <a:ea typeface="DM Sans"/>
                <a:cs typeface="DM Sans"/>
                <a:sym typeface="DM Sans"/>
              </a:rPr>
              <a:t>Kelompok 7 membuat infografis alat fabrikasi sederhana dengan nama dan kegunaan alat.</a:t>
            </a:r>
          </a:p>
        </p:txBody>
      </p:sp>
      <p:sp>
        <p:nvSpPr>
          <p:cNvPr id="28" name="Freeform 28"/>
          <p:cNvSpPr/>
          <p:nvPr/>
        </p:nvSpPr>
        <p:spPr>
          <a:xfrm>
            <a:off x="10668000" y="6210300"/>
            <a:ext cx="6972300" cy="219075"/>
          </a:xfrm>
          <a:custGeom>
            <a:avLst/>
            <a:gdLst/>
            <a:ahLst/>
            <a:cxnLst/>
            <a:rect l="l" t="t" r="r" b="b"/>
            <a:pathLst>
              <a:path w="6972300" h="219075">
                <a:moveTo>
                  <a:pt x="0" y="0"/>
                </a:moveTo>
                <a:lnTo>
                  <a:pt x="6972300" y="0"/>
                </a:lnTo>
                <a:lnTo>
                  <a:pt x="6972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10448925" y="6638925"/>
            <a:ext cx="2181225" cy="2362200"/>
          </a:xfrm>
          <a:custGeom>
            <a:avLst/>
            <a:gdLst/>
            <a:ahLst/>
            <a:cxnLst/>
            <a:rect l="l" t="t" r="r" b="b"/>
            <a:pathLst>
              <a:path w="2181225" h="2362200">
                <a:moveTo>
                  <a:pt x="0" y="0"/>
                </a:moveTo>
                <a:lnTo>
                  <a:pt x="2181225" y="0"/>
                </a:lnTo>
                <a:lnTo>
                  <a:pt x="218122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13002768" y="7013589"/>
            <a:ext cx="3182112" cy="2206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7"/>
              </a:lnSpc>
            </a:pPr>
            <a:r>
              <a:rPr lang="en-US" sz="3502">
                <a:solidFill>
                  <a:srgbClr val="00153B"/>
                </a:solidFill>
                <a:latin typeface="DM Sans"/>
                <a:ea typeface="DM Sans"/>
                <a:cs typeface="DM Sans"/>
                <a:sym typeface="DM Sans"/>
              </a:rPr>
              <a:t>Pahami dulu </a:t>
            </a:r>
            <a:r>
              <a:rPr lang="en-US" sz="3502" b="1">
                <a:solidFill>
                  <a:srgbClr val="196BFA"/>
                </a:solidFill>
                <a:latin typeface="DM Sans Bold"/>
                <a:ea typeface="DM Sans Bold"/>
                <a:cs typeface="DM Sans Bold"/>
                <a:sym typeface="DM Sans Bold"/>
              </a:rPr>
              <a:t>masalahnya</a:t>
            </a:r>
            <a:r>
              <a:rPr lang="en-US" sz="3502">
                <a:solidFill>
                  <a:srgbClr val="00153B"/>
                </a:solidFill>
                <a:latin typeface="DM Sans"/>
                <a:ea typeface="DM Sans"/>
                <a:cs typeface="DM Sans"/>
                <a:sym typeface="DM Sans"/>
              </a:rPr>
              <a:t> sebelum mulai desain.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5746254" cy="10287000"/>
          </a:xfrm>
          <a:custGeom>
            <a:avLst/>
            <a:gdLst/>
            <a:ahLst/>
            <a:cxnLst/>
            <a:rect l="l" t="t" r="r" b="b"/>
            <a:pathLst>
              <a:path w="5746254" h="10287000">
                <a:moveTo>
                  <a:pt x="0" y="0"/>
                </a:moveTo>
                <a:lnTo>
                  <a:pt x="5746254" y="0"/>
                </a:lnTo>
                <a:lnTo>
                  <a:pt x="574625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196927" y="0"/>
            <a:ext cx="7091073" cy="10287000"/>
          </a:xfrm>
          <a:custGeom>
            <a:avLst/>
            <a:gdLst/>
            <a:ahLst/>
            <a:cxnLst/>
            <a:rect l="l" t="t" r="r" b="b"/>
            <a:pathLst>
              <a:path w="7091073" h="10287000">
                <a:moveTo>
                  <a:pt x="0" y="0"/>
                </a:moveTo>
                <a:lnTo>
                  <a:pt x="7091073" y="0"/>
                </a:lnTo>
                <a:lnTo>
                  <a:pt x="709107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9885" t="-10050" r="-1778" b="-232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880534" y="3893092"/>
            <a:ext cx="3182112" cy="549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77"/>
              </a:lnSpc>
            </a:pPr>
            <a:r>
              <a:rPr lang="en-US" sz="3502" b="1">
                <a:solidFill>
                  <a:srgbClr val="00153B"/>
                </a:solidFill>
                <a:latin typeface="DM Sans Bold"/>
                <a:ea typeface="DM Sans Bold"/>
                <a:cs typeface="DM Sans Bold"/>
                <a:sym typeface="DM Sans Bold"/>
              </a:rPr>
              <a:t>Bandingkan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58368" y="519081"/>
            <a:ext cx="10369296" cy="1974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22"/>
              </a:lnSpc>
            </a:pPr>
            <a:r>
              <a:rPr lang="en-US" sz="762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Cara Menggunakan AI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8368" y="2611064"/>
            <a:ext cx="8577072" cy="398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31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Gunakan AI dengan bijak, kritis, dan bertanggung jawab.</a:t>
            </a:r>
          </a:p>
        </p:txBody>
      </p:sp>
      <p:sp>
        <p:nvSpPr>
          <p:cNvPr id="5" name="Freeform 5"/>
          <p:cNvSpPr/>
          <p:nvPr/>
        </p:nvSpPr>
        <p:spPr>
          <a:xfrm>
            <a:off x="647700" y="3209925"/>
            <a:ext cx="5448300" cy="6438900"/>
          </a:xfrm>
          <a:custGeom>
            <a:avLst/>
            <a:gdLst/>
            <a:ahLst/>
            <a:cxnLst/>
            <a:rect l="l" t="t" r="r" b="b"/>
            <a:pathLst>
              <a:path w="5448300" h="6438900">
                <a:moveTo>
                  <a:pt x="0" y="0"/>
                </a:moveTo>
                <a:lnTo>
                  <a:pt x="5448300" y="0"/>
                </a:lnTo>
                <a:lnTo>
                  <a:pt x="5448300" y="6438900"/>
                </a:lnTo>
                <a:lnTo>
                  <a:pt x="0" y="6438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66775" y="3638550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2231136" y="3720656"/>
            <a:ext cx="2670048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667" b="1">
                <a:solidFill>
                  <a:srgbClr val="0066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BUAT PROMPT YANG EFEKTIF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4128" y="5011543"/>
            <a:ext cx="2103120" cy="338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1"/>
              </a:lnSpc>
            </a:pPr>
            <a:r>
              <a:rPr lang="en-US" sz="2029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Pola sederhana: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4128" y="5407081"/>
            <a:ext cx="4608576" cy="340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3"/>
              </a:lnSpc>
            </a:pPr>
            <a:r>
              <a:rPr lang="en-US" sz="1959" b="1">
                <a:solidFill>
                  <a:srgbClr val="0066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Tugas + Konteks + Tujuan + Format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4128" y="6087511"/>
            <a:ext cx="2139696" cy="347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7"/>
              </a:lnSpc>
            </a:pPr>
            <a:r>
              <a:rPr lang="en-US" sz="2076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Contoh prompt:</a:t>
            </a:r>
          </a:p>
        </p:txBody>
      </p:sp>
      <p:sp>
        <p:nvSpPr>
          <p:cNvPr id="11" name="Freeform 11"/>
          <p:cNvSpPr/>
          <p:nvPr/>
        </p:nvSpPr>
        <p:spPr>
          <a:xfrm>
            <a:off x="866775" y="6429375"/>
            <a:ext cx="5019675" cy="2790825"/>
          </a:xfrm>
          <a:custGeom>
            <a:avLst/>
            <a:gdLst/>
            <a:ahLst/>
            <a:cxnLst/>
            <a:rect l="l" t="t" r="r" b="b"/>
            <a:pathLst>
              <a:path w="5019675" h="2790825">
                <a:moveTo>
                  <a:pt x="0" y="0"/>
                </a:moveTo>
                <a:lnTo>
                  <a:pt x="5019675" y="0"/>
                </a:lnTo>
                <a:lnTo>
                  <a:pt x="501967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243584" y="6758467"/>
            <a:ext cx="4187952" cy="2101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3"/>
              </a:lnSpc>
            </a:pPr>
            <a:r>
              <a:rPr lang="en-US" sz="2002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"Saya siswa kelas X TFLM. Membuat infografis alat fabrikasi sederhana. Sebutkan 5 alat dan kegunaannya dengan bahasa mudah dipahami siswa SMK. Buat tabel."</a:t>
            </a:r>
          </a:p>
        </p:txBody>
      </p:sp>
      <p:sp>
        <p:nvSpPr>
          <p:cNvPr id="13" name="Freeform 13"/>
          <p:cNvSpPr/>
          <p:nvPr/>
        </p:nvSpPr>
        <p:spPr>
          <a:xfrm>
            <a:off x="6096000" y="3209925"/>
            <a:ext cx="5448300" cy="6438900"/>
          </a:xfrm>
          <a:custGeom>
            <a:avLst/>
            <a:gdLst/>
            <a:ahLst/>
            <a:cxnLst/>
            <a:rect l="l" t="t" r="r" b="b"/>
            <a:pathLst>
              <a:path w="5448300" h="6438900">
                <a:moveTo>
                  <a:pt x="0" y="0"/>
                </a:moveTo>
                <a:lnTo>
                  <a:pt x="5448300" y="0"/>
                </a:lnTo>
                <a:lnTo>
                  <a:pt x="5448300" y="6438900"/>
                </a:lnTo>
                <a:lnTo>
                  <a:pt x="0" y="64389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6524625" y="3638550"/>
            <a:ext cx="1095375" cy="866775"/>
          </a:xfrm>
          <a:custGeom>
            <a:avLst/>
            <a:gdLst/>
            <a:ahLst/>
            <a:cxnLst/>
            <a:rect l="l" t="t" r="r" b="b"/>
            <a:pathLst>
              <a:path w="1095375" h="866775">
                <a:moveTo>
                  <a:pt x="0" y="0"/>
                </a:moveTo>
                <a:lnTo>
                  <a:pt x="1095375" y="0"/>
                </a:lnTo>
                <a:lnTo>
                  <a:pt x="10953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7699248" y="3669221"/>
            <a:ext cx="2761488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667" b="1">
                <a:solidFill>
                  <a:srgbClr val="0066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PROSES KERJA DENGAN AI</a:t>
            </a:r>
          </a:p>
        </p:txBody>
      </p:sp>
      <p:sp>
        <p:nvSpPr>
          <p:cNvPr id="16" name="Freeform 16"/>
          <p:cNvSpPr/>
          <p:nvPr/>
        </p:nvSpPr>
        <p:spPr>
          <a:xfrm>
            <a:off x="8486775" y="4495800"/>
            <a:ext cx="657225" cy="866775"/>
          </a:xfrm>
          <a:custGeom>
            <a:avLst/>
            <a:gdLst/>
            <a:ahLst/>
            <a:cxnLst/>
            <a:rect l="l" t="t" r="r" b="b"/>
            <a:pathLst>
              <a:path w="657225" h="86677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8705850" y="5143500"/>
            <a:ext cx="438150" cy="647700"/>
          </a:xfrm>
          <a:custGeom>
            <a:avLst/>
            <a:gdLst/>
            <a:ahLst/>
            <a:cxnLst/>
            <a:rect l="l" t="t" r="r" b="b"/>
            <a:pathLst>
              <a:path w="438150" h="64770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8503920" y="5601295"/>
            <a:ext cx="768096" cy="416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1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Baca</a:t>
            </a:r>
          </a:p>
        </p:txBody>
      </p:sp>
      <p:sp>
        <p:nvSpPr>
          <p:cNvPr id="19" name="Freeform 19"/>
          <p:cNvSpPr/>
          <p:nvPr/>
        </p:nvSpPr>
        <p:spPr>
          <a:xfrm>
            <a:off x="7400925" y="5572125"/>
            <a:ext cx="876300" cy="647700"/>
          </a:xfrm>
          <a:custGeom>
            <a:avLst/>
            <a:gdLst/>
            <a:ahLst/>
            <a:cxnLst/>
            <a:rect l="l" t="t" r="r" b="b"/>
            <a:pathLst>
              <a:path w="876300" h="6477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8705850" y="6000750"/>
            <a:ext cx="438150" cy="647700"/>
          </a:xfrm>
          <a:custGeom>
            <a:avLst/>
            <a:gdLst/>
            <a:ahLst/>
            <a:cxnLst/>
            <a:rect l="l" t="t" r="r" b="b"/>
            <a:pathLst>
              <a:path w="438150" h="64770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8503920" y="6561272"/>
            <a:ext cx="1097280" cy="398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31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Periksa</a:t>
            </a:r>
          </a:p>
        </p:txBody>
      </p:sp>
      <p:sp>
        <p:nvSpPr>
          <p:cNvPr id="22" name="Freeform 22"/>
          <p:cNvSpPr/>
          <p:nvPr/>
        </p:nvSpPr>
        <p:spPr>
          <a:xfrm>
            <a:off x="7620000" y="6429375"/>
            <a:ext cx="657225" cy="647700"/>
          </a:xfrm>
          <a:custGeom>
            <a:avLst/>
            <a:gdLst/>
            <a:ahLst/>
            <a:cxnLst/>
            <a:rect l="l" t="t" r="r" b="b"/>
            <a:pathLst>
              <a:path w="657225" h="647700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8705850" y="7067550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8503920" y="7514677"/>
            <a:ext cx="694944" cy="416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1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Pilih</a:t>
            </a:r>
          </a:p>
        </p:txBody>
      </p:sp>
      <p:sp>
        <p:nvSpPr>
          <p:cNvPr id="25" name="Freeform 25"/>
          <p:cNvSpPr/>
          <p:nvPr/>
        </p:nvSpPr>
        <p:spPr>
          <a:xfrm>
            <a:off x="7620000" y="7286625"/>
            <a:ext cx="657225" cy="857250"/>
          </a:xfrm>
          <a:custGeom>
            <a:avLst/>
            <a:gdLst/>
            <a:ahLst/>
            <a:cxnLst/>
            <a:rect l="l" t="t" r="r" b="b"/>
            <a:pathLst>
              <a:path w="657225" h="857250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8705850" y="7924800"/>
            <a:ext cx="438150" cy="647700"/>
          </a:xfrm>
          <a:custGeom>
            <a:avLst/>
            <a:gdLst/>
            <a:ahLst/>
            <a:cxnLst/>
            <a:rect l="l" t="t" r="r" b="b"/>
            <a:pathLst>
              <a:path w="438150" h="64770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8503920" y="8515802"/>
            <a:ext cx="1225296" cy="398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31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Perbaiki</a:t>
            </a:r>
          </a:p>
        </p:txBody>
      </p:sp>
      <p:sp>
        <p:nvSpPr>
          <p:cNvPr id="28" name="Freeform 28"/>
          <p:cNvSpPr/>
          <p:nvPr/>
        </p:nvSpPr>
        <p:spPr>
          <a:xfrm>
            <a:off x="7620000" y="8353425"/>
            <a:ext cx="657225" cy="647700"/>
          </a:xfrm>
          <a:custGeom>
            <a:avLst/>
            <a:gdLst/>
            <a:ahLst/>
            <a:cxnLst/>
            <a:rect l="l" t="t" r="r" b="b"/>
            <a:pathLst>
              <a:path w="657225" h="647700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11534775" y="3209925"/>
            <a:ext cx="6105525" cy="6438900"/>
          </a:xfrm>
          <a:custGeom>
            <a:avLst/>
            <a:gdLst/>
            <a:ahLst/>
            <a:cxnLst/>
            <a:rect l="l" t="t" r="r" b="b"/>
            <a:pathLst>
              <a:path w="6105525" h="6438900">
                <a:moveTo>
                  <a:pt x="0" y="0"/>
                </a:moveTo>
                <a:lnTo>
                  <a:pt x="6105525" y="0"/>
                </a:lnTo>
                <a:lnTo>
                  <a:pt x="6105525" y="6438900"/>
                </a:lnTo>
                <a:lnTo>
                  <a:pt x="0" y="64389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11972925" y="3638550"/>
            <a:ext cx="876300" cy="1076325"/>
          </a:xfrm>
          <a:custGeom>
            <a:avLst/>
            <a:gdLst/>
            <a:ahLst/>
            <a:cxnLst/>
            <a:rect l="l" t="t" r="r" b="b"/>
            <a:pathLst>
              <a:path w="876300" h="1076325">
                <a:moveTo>
                  <a:pt x="0" y="0"/>
                </a:moveTo>
                <a:lnTo>
                  <a:pt x="876300" y="0"/>
                </a:lnTo>
                <a:lnTo>
                  <a:pt x="876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13094208" y="3739706"/>
            <a:ext cx="3950208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1"/>
              </a:lnSpc>
            </a:pPr>
            <a:r>
              <a:rPr lang="en-US" sz="2601" b="1">
                <a:solidFill>
                  <a:srgbClr val="0066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CEK FAKTA DARI SUMBER TERPERCAYA</a:t>
            </a:r>
          </a:p>
        </p:txBody>
      </p:sp>
      <p:sp>
        <p:nvSpPr>
          <p:cNvPr id="32" name="Freeform 32"/>
          <p:cNvSpPr/>
          <p:nvPr/>
        </p:nvSpPr>
        <p:spPr>
          <a:xfrm>
            <a:off x="11972925" y="5143500"/>
            <a:ext cx="876300" cy="647700"/>
          </a:xfrm>
          <a:custGeom>
            <a:avLst/>
            <a:gdLst/>
            <a:ahLst/>
            <a:cxnLst/>
            <a:rect l="l" t="t" r="r" b="b"/>
            <a:pathLst>
              <a:path w="876300" h="6477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TextBox 33"/>
          <p:cNvSpPr txBox="1"/>
          <p:nvPr/>
        </p:nvSpPr>
        <p:spPr>
          <a:xfrm>
            <a:off x="12911328" y="5173980"/>
            <a:ext cx="3803904" cy="363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Buku/materi pembelajaran</a:t>
            </a:r>
          </a:p>
        </p:txBody>
      </p:sp>
      <p:sp>
        <p:nvSpPr>
          <p:cNvPr id="34" name="Freeform 34"/>
          <p:cNvSpPr/>
          <p:nvPr/>
        </p:nvSpPr>
        <p:spPr>
          <a:xfrm>
            <a:off x="11972925" y="5781675"/>
            <a:ext cx="876300" cy="647700"/>
          </a:xfrm>
          <a:custGeom>
            <a:avLst/>
            <a:gdLst/>
            <a:ahLst/>
            <a:cxnLst/>
            <a:rect l="l" t="t" r="r" b="b"/>
            <a:pathLst>
              <a:path w="876300" h="6477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TextBox 35"/>
          <p:cNvSpPr txBox="1"/>
          <p:nvPr/>
        </p:nvSpPr>
        <p:spPr>
          <a:xfrm>
            <a:off x="12911328" y="5945505"/>
            <a:ext cx="4133088" cy="363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Pengetahuan/ praktik sendiri</a:t>
            </a:r>
          </a:p>
        </p:txBody>
      </p:sp>
      <p:sp>
        <p:nvSpPr>
          <p:cNvPr id="36" name="Freeform 36"/>
          <p:cNvSpPr/>
          <p:nvPr/>
        </p:nvSpPr>
        <p:spPr>
          <a:xfrm>
            <a:off x="11972925" y="7067550"/>
            <a:ext cx="5229225" cy="219075"/>
          </a:xfrm>
          <a:custGeom>
            <a:avLst/>
            <a:gdLst/>
            <a:ahLst/>
            <a:cxnLst/>
            <a:rect l="l" t="t" r="r" b="b"/>
            <a:pathLst>
              <a:path w="5229225" h="219075">
                <a:moveTo>
                  <a:pt x="0" y="0"/>
                </a:moveTo>
                <a:lnTo>
                  <a:pt x="5229225" y="0"/>
                </a:lnTo>
                <a:lnTo>
                  <a:pt x="5229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11972925" y="7715250"/>
            <a:ext cx="876300" cy="857250"/>
          </a:xfrm>
          <a:custGeom>
            <a:avLst/>
            <a:gdLst/>
            <a:ahLst/>
            <a:cxnLst/>
            <a:rect l="l" t="t" r="r" b="b"/>
            <a:pathLst>
              <a:path w="876300" h="85725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13094208" y="7774579"/>
            <a:ext cx="987552" cy="347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7"/>
              </a:lnSpc>
            </a:pPr>
            <a:r>
              <a:rPr lang="en-US" sz="2076" b="1">
                <a:solidFill>
                  <a:srgbClr val="0066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INCAT: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057632" y="8123164"/>
            <a:ext cx="3182112" cy="772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3"/>
              </a:lnSpc>
            </a:pPr>
            <a:r>
              <a:rPr lang="en-US" sz="2224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Jangan asal menyalin jawaban AI.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029968" y="1482510"/>
            <a:ext cx="7260336" cy="1014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6"/>
              </a:lnSpc>
            </a:pPr>
            <a:r>
              <a:rPr lang="en-US" sz="7676" b="1">
                <a:solidFill>
                  <a:srgbClr val="0066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dengan Benar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650224" y="4685752"/>
            <a:ext cx="347472" cy="416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0"/>
              </a:lnSpc>
            </a:pPr>
            <a:r>
              <a:rPr lang="en-US" sz="2371" b="1">
                <a:solidFill>
                  <a:srgbClr val="0066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13232" y="792670"/>
            <a:ext cx="7040880" cy="194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12"/>
              </a:lnSpc>
            </a:pPr>
            <a:r>
              <a:rPr lang="en-US" sz="6427" b="1" spc="-32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Dari Informasi Menjadi </a:t>
            </a:r>
            <a:r>
              <a:rPr lang="en-US" sz="6427" b="1" spc="-321">
                <a:solidFill>
                  <a:srgbClr val="3776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Infografis</a:t>
            </a:r>
          </a:p>
        </p:txBody>
      </p:sp>
      <p:sp>
        <p:nvSpPr>
          <p:cNvPr id="4" name="Freeform 4"/>
          <p:cNvSpPr/>
          <p:nvPr/>
        </p:nvSpPr>
        <p:spPr>
          <a:xfrm>
            <a:off x="647700" y="3429000"/>
            <a:ext cx="876300" cy="857250"/>
          </a:xfrm>
          <a:custGeom>
            <a:avLst/>
            <a:gdLst/>
            <a:ahLst/>
            <a:cxnLst/>
            <a:rect l="l" t="t" r="r" b="b"/>
            <a:pathLst>
              <a:path w="876300" h="85725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24000" y="4286250"/>
            <a:ext cx="657225" cy="647700"/>
          </a:xfrm>
          <a:custGeom>
            <a:avLst/>
            <a:gdLst/>
            <a:ahLst/>
            <a:cxnLst/>
            <a:rect l="l" t="t" r="r" b="b"/>
            <a:pathLst>
              <a:path w="657225" h="647700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24000" y="4924425"/>
            <a:ext cx="657225" cy="438150"/>
          </a:xfrm>
          <a:custGeom>
            <a:avLst/>
            <a:gdLst/>
            <a:ahLst/>
            <a:cxnLst/>
            <a:rect l="l" t="t" r="r" b="b"/>
            <a:pathLst>
              <a:path w="657225" h="438150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2157984" y="5048060"/>
            <a:ext cx="4279392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5"/>
              </a:lnSpc>
            </a:pPr>
            <a:r>
              <a:rPr lang="en-US" sz="2121" spc="-4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Informasi harus jelas dan ringkas</a:t>
            </a:r>
          </a:p>
        </p:txBody>
      </p:sp>
      <p:sp>
        <p:nvSpPr>
          <p:cNvPr id="8" name="Freeform 8"/>
          <p:cNvSpPr/>
          <p:nvPr/>
        </p:nvSpPr>
        <p:spPr>
          <a:xfrm>
            <a:off x="1524000" y="5572125"/>
            <a:ext cx="657225" cy="428625"/>
          </a:xfrm>
          <a:custGeom>
            <a:avLst/>
            <a:gdLst/>
            <a:ahLst/>
            <a:cxnLst/>
            <a:rect l="l" t="t" r="r" b="b"/>
            <a:pathLst>
              <a:path w="657225" h="4286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157984" y="5633657"/>
            <a:ext cx="603504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3"/>
              </a:lnSpc>
            </a:pPr>
            <a:r>
              <a:rPr lang="en-US" sz="2069" spc="-4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Visual yang menarik mendukung pemahaman</a:t>
            </a:r>
          </a:p>
        </p:txBody>
      </p:sp>
      <p:sp>
        <p:nvSpPr>
          <p:cNvPr id="10" name="Freeform 10"/>
          <p:cNvSpPr/>
          <p:nvPr/>
        </p:nvSpPr>
        <p:spPr>
          <a:xfrm>
            <a:off x="647700" y="6429375"/>
            <a:ext cx="7848600" cy="219075"/>
          </a:xfrm>
          <a:custGeom>
            <a:avLst/>
            <a:gdLst/>
            <a:ahLst/>
            <a:cxnLst/>
            <a:rect l="l" t="t" r="r" b="b"/>
            <a:pathLst>
              <a:path w="7848600" h="219075">
                <a:moveTo>
                  <a:pt x="0" y="0"/>
                </a:moveTo>
                <a:lnTo>
                  <a:pt x="7848600" y="0"/>
                </a:lnTo>
                <a:lnTo>
                  <a:pt x="7848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647700" y="7067550"/>
            <a:ext cx="876300" cy="866775"/>
          </a:xfrm>
          <a:custGeom>
            <a:avLst/>
            <a:gdLst/>
            <a:ahLst/>
            <a:cxnLst/>
            <a:rect l="l" t="t" r="r" b="b"/>
            <a:pathLst>
              <a:path w="876300" h="866775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737360" y="7146607"/>
            <a:ext cx="4645152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4"/>
              </a:lnSpc>
            </a:pPr>
            <a:r>
              <a:rPr lang="en-US" sz="2095" b="1" spc="-41">
                <a:solidFill>
                  <a:srgbClr val="3776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Struktur isi yang mudah dipahami</a:t>
            </a:r>
          </a:p>
        </p:txBody>
      </p:sp>
      <p:sp>
        <p:nvSpPr>
          <p:cNvPr id="13" name="Freeform 13"/>
          <p:cNvSpPr/>
          <p:nvPr/>
        </p:nvSpPr>
        <p:spPr>
          <a:xfrm>
            <a:off x="1524000" y="7715250"/>
            <a:ext cx="657225" cy="647700"/>
          </a:xfrm>
          <a:custGeom>
            <a:avLst/>
            <a:gdLst/>
            <a:ahLst/>
            <a:cxnLst/>
            <a:rect l="l" t="t" r="r" b="b"/>
            <a:pathLst>
              <a:path w="657225" h="647700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524000" y="8353425"/>
            <a:ext cx="657225" cy="438150"/>
          </a:xfrm>
          <a:custGeom>
            <a:avLst/>
            <a:gdLst/>
            <a:ahLst/>
            <a:cxnLst/>
            <a:rect l="l" t="t" r="r" b="b"/>
            <a:pathLst>
              <a:path w="657225" h="438150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2157984" y="8462581"/>
            <a:ext cx="5376672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3"/>
              </a:lnSpc>
            </a:pPr>
            <a:r>
              <a:rPr lang="en-US" sz="2069" spc="-4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Pusatkan pada alat atau topik yang dipilih</a:t>
            </a:r>
          </a:p>
        </p:txBody>
      </p:sp>
      <p:sp>
        <p:nvSpPr>
          <p:cNvPr id="16" name="Freeform 16"/>
          <p:cNvSpPr/>
          <p:nvPr/>
        </p:nvSpPr>
        <p:spPr>
          <a:xfrm>
            <a:off x="1524000" y="9001125"/>
            <a:ext cx="657225" cy="428625"/>
          </a:xfrm>
          <a:custGeom>
            <a:avLst/>
            <a:gdLst/>
            <a:ahLst/>
            <a:cxnLst/>
            <a:rect l="l" t="t" r="r" b="b"/>
            <a:pathLst>
              <a:path w="657225" h="4286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2157984" y="9038653"/>
            <a:ext cx="614476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3"/>
              </a:lnSpc>
            </a:pPr>
            <a:r>
              <a:rPr lang="en-US" sz="2069" spc="-4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Tambahkan tips penting sesuai kasus kelompok</a:t>
            </a:r>
          </a:p>
        </p:txBody>
      </p:sp>
      <p:sp>
        <p:nvSpPr>
          <p:cNvPr id="18" name="Freeform 18"/>
          <p:cNvSpPr/>
          <p:nvPr/>
        </p:nvSpPr>
        <p:spPr>
          <a:xfrm>
            <a:off x="8924925" y="209550"/>
            <a:ext cx="9153525" cy="9867900"/>
          </a:xfrm>
          <a:custGeom>
            <a:avLst/>
            <a:gdLst/>
            <a:ahLst/>
            <a:cxnLst/>
            <a:rect l="l" t="t" r="r" b="b"/>
            <a:pathLst>
              <a:path w="9153525" h="9867900">
                <a:moveTo>
                  <a:pt x="0" y="0"/>
                </a:moveTo>
                <a:lnTo>
                  <a:pt x="9153525" y="0"/>
                </a:lnTo>
                <a:lnTo>
                  <a:pt x="9153525" y="9867900"/>
                </a:lnTo>
                <a:lnTo>
                  <a:pt x="0" y="98679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8924925" y="209550"/>
            <a:ext cx="9153525" cy="1933575"/>
          </a:xfrm>
          <a:custGeom>
            <a:avLst/>
            <a:gdLst/>
            <a:ahLst/>
            <a:cxnLst/>
            <a:rect l="l" t="t" r="r" b="b"/>
            <a:pathLst>
              <a:path w="9153525" h="1933575">
                <a:moveTo>
                  <a:pt x="0" y="0"/>
                </a:moveTo>
                <a:lnTo>
                  <a:pt x="9153525" y="0"/>
                </a:lnTo>
                <a:lnTo>
                  <a:pt x="91535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9656064" y="676084"/>
            <a:ext cx="5742432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1"/>
              </a:lnSpc>
            </a:pPr>
            <a:r>
              <a:rPr lang="en-US" sz="3576" b="1" spc="-17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KENALI PEKERJAANNYA, PILIH ALATNYA</a:t>
            </a:r>
          </a:p>
        </p:txBody>
      </p:sp>
      <p:sp>
        <p:nvSpPr>
          <p:cNvPr id="21" name="Freeform 21"/>
          <p:cNvSpPr/>
          <p:nvPr/>
        </p:nvSpPr>
        <p:spPr>
          <a:xfrm>
            <a:off x="8924925" y="1924050"/>
            <a:ext cx="9153525" cy="7077075"/>
          </a:xfrm>
          <a:custGeom>
            <a:avLst/>
            <a:gdLst/>
            <a:ahLst/>
            <a:cxnLst/>
            <a:rect l="l" t="t" r="r" b="b"/>
            <a:pathLst>
              <a:path w="9153525" h="7077075">
                <a:moveTo>
                  <a:pt x="0" y="0"/>
                </a:moveTo>
                <a:lnTo>
                  <a:pt x="9153525" y="0"/>
                </a:lnTo>
                <a:lnTo>
                  <a:pt x="9153525" y="7077075"/>
                </a:lnTo>
                <a:lnTo>
                  <a:pt x="0" y="70770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9572625" y="2352675"/>
            <a:ext cx="666750" cy="647700"/>
          </a:xfrm>
          <a:custGeom>
            <a:avLst/>
            <a:gdLst/>
            <a:ahLst/>
            <a:cxnLst/>
            <a:rect l="l" t="t" r="r" b="b"/>
            <a:pathLst>
              <a:path w="666750" h="64770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10625328" y="2481453"/>
            <a:ext cx="1536192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sz="1958" b="1" spc="-39">
                <a:solidFill>
                  <a:srgbClr val="3776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NAMA ALAT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094208" y="2448496"/>
            <a:ext cx="74980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593" spc="-51">
                <a:solidFill>
                  <a:srgbClr val="001524"/>
                </a:solidFill>
                <a:latin typeface="Montserrat"/>
                <a:ea typeface="Montserrat"/>
                <a:cs typeface="Montserrat"/>
                <a:sym typeface="Montserrat"/>
              </a:rPr>
              <a:t>Kikir</a:t>
            </a:r>
          </a:p>
        </p:txBody>
      </p:sp>
      <p:sp>
        <p:nvSpPr>
          <p:cNvPr id="25" name="Freeform 25"/>
          <p:cNvSpPr/>
          <p:nvPr/>
        </p:nvSpPr>
        <p:spPr>
          <a:xfrm>
            <a:off x="9572625" y="3209925"/>
            <a:ext cx="8286750" cy="219075"/>
          </a:xfrm>
          <a:custGeom>
            <a:avLst/>
            <a:gdLst/>
            <a:ahLst/>
            <a:cxnLst/>
            <a:rect l="l" t="t" r="r" b="b"/>
            <a:pathLst>
              <a:path w="8286750" h="219075">
                <a:moveTo>
                  <a:pt x="0" y="0"/>
                </a:moveTo>
                <a:lnTo>
                  <a:pt x="8286750" y="0"/>
                </a:lnTo>
                <a:lnTo>
                  <a:pt x="8286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9572625" y="3638550"/>
            <a:ext cx="666750" cy="866775"/>
          </a:xfrm>
          <a:custGeom>
            <a:avLst/>
            <a:gdLst/>
            <a:ahLst/>
            <a:cxnLst/>
            <a:rect l="l" t="t" r="r" b="b"/>
            <a:pathLst>
              <a:path w="666750" h="866775">
                <a:moveTo>
                  <a:pt x="0" y="0"/>
                </a:moveTo>
                <a:lnTo>
                  <a:pt x="666750" y="0"/>
                </a:lnTo>
                <a:lnTo>
                  <a:pt x="6667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10625328" y="3756279"/>
            <a:ext cx="1499616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980" b="1" spc="-39">
                <a:solidFill>
                  <a:srgbClr val="3776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KEGUNAAN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094208" y="3678555"/>
            <a:ext cx="3273552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8"/>
              </a:lnSpc>
            </a:pPr>
            <a:r>
              <a:rPr lang="en-US" sz="2190" spc="-43">
                <a:solidFill>
                  <a:srgbClr val="001524"/>
                </a:solidFill>
                <a:latin typeface="Montserrat"/>
                <a:ea typeface="Montserrat"/>
                <a:cs typeface="Montserrat"/>
                <a:sym typeface="Montserrat"/>
              </a:rPr>
              <a:t>Menghaluskan permukaan benda kerja</a:t>
            </a:r>
          </a:p>
        </p:txBody>
      </p:sp>
      <p:sp>
        <p:nvSpPr>
          <p:cNvPr id="29" name="Freeform 29"/>
          <p:cNvSpPr/>
          <p:nvPr/>
        </p:nvSpPr>
        <p:spPr>
          <a:xfrm>
            <a:off x="9572625" y="4495800"/>
            <a:ext cx="8286750" cy="219075"/>
          </a:xfrm>
          <a:custGeom>
            <a:avLst/>
            <a:gdLst/>
            <a:ahLst/>
            <a:cxnLst/>
            <a:rect l="l" t="t" r="r" b="b"/>
            <a:pathLst>
              <a:path w="8286750" h="219075">
                <a:moveTo>
                  <a:pt x="0" y="0"/>
                </a:moveTo>
                <a:lnTo>
                  <a:pt x="8286750" y="0"/>
                </a:lnTo>
                <a:lnTo>
                  <a:pt x="8286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9572625" y="4924425"/>
            <a:ext cx="666750" cy="866775"/>
          </a:xfrm>
          <a:custGeom>
            <a:avLst/>
            <a:gdLst/>
            <a:ahLst/>
            <a:cxnLst/>
            <a:rect l="l" t="t" r="r" b="b"/>
            <a:pathLst>
              <a:path w="666750" h="866775">
                <a:moveTo>
                  <a:pt x="0" y="0"/>
                </a:moveTo>
                <a:lnTo>
                  <a:pt x="666750" y="0"/>
                </a:lnTo>
                <a:lnTo>
                  <a:pt x="6667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10625328" y="5088827"/>
            <a:ext cx="1865376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3"/>
              </a:lnSpc>
            </a:pPr>
            <a:r>
              <a:rPr lang="en-US" sz="1935" b="1" spc="-38">
                <a:solidFill>
                  <a:srgbClr val="3776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GAMBAR ALAT</a:t>
            </a:r>
          </a:p>
        </p:txBody>
      </p:sp>
      <p:sp>
        <p:nvSpPr>
          <p:cNvPr id="32" name="Freeform 32"/>
          <p:cNvSpPr/>
          <p:nvPr/>
        </p:nvSpPr>
        <p:spPr>
          <a:xfrm>
            <a:off x="10877550" y="4714875"/>
            <a:ext cx="6762750" cy="2571750"/>
          </a:xfrm>
          <a:custGeom>
            <a:avLst/>
            <a:gdLst/>
            <a:ahLst/>
            <a:cxnLst/>
            <a:rect l="l" t="t" r="r" b="b"/>
            <a:pathLst>
              <a:path w="6762750" h="2571750">
                <a:moveTo>
                  <a:pt x="0" y="0"/>
                </a:moveTo>
                <a:lnTo>
                  <a:pt x="6762750" y="0"/>
                </a:lnTo>
                <a:lnTo>
                  <a:pt x="67627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8924925" y="7496175"/>
            <a:ext cx="8934450" cy="1295400"/>
          </a:xfrm>
          <a:custGeom>
            <a:avLst/>
            <a:gdLst/>
            <a:ahLst/>
            <a:cxnLst/>
            <a:rect l="l" t="t" r="r" b="b"/>
            <a:pathLst>
              <a:path w="8934450" h="1295400">
                <a:moveTo>
                  <a:pt x="0" y="0"/>
                </a:moveTo>
                <a:lnTo>
                  <a:pt x="8934450" y="0"/>
                </a:lnTo>
                <a:lnTo>
                  <a:pt x="893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>
            <a:off x="9572625" y="7715250"/>
            <a:ext cx="666750" cy="857250"/>
          </a:xfrm>
          <a:custGeom>
            <a:avLst/>
            <a:gdLst/>
            <a:ahLst/>
            <a:cxnLst/>
            <a:rect l="l" t="t" r="r" b="b"/>
            <a:pathLst>
              <a:path w="666750" h="857250">
                <a:moveTo>
                  <a:pt x="0" y="0"/>
                </a:moveTo>
                <a:lnTo>
                  <a:pt x="666750" y="0"/>
                </a:lnTo>
                <a:lnTo>
                  <a:pt x="666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TextBox 35"/>
          <p:cNvSpPr txBox="1"/>
          <p:nvPr/>
        </p:nvSpPr>
        <p:spPr>
          <a:xfrm>
            <a:off x="10625328" y="7948613"/>
            <a:ext cx="1755648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3"/>
              </a:lnSpc>
            </a:pPr>
            <a:r>
              <a:rPr lang="en-US" sz="1935" b="1" spc="-38">
                <a:solidFill>
                  <a:srgbClr val="3776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TIPS PENTING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094208" y="7803642"/>
            <a:ext cx="3054096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8"/>
              </a:lnSpc>
            </a:pPr>
            <a:r>
              <a:rPr lang="en-US" sz="2190" spc="-43">
                <a:solidFill>
                  <a:srgbClr val="001524"/>
                </a:solidFill>
                <a:latin typeface="Montserrat"/>
                <a:ea typeface="Montserrat"/>
                <a:cs typeface="Montserrat"/>
                <a:sym typeface="Montserrat"/>
              </a:rPr>
              <a:t>Sesuaikan tips dengan kasus kelompok Anda.</a:t>
            </a:r>
          </a:p>
        </p:txBody>
      </p:sp>
      <p:sp>
        <p:nvSpPr>
          <p:cNvPr id="37" name="Freeform 37"/>
          <p:cNvSpPr/>
          <p:nvPr/>
        </p:nvSpPr>
        <p:spPr>
          <a:xfrm>
            <a:off x="8924925" y="8782050"/>
            <a:ext cx="9153525" cy="1295400"/>
          </a:xfrm>
          <a:custGeom>
            <a:avLst/>
            <a:gdLst/>
            <a:ahLst/>
            <a:cxnLst/>
            <a:rect l="l" t="t" r="r" b="b"/>
            <a:pathLst>
              <a:path w="9153525" h="1295400">
                <a:moveTo>
                  <a:pt x="0" y="0"/>
                </a:moveTo>
                <a:lnTo>
                  <a:pt x="9153525" y="0"/>
                </a:lnTo>
                <a:lnTo>
                  <a:pt x="91535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/>
          <p:cNvSpPr/>
          <p:nvPr/>
        </p:nvSpPr>
        <p:spPr>
          <a:xfrm>
            <a:off x="9572625" y="9001125"/>
            <a:ext cx="666750" cy="857250"/>
          </a:xfrm>
          <a:custGeom>
            <a:avLst/>
            <a:gdLst/>
            <a:ahLst/>
            <a:cxnLst/>
            <a:rect l="l" t="t" r="r" b="b"/>
            <a:pathLst>
              <a:path w="666750" h="857250">
                <a:moveTo>
                  <a:pt x="0" y="0"/>
                </a:moveTo>
                <a:lnTo>
                  <a:pt x="666750" y="0"/>
                </a:lnTo>
                <a:lnTo>
                  <a:pt x="666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TextBox 39"/>
          <p:cNvSpPr txBox="1"/>
          <p:nvPr/>
        </p:nvSpPr>
        <p:spPr>
          <a:xfrm>
            <a:off x="10625328" y="9059609"/>
            <a:ext cx="3456432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3"/>
              </a:lnSpc>
            </a:pPr>
            <a:r>
              <a:rPr lang="en-US" sz="1935" b="1" spc="-3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CONTOH TEMA KELOMPOK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625328" y="9418892"/>
            <a:ext cx="4791456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</a:pPr>
            <a:r>
              <a:rPr lang="en-US" sz="1913" spc="-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APD, keselamatan pengelasan, 5R/5S, dll.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737360" y="3592830"/>
            <a:ext cx="5065776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6"/>
              </a:lnSpc>
            </a:pPr>
            <a:r>
              <a:rPr lang="en-US" sz="2146" b="1" spc="-42">
                <a:solidFill>
                  <a:srgbClr val="3776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Prinsip desain infografis yang efektif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157984" y="4481513"/>
            <a:ext cx="404164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3"/>
              </a:lnSpc>
            </a:pPr>
            <a:r>
              <a:rPr lang="en-US" sz="2069" spc="-4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Sampaikan dengan sedikit teks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157984" y="7876984"/>
            <a:ext cx="374904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4"/>
              </a:lnSpc>
            </a:pPr>
            <a:r>
              <a:rPr lang="en-US" sz="2095" spc="-4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Satu ide utama per infografis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85216" y="632089"/>
            <a:ext cx="12417552" cy="1609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7"/>
              </a:lnSpc>
            </a:pPr>
            <a:r>
              <a:rPr lang="en-US" sz="5978" b="1" spc="-179">
                <a:solidFill>
                  <a:srgbClr val="38B6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Ingat!</a:t>
            </a:r>
            <a:r>
              <a:rPr lang="en-US" sz="5978" b="1" spc="-17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AI Membantu,</a:t>
            </a:r>
          </a:p>
          <a:p>
            <a:pPr algn="l">
              <a:lnSpc>
                <a:spcPts val="6277"/>
              </a:lnSpc>
            </a:pPr>
            <a:r>
              <a:rPr lang="en-US" sz="5978" b="1" spc="-17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Kalian yang Bertanggung Jawab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5216" y="2973300"/>
            <a:ext cx="5138928" cy="23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lang="en-US" sz="1762" b="1" spc="-52">
                <a:solidFill>
                  <a:srgbClr val="38B6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Sebelum mengumpulkan, pastikan 5 hal ini:</a:t>
            </a:r>
          </a:p>
        </p:txBody>
      </p:sp>
      <p:sp>
        <p:nvSpPr>
          <p:cNvPr id="5" name="Freeform 5"/>
          <p:cNvSpPr/>
          <p:nvPr/>
        </p:nvSpPr>
        <p:spPr>
          <a:xfrm>
            <a:off x="7620000" y="2781300"/>
            <a:ext cx="219075" cy="6648450"/>
          </a:xfrm>
          <a:custGeom>
            <a:avLst/>
            <a:gdLst/>
            <a:ahLst/>
            <a:cxnLst/>
            <a:rect l="l" t="t" r="r" b="b"/>
            <a:pathLst>
              <a:path w="219075" h="6648450">
                <a:moveTo>
                  <a:pt x="0" y="0"/>
                </a:moveTo>
                <a:lnTo>
                  <a:pt x="219075" y="0"/>
                </a:lnTo>
                <a:lnTo>
                  <a:pt x="219075" y="6648450"/>
                </a:lnTo>
                <a:lnTo>
                  <a:pt x="0" y="6648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428625" y="3429000"/>
            <a:ext cx="1095375" cy="1285875"/>
          </a:xfrm>
          <a:custGeom>
            <a:avLst/>
            <a:gdLst/>
            <a:ahLst/>
            <a:cxnLst/>
            <a:rect l="l" t="t" r="r" b="b"/>
            <a:pathLst>
              <a:path w="1095375" h="1285875">
                <a:moveTo>
                  <a:pt x="0" y="0"/>
                </a:moveTo>
                <a:lnTo>
                  <a:pt x="1095375" y="0"/>
                </a:lnTo>
                <a:lnTo>
                  <a:pt x="1095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24000" y="3429000"/>
            <a:ext cx="6096000" cy="1285875"/>
          </a:xfrm>
          <a:custGeom>
            <a:avLst/>
            <a:gdLst/>
            <a:ahLst/>
            <a:cxnLst/>
            <a:rect l="l" t="t" r="r" b="b"/>
            <a:pathLst>
              <a:path w="6096000" h="1285875">
                <a:moveTo>
                  <a:pt x="0" y="0"/>
                </a:moveTo>
                <a:lnTo>
                  <a:pt x="6096000" y="0"/>
                </a:lnTo>
                <a:lnTo>
                  <a:pt x="60960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733550" y="3638550"/>
            <a:ext cx="885825" cy="866775"/>
          </a:xfrm>
          <a:custGeom>
            <a:avLst/>
            <a:gdLst/>
            <a:ahLst/>
            <a:cxnLst/>
            <a:rect l="l" t="t" r="r" b="b"/>
            <a:pathLst>
              <a:path w="885825" h="866775">
                <a:moveTo>
                  <a:pt x="0" y="0"/>
                </a:moveTo>
                <a:lnTo>
                  <a:pt x="885825" y="0"/>
                </a:lnTo>
                <a:lnTo>
                  <a:pt x="8858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428625" y="4714875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524000" y="4714875"/>
            <a:ext cx="6096000" cy="1076325"/>
          </a:xfrm>
          <a:custGeom>
            <a:avLst/>
            <a:gdLst/>
            <a:ahLst/>
            <a:cxnLst/>
            <a:rect l="l" t="t" r="r" b="b"/>
            <a:pathLst>
              <a:path w="6096000" h="1076325">
                <a:moveTo>
                  <a:pt x="0" y="0"/>
                </a:moveTo>
                <a:lnTo>
                  <a:pt x="6096000" y="0"/>
                </a:lnTo>
                <a:lnTo>
                  <a:pt x="60960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733550" y="4714875"/>
            <a:ext cx="885825" cy="857250"/>
          </a:xfrm>
          <a:custGeom>
            <a:avLst/>
            <a:gdLst/>
            <a:ahLst/>
            <a:cxnLst/>
            <a:rect l="l" t="t" r="r" b="b"/>
            <a:pathLst>
              <a:path w="885825" h="857250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3310128" y="5174718"/>
            <a:ext cx="3877056" cy="23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lang="en-US" sz="1762" spc="-5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— Semua poin LKM terpenuhi?</a:t>
            </a:r>
          </a:p>
        </p:txBody>
      </p:sp>
      <p:sp>
        <p:nvSpPr>
          <p:cNvPr id="13" name="Freeform 13"/>
          <p:cNvSpPr/>
          <p:nvPr/>
        </p:nvSpPr>
        <p:spPr>
          <a:xfrm>
            <a:off x="428625" y="5781675"/>
            <a:ext cx="1095375" cy="1295400"/>
          </a:xfrm>
          <a:custGeom>
            <a:avLst/>
            <a:gdLst/>
            <a:ahLst/>
            <a:cxnLst/>
            <a:rect l="l" t="t" r="r" b="b"/>
            <a:pathLst>
              <a:path w="1095375" h="1295400">
                <a:moveTo>
                  <a:pt x="0" y="0"/>
                </a:moveTo>
                <a:lnTo>
                  <a:pt x="1095375" y="0"/>
                </a:lnTo>
                <a:lnTo>
                  <a:pt x="1095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524000" y="5781675"/>
            <a:ext cx="6096000" cy="1295400"/>
          </a:xfrm>
          <a:custGeom>
            <a:avLst/>
            <a:gdLst/>
            <a:ahLst/>
            <a:cxnLst/>
            <a:rect l="l" t="t" r="r" b="b"/>
            <a:pathLst>
              <a:path w="6096000" h="1295400">
                <a:moveTo>
                  <a:pt x="0" y="0"/>
                </a:moveTo>
                <a:lnTo>
                  <a:pt x="6096000" y="0"/>
                </a:lnTo>
                <a:lnTo>
                  <a:pt x="60960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733550" y="6000750"/>
            <a:ext cx="666750" cy="857250"/>
          </a:xfrm>
          <a:custGeom>
            <a:avLst/>
            <a:gdLst/>
            <a:ahLst/>
            <a:cxnLst/>
            <a:rect l="l" t="t" r="r" b="b"/>
            <a:pathLst>
              <a:path w="666750" h="857250">
                <a:moveTo>
                  <a:pt x="0" y="0"/>
                </a:moveTo>
                <a:lnTo>
                  <a:pt x="666750" y="0"/>
                </a:lnTo>
                <a:lnTo>
                  <a:pt x="666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428625" y="6858000"/>
            <a:ext cx="1095375" cy="1285875"/>
          </a:xfrm>
          <a:custGeom>
            <a:avLst/>
            <a:gdLst/>
            <a:ahLst/>
            <a:cxnLst/>
            <a:rect l="l" t="t" r="r" b="b"/>
            <a:pathLst>
              <a:path w="1095375" h="1285875">
                <a:moveTo>
                  <a:pt x="0" y="0"/>
                </a:moveTo>
                <a:lnTo>
                  <a:pt x="1095375" y="0"/>
                </a:lnTo>
                <a:lnTo>
                  <a:pt x="1095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524000" y="6858000"/>
            <a:ext cx="6096000" cy="1285875"/>
          </a:xfrm>
          <a:custGeom>
            <a:avLst/>
            <a:gdLst/>
            <a:ahLst/>
            <a:cxnLst/>
            <a:rect l="l" t="t" r="r" b="b"/>
            <a:pathLst>
              <a:path w="6096000" h="1285875">
                <a:moveTo>
                  <a:pt x="0" y="0"/>
                </a:moveTo>
                <a:lnTo>
                  <a:pt x="6096000" y="0"/>
                </a:lnTo>
                <a:lnTo>
                  <a:pt x="60960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733550" y="7067550"/>
            <a:ext cx="885825" cy="866775"/>
          </a:xfrm>
          <a:custGeom>
            <a:avLst/>
            <a:gdLst/>
            <a:ahLst/>
            <a:cxnLst/>
            <a:rect l="l" t="t" r="r" b="b"/>
            <a:pathLst>
              <a:path w="885825" h="866775">
                <a:moveTo>
                  <a:pt x="0" y="0"/>
                </a:moveTo>
                <a:lnTo>
                  <a:pt x="885825" y="0"/>
                </a:lnTo>
                <a:lnTo>
                  <a:pt x="8858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3310128" y="7437858"/>
            <a:ext cx="4005072" cy="23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lang="en-US" sz="1762" spc="-5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— Desain dan visual mendukung?</a:t>
            </a:r>
          </a:p>
        </p:txBody>
      </p:sp>
      <p:sp>
        <p:nvSpPr>
          <p:cNvPr id="20" name="Freeform 20"/>
          <p:cNvSpPr/>
          <p:nvPr/>
        </p:nvSpPr>
        <p:spPr>
          <a:xfrm>
            <a:off x="428625" y="8143875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524000" y="8143875"/>
            <a:ext cx="6096000" cy="1076325"/>
          </a:xfrm>
          <a:custGeom>
            <a:avLst/>
            <a:gdLst/>
            <a:ahLst/>
            <a:cxnLst/>
            <a:rect l="l" t="t" r="r" b="b"/>
            <a:pathLst>
              <a:path w="6096000" h="1076325">
                <a:moveTo>
                  <a:pt x="0" y="0"/>
                </a:moveTo>
                <a:lnTo>
                  <a:pt x="6096000" y="0"/>
                </a:lnTo>
                <a:lnTo>
                  <a:pt x="60960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733550" y="8353425"/>
            <a:ext cx="885825" cy="647700"/>
          </a:xfrm>
          <a:custGeom>
            <a:avLst/>
            <a:gdLst/>
            <a:ahLst/>
            <a:cxnLst/>
            <a:rect l="l" t="t" r="r" b="b"/>
            <a:pathLst>
              <a:path w="885825" h="647700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8449056" y="2860143"/>
            <a:ext cx="1737360" cy="23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lang="en-US" sz="1762" b="1" spc="-52">
                <a:solidFill>
                  <a:srgbClr val="38B6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Prinsip utama: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77072" y="3468195"/>
            <a:ext cx="1170432" cy="242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1"/>
              </a:lnSpc>
            </a:pPr>
            <a:r>
              <a:rPr lang="en-US" sz="1725" b="1" spc="-5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GUNAKAN</a:t>
            </a:r>
          </a:p>
        </p:txBody>
      </p:sp>
      <p:sp>
        <p:nvSpPr>
          <p:cNvPr id="25" name="Freeform 25"/>
          <p:cNvSpPr/>
          <p:nvPr/>
        </p:nvSpPr>
        <p:spPr>
          <a:xfrm>
            <a:off x="8486775" y="3857625"/>
            <a:ext cx="1314450" cy="1076325"/>
          </a:xfrm>
          <a:custGeom>
            <a:avLst/>
            <a:gdLst/>
            <a:ahLst/>
            <a:cxnLst/>
            <a:rect l="l" t="t" r="r" b="b"/>
            <a:pathLst>
              <a:path w="1314450" h="1076325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0552176" y="3477363"/>
            <a:ext cx="987552" cy="23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lang="en-US" sz="1762" b="1" spc="-5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PERIKSA</a:t>
            </a:r>
          </a:p>
        </p:txBody>
      </p:sp>
      <p:sp>
        <p:nvSpPr>
          <p:cNvPr id="27" name="Freeform 27"/>
          <p:cNvSpPr/>
          <p:nvPr/>
        </p:nvSpPr>
        <p:spPr>
          <a:xfrm>
            <a:off x="10448925" y="3857625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12417552" y="3482840"/>
            <a:ext cx="1060704" cy="222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1"/>
              </a:lnSpc>
            </a:pPr>
            <a:r>
              <a:rPr lang="en-US" sz="1687" b="1" spc="-5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PIKIRKAN</a:t>
            </a:r>
          </a:p>
        </p:txBody>
      </p:sp>
      <p:sp>
        <p:nvSpPr>
          <p:cNvPr id="29" name="Freeform 29"/>
          <p:cNvSpPr/>
          <p:nvPr/>
        </p:nvSpPr>
        <p:spPr>
          <a:xfrm>
            <a:off x="12401550" y="3857625"/>
            <a:ext cx="1104900" cy="1076325"/>
          </a:xfrm>
          <a:custGeom>
            <a:avLst/>
            <a:gdLst/>
            <a:ahLst/>
            <a:cxnLst/>
            <a:rect l="l" t="t" r="r" b="b"/>
            <a:pathLst>
              <a:path w="1104900" h="1076325">
                <a:moveTo>
                  <a:pt x="0" y="0"/>
                </a:moveTo>
                <a:lnTo>
                  <a:pt x="1104900" y="0"/>
                </a:lnTo>
                <a:lnTo>
                  <a:pt x="11049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14363700" y="3857625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16106775" y="3857625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8267700" y="4924425"/>
            <a:ext cx="9372600" cy="438150"/>
          </a:xfrm>
          <a:custGeom>
            <a:avLst/>
            <a:gdLst/>
            <a:ahLst/>
            <a:cxnLst/>
            <a:rect l="l" t="t" r="r" b="b"/>
            <a:pathLst>
              <a:path w="9372600" h="438150">
                <a:moveTo>
                  <a:pt x="0" y="0"/>
                </a:moveTo>
                <a:lnTo>
                  <a:pt x="9372600" y="0"/>
                </a:lnTo>
                <a:lnTo>
                  <a:pt x="93726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TextBox 33"/>
          <p:cNvSpPr txBox="1"/>
          <p:nvPr/>
        </p:nvSpPr>
        <p:spPr>
          <a:xfrm>
            <a:off x="8449056" y="5666628"/>
            <a:ext cx="3273552" cy="299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8"/>
              </a:lnSpc>
            </a:pPr>
            <a:r>
              <a:rPr lang="en-US" sz="2198" spc="-6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Tantangan untuk kalian: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449056" y="6254252"/>
            <a:ext cx="6839712" cy="178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7"/>
              </a:lnSpc>
            </a:pPr>
            <a:r>
              <a:rPr lang="en-US" sz="3651" b="1" spc="-10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Bisakah AI membantu kalian membuat konten yang </a:t>
            </a:r>
            <a:r>
              <a:rPr lang="en-US" sz="3651" b="1" spc="-109">
                <a:solidFill>
                  <a:srgbClr val="38B6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benar</a:t>
            </a:r>
            <a:r>
              <a:rPr lang="en-US" sz="3651" b="1" spc="-10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, </a:t>
            </a:r>
            <a:r>
              <a:rPr lang="en-US" sz="3651" b="1" spc="-109">
                <a:solidFill>
                  <a:srgbClr val="38B6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jelas</a:t>
            </a:r>
            <a:r>
              <a:rPr lang="en-US" sz="3651" b="1" spc="-10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, dan </a:t>
            </a:r>
            <a:r>
              <a:rPr lang="en-US" sz="3651" b="1" spc="-109">
                <a:solidFill>
                  <a:srgbClr val="38B6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bermanfaat</a:t>
            </a:r>
            <a:r>
              <a:rPr lang="en-US" sz="3651" b="1" spc="-10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?</a:t>
            </a:r>
          </a:p>
        </p:txBody>
      </p:sp>
      <p:sp>
        <p:nvSpPr>
          <p:cNvPr id="35" name="Freeform 35"/>
          <p:cNvSpPr/>
          <p:nvPr/>
        </p:nvSpPr>
        <p:spPr>
          <a:xfrm>
            <a:off x="8267700" y="8143875"/>
            <a:ext cx="9372600" cy="219075"/>
          </a:xfrm>
          <a:custGeom>
            <a:avLst/>
            <a:gdLst/>
            <a:ahLst/>
            <a:cxnLst/>
            <a:rect l="l" t="t" r="r" b="b"/>
            <a:pathLst>
              <a:path w="9372600" h="219075">
                <a:moveTo>
                  <a:pt x="0" y="0"/>
                </a:moveTo>
                <a:lnTo>
                  <a:pt x="9372600" y="0"/>
                </a:lnTo>
                <a:lnTo>
                  <a:pt x="937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8449056" y="8707371"/>
            <a:ext cx="7022592" cy="64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0"/>
              </a:lnSpc>
            </a:pPr>
            <a:r>
              <a:rPr lang="en-US" sz="2069" spc="-6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Gunakan AI dengan bijak. Periksa hasilnya.</a:t>
            </a:r>
          </a:p>
          <a:p>
            <a:pPr algn="l">
              <a:lnSpc>
                <a:spcPts val="2690"/>
              </a:lnSpc>
            </a:pPr>
            <a:r>
              <a:rPr lang="en-US" sz="2069" spc="-6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Pikirkan dampaknya. </a:t>
            </a:r>
            <a:r>
              <a:rPr lang="en-US" sz="2069" b="1" spc="-62">
                <a:solidFill>
                  <a:srgbClr val="38B6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Kalian yang bertanggung jawab.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779776" y="3971139"/>
            <a:ext cx="969264" cy="23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lang="en-US" sz="1762" b="1" spc="-5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BENAR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310128" y="3971139"/>
            <a:ext cx="3273552" cy="23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lang="en-US" sz="1762" spc="-5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— Apakah informasi akurat?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319504" y="3473672"/>
            <a:ext cx="1024128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2"/>
              </a:lnSpc>
            </a:pPr>
            <a:r>
              <a:rPr lang="en-US" sz="1650" b="1" spc="-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PERBAIKI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386048" y="3488317"/>
            <a:ext cx="585216" cy="211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93"/>
              </a:lnSpc>
            </a:pPr>
            <a:r>
              <a:rPr lang="en-US" sz="1612" b="1" spc="-4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BUAT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77824" y="3968764"/>
            <a:ext cx="347472" cy="330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2371" b="1" spc="-7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41248" y="5110621"/>
            <a:ext cx="384048" cy="330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2371" b="1" spc="-7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779776" y="5174718"/>
            <a:ext cx="1170432" cy="23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lang="en-US" sz="1762" b="1" spc="-5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LENGKAP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924544" y="4152552"/>
            <a:ext cx="438912" cy="496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sz="3576" spc="-10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771632" y="4152552"/>
            <a:ext cx="438912" cy="496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sz="3576" spc="-10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2618720" y="4152552"/>
            <a:ext cx="438912" cy="496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sz="3576" spc="-10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4465808" y="4152552"/>
            <a:ext cx="438912" cy="496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sz="3576" spc="-10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6386048" y="4152552"/>
            <a:ext cx="438912" cy="496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sz="3576" spc="-10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41248" y="6293626"/>
            <a:ext cx="384048" cy="330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2371" b="1" spc="-7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779776" y="6306288"/>
            <a:ext cx="969264" cy="23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lang="en-US" sz="1762" b="1" spc="-5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JELAS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310128" y="6306288"/>
            <a:ext cx="3456432" cy="23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lang="en-US" sz="1762" spc="-5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— Mudah dipahami siswa lain?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41248" y="7441049"/>
            <a:ext cx="384048" cy="319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1"/>
              </a:lnSpc>
            </a:pPr>
            <a:r>
              <a:rPr lang="en-US" sz="2287" b="1" spc="-6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779776" y="7439644"/>
            <a:ext cx="969264" cy="220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575" b="1" spc="-4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MENARIK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41248" y="8556766"/>
            <a:ext cx="384048" cy="330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2371" b="1" spc="-7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779776" y="8580382"/>
            <a:ext cx="438912" cy="211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93"/>
              </a:lnSpc>
            </a:pPr>
            <a:r>
              <a:rPr lang="en-US" sz="1612" b="1" spc="-4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ETIS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310128" y="8565737"/>
            <a:ext cx="4041648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2"/>
              </a:lnSpc>
            </a:pPr>
            <a:r>
              <a:rPr lang="en-US" sz="1650" spc="-4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— Gunakan AI dengan tanggung jawab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639</Words>
  <Application>Microsoft Macintosh PowerPoint</Application>
  <PresentationFormat>Custom</PresentationFormat>
  <Paragraphs>128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Montserrat Medium</vt:lpstr>
      <vt:lpstr>Arial</vt:lpstr>
      <vt:lpstr>DM Sans Bold</vt:lpstr>
      <vt:lpstr>Montaser Arabic Semi-Bold</vt:lpstr>
      <vt:lpstr>Open Sans</vt:lpstr>
      <vt:lpstr>Calibri</vt:lpstr>
      <vt:lpstr>Montserrat Bold</vt:lpstr>
      <vt:lpstr>Open Sans Bold</vt:lpstr>
      <vt:lpstr>DM Sans</vt:lpstr>
      <vt:lpstr>Montserrat</vt:lpstr>
      <vt:lpstr>Open Sans Ultra-Bold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Asisten Produktivitas AI</dc:title>
  <cp:lastModifiedBy>ibnu allika prabo warasto</cp:lastModifiedBy>
  <cp:revision>2</cp:revision>
  <dcterms:created xsi:type="dcterms:W3CDTF">2006-08-16T00:00:00Z</dcterms:created>
  <dcterms:modified xsi:type="dcterms:W3CDTF">2026-09-10T19:46:56Z</dcterms:modified>
  <dc:identifier>DAHU0Q1YAAI</dc:identifier>
</cp:coreProperties>
</file>