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2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8288000" cy="10287000"/>
  <p:notesSz cx="6858000" cy="9144000"/>
  <p:embeddedFontLst>
    <p:embeddedFont>
      <p:font typeface="Clear Sans" panose="020B0503030202020304" pitchFamily="34" charset="0"/>
      <p:regular r:id="rId18"/>
    </p:embeddedFont>
    <p:embeddedFont>
      <p:font typeface="Clear Sans Bold" panose="020B0803030202020304" pitchFamily="34" charset="0"/>
      <p:regular r:id="rId19"/>
      <p:bold r:id="rId20"/>
    </p:embeddedFont>
    <p:embeddedFont>
      <p:font typeface="League Spartan" pitchFamily="2" charset="7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A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209550" cy="10287000"/>
            <a:chOff x="0" y="0"/>
            <a:chExt cx="2794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400" cy="13716000"/>
            </a:xfrm>
            <a:custGeom>
              <a:avLst/>
              <a:gdLst/>
              <a:ahLst/>
              <a:cxnLst/>
              <a:rect l="l" t="t" r="r" b="b"/>
              <a:pathLst>
                <a:path w="279400" h="137160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7A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334500" y="1524000"/>
            <a:ext cx="7810500" cy="5810250"/>
          </a:xfrm>
          <a:custGeom>
            <a:avLst/>
            <a:gdLst/>
            <a:ahLst/>
            <a:cxnLst/>
            <a:rect l="l" t="t" r="r" b="b"/>
            <a:pathLst>
              <a:path w="7810500" h="5810250">
                <a:moveTo>
                  <a:pt x="0" y="0"/>
                </a:moveTo>
                <a:lnTo>
                  <a:pt x="7810500" y="0"/>
                </a:lnTo>
                <a:lnTo>
                  <a:pt x="781050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54" r="-1525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66800" y="139065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MODUL 01 • INFORMATIKA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" y="2209800"/>
            <a:ext cx="8763000" cy="2519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IPO, Hardware,</a:t>
            </a:r>
          </a:p>
          <a:p>
            <a:pPr algn="l">
              <a:lnSpc>
                <a:spcPts val="6579"/>
              </a:lnSpc>
            </a:pPr>
            <a:r>
              <a:rPr lang="en-US" sz="64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Software, dan</a:t>
            </a:r>
          </a:p>
          <a:p>
            <a:pPr algn="l">
              <a:lnSpc>
                <a:spcPts val="6579"/>
              </a:lnSpc>
            </a:pPr>
            <a:r>
              <a:rPr lang="en-US" sz="64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Sistem Operasi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66800" y="5905500"/>
            <a:ext cx="1143000" cy="66675"/>
            <a:chOff x="0" y="0"/>
            <a:chExt cx="1524000" cy="88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7A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66800" y="6153150"/>
            <a:ext cx="7239000" cy="36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Mata Pelajaran Informatika — SMK Kelas X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123C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14A1-182C-E902-4E28-5D000A7B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8006FC-09F0-49D7-CB15-6B7857A0B8CC}"/>
              </a:ext>
            </a:extLst>
          </p:cNvPr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2B889E84-90FD-E81D-F37C-EA9FBF1628BE}"/>
                </a:ext>
              </a:extLst>
            </p:cNvPr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7158F4C-59AA-2744-2FCC-8BD9828E281E}"/>
                </a:ext>
              </a:extLst>
            </p:cNvPr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 dirty="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Tujuan </a:t>
              </a:r>
              <a:r>
                <a:rPr lang="en-US" sz="5100" dirty="0" err="1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Pembelajaran</a:t>
              </a:r>
              <a:endParaRPr lang="en-US" sz="5100" dirty="0">
                <a:solidFill>
                  <a:srgbClr val="10233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BEFCE87A-C30B-C526-7D52-87F764E13A90}"/>
              </a:ext>
            </a:extLst>
          </p:cNvPr>
          <p:cNvSpPr txBox="1"/>
          <p:nvPr/>
        </p:nvSpPr>
        <p:spPr>
          <a:xfrm>
            <a:off x="914400" y="2005824"/>
            <a:ext cx="16459200" cy="6955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2800" dirty="0" err="1"/>
              <a:t>Kognitif</a:t>
            </a:r>
            <a:r>
              <a:rPr lang="en-ID" sz="2800" dirty="0"/>
              <a:t>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sz="2800" dirty="0"/>
              <a:t>Murid </a:t>
            </a:r>
            <a:r>
              <a:rPr lang="en-ID" sz="2800" dirty="0" err="1"/>
              <a:t>mampu</a:t>
            </a:r>
            <a:r>
              <a:rPr lang="en-ID" sz="2800" dirty="0"/>
              <a:t> </a:t>
            </a:r>
            <a:r>
              <a:rPr lang="en-ID" sz="2800" dirty="0" err="1"/>
              <a:t>mengaplikasikan</a:t>
            </a:r>
            <a:r>
              <a:rPr lang="en-ID" sz="2800" dirty="0"/>
              <a:t> (C3) </a:t>
            </a:r>
            <a:r>
              <a:rPr lang="en-ID" sz="2800" dirty="0" err="1"/>
              <a:t>konsep</a:t>
            </a:r>
            <a:r>
              <a:rPr lang="en-ID" sz="2800" dirty="0"/>
              <a:t> Input–Process–Output (IPO), hardware, software, dan </a:t>
            </a: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operasi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menganalisis</a:t>
            </a:r>
            <a:r>
              <a:rPr lang="en-ID" sz="2800" dirty="0"/>
              <a:t> </a:t>
            </a:r>
            <a:r>
              <a:rPr lang="en-ID" sz="2800" dirty="0" err="1"/>
              <a:t>gejala</a:t>
            </a:r>
            <a:r>
              <a:rPr lang="en-ID" sz="2800" dirty="0"/>
              <a:t> </a:t>
            </a:r>
            <a:r>
              <a:rPr lang="en-ID" sz="2800" dirty="0" err="1"/>
              <a:t>serta</a:t>
            </a:r>
            <a:r>
              <a:rPr lang="en-ID" sz="2800" dirty="0"/>
              <a:t> </a:t>
            </a:r>
            <a:r>
              <a:rPr lang="en-ID" sz="2800" dirty="0" err="1"/>
              <a:t>menentukan</a:t>
            </a:r>
            <a:r>
              <a:rPr lang="en-ID" sz="2800" dirty="0"/>
              <a:t> </a:t>
            </a:r>
            <a:r>
              <a:rPr lang="en-ID" sz="2800" dirty="0" err="1"/>
              <a:t>komponen</a:t>
            </a:r>
            <a:r>
              <a:rPr lang="en-ID" sz="2800" dirty="0"/>
              <a:t> yang </a:t>
            </a:r>
            <a:r>
              <a:rPr lang="en-ID" sz="2800" dirty="0" err="1"/>
              <a:t>berkaitan</a:t>
            </a:r>
            <a:r>
              <a:rPr lang="en-ID" sz="2800" dirty="0"/>
              <a:t> </a:t>
            </a:r>
            <a:r>
              <a:rPr lang="en-ID" sz="2800" dirty="0" err="1"/>
              <a:t>dengan</a:t>
            </a:r>
            <a:r>
              <a:rPr lang="en-ID" sz="2800" dirty="0"/>
              <a:t> </a:t>
            </a:r>
            <a:r>
              <a:rPr lang="en-ID" sz="2800" dirty="0" err="1"/>
              <a:t>permasalahan</a:t>
            </a:r>
            <a:r>
              <a:rPr lang="en-ID" sz="2800" dirty="0"/>
              <a:t> </a:t>
            </a:r>
            <a:r>
              <a:rPr lang="en-ID" sz="2800" dirty="0" err="1"/>
              <a:t>komputer</a:t>
            </a:r>
            <a:r>
              <a:rPr lang="en-ID" sz="2800" dirty="0"/>
              <a:t> </a:t>
            </a:r>
            <a:r>
              <a:rPr lang="en-ID" sz="2800" dirty="0" err="1"/>
              <a:t>secara</a:t>
            </a:r>
            <a:r>
              <a:rPr lang="en-ID" sz="2800" dirty="0"/>
              <a:t> </a:t>
            </a:r>
            <a:r>
              <a:rPr lang="en-ID" sz="2800" dirty="0" err="1"/>
              <a:t>tepat</a:t>
            </a:r>
            <a:r>
              <a:rPr lang="en-ID" sz="28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sz="2800" dirty="0"/>
              <a:t>Murid </a:t>
            </a:r>
            <a:r>
              <a:rPr lang="en-ID" sz="2800" dirty="0" err="1"/>
              <a:t>mampu</a:t>
            </a:r>
            <a:r>
              <a:rPr lang="en-ID" sz="2800" dirty="0"/>
              <a:t> </a:t>
            </a:r>
            <a:r>
              <a:rPr lang="en-ID" sz="2800" dirty="0" err="1"/>
              <a:t>menganalisis</a:t>
            </a:r>
            <a:r>
              <a:rPr lang="en-ID" sz="2800" dirty="0"/>
              <a:t> (C4)  </a:t>
            </a:r>
            <a:r>
              <a:rPr lang="en-ID" sz="2800" dirty="0" err="1"/>
              <a:t>informasi</a:t>
            </a:r>
            <a:r>
              <a:rPr lang="en-ID" sz="2800" dirty="0"/>
              <a:t> digital </a:t>
            </a:r>
            <a:r>
              <a:rPr lang="en-ID" sz="2800" dirty="0" err="1"/>
              <a:t>berdasarkan</a:t>
            </a:r>
            <a:r>
              <a:rPr lang="en-ID" sz="2800" dirty="0"/>
              <a:t> </a:t>
            </a:r>
            <a:r>
              <a:rPr lang="en-ID" sz="2800" dirty="0" err="1"/>
              <a:t>sumber</a:t>
            </a:r>
            <a:r>
              <a:rPr lang="en-ID" sz="2800" dirty="0"/>
              <a:t>, </a:t>
            </a:r>
            <a:r>
              <a:rPr lang="en-ID" sz="2800" dirty="0" err="1"/>
              <a:t>relevansi</a:t>
            </a:r>
            <a:r>
              <a:rPr lang="en-ID" sz="2800" dirty="0"/>
              <a:t>, </a:t>
            </a:r>
            <a:r>
              <a:rPr lang="en-ID" sz="2800" dirty="0" err="1"/>
              <a:t>bukti</a:t>
            </a:r>
            <a:r>
              <a:rPr lang="en-ID" sz="2800" dirty="0"/>
              <a:t>, dan </a:t>
            </a:r>
            <a:r>
              <a:rPr lang="en-ID" sz="2800" dirty="0" err="1"/>
              <a:t>kredibilitas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dirty="0" err="1"/>
              <a:t>menentukan</a:t>
            </a:r>
            <a:r>
              <a:rPr lang="en-ID" sz="2800" dirty="0"/>
              <a:t> </a:t>
            </a:r>
            <a:r>
              <a:rPr lang="en-ID" sz="2800" dirty="0" err="1"/>
              <a:t>kemungkinan</a:t>
            </a:r>
            <a:r>
              <a:rPr lang="en-ID" sz="2800" dirty="0"/>
              <a:t> </a:t>
            </a:r>
            <a:r>
              <a:rPr lang="en-ID" sz="2800" dirty="0" err="1"/>
              <a:t>penyebab</a:t>
            </a:r>
            <a:r>
              <a:rPr lang="en-ID" sz="2800" dirty="0"/>
              <a:t> </a:t>
            </a:r>
            <a:r>
              <a:rPr lang="en-ID" sz="2800" dirty="0" err="1"/>
              <a:t>permasalahan</a:t>
            </a:r>
            <a:r>
              <a:rPr lang="en-ID" sz="2800" dirty="0"/>
              <a:t> </a:t>
            </a:r>
            <a:r>
              <a:rPr lang="en-ID" sz="2800" dirty="0" err="1"/>
              <a:t>komputer</a:t>
            </a:r>
            <a:r>
              <a:rPr lang="en-ID" sz="2800" dirty="0"/>
              <a:t> </a:t>
            </a:r>
            <a:r>
              <a:rPr lang="en-ID" sz="2800" dirty="0" err="1"/>
              <a:t>secara</a:t>
            </a:r>
            <a:r>
              <a:rPr lang="en-ID" sz="2800" dirty="0"/>
              <a:t> </a:t>
            </a:r>
            <a:r>
              <a:rPr lang="en-ID" sz="2800" dirty="0" err="1"/>
              <a:t>logis</a:t>
            </a:r>
            <a:r>
              <a:rPr lang="en-ID" sz="2800" dirty="0"/>
              <a:t>.</a:t>
            </a:r>
          </a:p>
          <a:p>
            <a:r>
              <a:rPr lang="en-ID" sz="2800" dirty="0"/>
              <a:t> </a:t>
            </a:r>
          </a:p>
          <a:p>
            <a:r>
              <a:rPr lang="en-ID" sz="2800" dirty="0" err="1"/>
              <a:t>Psikomotor</a:t>
            </a:r>
            <a:r>
              <a:rPr lang="en-ID" sz="2800" dirty="0"/>
              <a:t>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sz="2800" dirty="0"/>
              <a:t>Murid </a:t>
            </a:r>
            <a:r>
              <a:rPr lang="en-ID" sz="2800" dirty="0" err="1"/>
              <a:t>mampu</a:t>
            </a:r>
            <a:r>
              <a:rPr lang="en-ID" sz="2800" dirty="0"/>
              <a:t> </a:t>
            </a:r>
            <a:r>
              <a:rPr lang="en-ID" sz="2800" dirty="0" err="1"/>
              <a:t>menyusun</a:t>
            </a:r>
            <a:r>
              <a:rPr lang="en-ID" sz="2800" dirty="0"/>
              <a:t> (P3) </a:t>
            </a:r>
            <a:r>
              <a:rPr lang="en-ID" sz="2800" dirty="0" err="1"/>
              <a:t>matriks</a:t>
            </a:r>
            <a:r>
              <a:rPr lang="en-ID" sz="2800" dirty="0"/>
              <a:t> </a:t>
            </a:r>
            <a:r>
              <a:rPr lang="en-ID" sz="2800" dirty="0" err="1"/>
              <a:t>analisis</a:t>
            </a:r>
            <a:r>
              <a:rPr lang="en-ID" sz="2800" dirty="0"/>
              <a:t> </a:t>
            </a:r>
            <a:r>
              <a:rPr lang="en-ID" sz="2800" dirty="0" err="1"/>
              <a:t>kasus</a:t>
            </a:r>
            <a:r>
              <a:rPr lang="en-ID" sz="2800" dirty="0"/>
              <a:t> yang </a:t>
            </a:r>
            <a:r>
              <a:rPr lang="en-ID" sz="2800" dirty="0" err="1"/>
              <a:t>memuat</a:t>
            </a:r>
            <a:r>
              <a:rPr lang="en-ID" sz="2800" dirty="0"/>
              <a:t> </a:t>
            </a:r>
            <a:r>
              <a:rPr lang="en-ID" sz="2800" dirty="0" err="1"/>
              <a:t>fakta</a:t>
            </a:r>
            <a:r>
              <a:rPr lang="en-ID" sz="2800" dirty="0"/>
              <a:t>, </a:t>
            </a:r>
            <a:r>
              <a:rPr lang="en-ID" sz="2800" dirty="0" err="1"/>
              <a:t>sumber</a:t>
            </a:r>
            <a:r>
              <a:rPr lang="en-ID" sz="2800" dirty="0"/>
              <a:t> </a:t>
            </a:r>
            <a:r>
              <a:rPr lang="en-ID" sz="2800" dirty="0" err="1"/>
              <a:t>informasi</a:t>
            </a:r>
            <a:r>
              <a:rPr lang="en-ID" sz="2800" dirty="0"/>
              <a:t>, </a:t>
            </a:r>
            <a:r>
              <a:rPr lang="en-ID" sz="2800" dirty="0" err="1"/>
              <a:t>bukti</a:t>
            </a:r>
            <a:r>
              <a:rPr lang="en-ID" sz="2800" dirty="0"/>
              <a:t>, </a:t>
            </a:r>
            <a:r>
              <a:rPr lang="en-ID" sz="2800" dirty="0" err="1"/>
              <a:t>hasil</a:t>
            </a:r>
            <a:r>
              <a:rPr lang="en-ID" sz="2800" dirty="0"/>
              <a:t> </a:t>
            </a:r>
            <a:r>
              <a:rPr lang="en-ID" sz="2800" dirty="0" err="1"/>
              <a:t>analisis</a:t>
            </a:r>
            <a:r>
              <a:rPr lang="en-ID" sz="2800" dirty="0"/>
              <a:t>, dan </a:t>
            </a:r>
            <a:r>
              <a:rPr lang="en-ID" sz="2800" dirty="0" err="1"/>
              <a:t>rekomendasi</a:t>
            </a:r>
            <a:r>
              <a:rPr lang="en-ID" sz="2800" dirty="0"/>
              <a:t> </a:t>
            </a:r>
            <a:r>
              <a:rPr lang="en-ID" sz="2800" dirty="0" err="1"/>
              <a:t>penyelesaian</a:t>
            </a:r>
            <a:r>
              <a:rPr lang="en-ID" sz="2800" dirty="0"/>
              <a:t> </a:t>
            </a:r>
            <a:r>
              <a:rPr lang="en-ID" sz="2800" dirty="0" err="1"/>
              <a:t>masalah</a:t>
            </a:r>
            <a:r>
              <a:rPr lang="en-ID" sz="2800" dirty="0"/>
              <a:t> </a:t>
            </a:r>
            <a:r>
              <a:rPr lang="en-ID" sz="2800" dirty="0" err="1"/>
              <a:t>secara</a:t>
            </a:r>
            <a:r>
              <a:rPr lang="en-ID" sz="2800" dirty="0"/>
              <a:t> </a:t>
            </a:r>
            <a:r>
              <a:rPr lang="en-ID" sz="2800" dirty="0" err="1"/>
              <a:t>sistematis</a:t>
            </a:r>
            <a:r>
              <a:rPr lang="en-ID" sz="28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sz="2800" dirty="0"/>
              <a:t>Murid </a:t>
            </a:r>
            <a:r>
              <a:rPr lang="en-ID" sz="2800" dirty="0" err="1"/>
              <a:t>mampu</a:t>
            </a:r>
            <a:r>
              <a:rPr lang="en-ID" sz="2800" dirty="0"/>
              <a:t> </a:t>
            </a:r>
            <a:r>
              <a:rPr lang="en-ID" sz="2800" dirty="0" err="1"/>
              <a:t>mempresentasikan</a:t>
            </a:r>
            <a:r>
              <a:rPr lang="en-ID" sz="2800" dirty="0"/>
              <a:t> (P4) </a:t>
            </a:r>
            <a:r>
              <a:rPr lang="en-ID" sz="2800" dirty="0" err="1"/>
              <a:t>hasil</a:t>
            </a:r>
            <a:r>
              <a:rPr lang="en-ID" sz="2800" dirty="0"/>
              <a:t> </a:t>
            </a:r>
            <a:r>
              <a:rPr lang="en-ID" sz="2800" dirty="0" err="1"/>
              <a:t>analisis</a:t>
            </a:r>
            <a:r>
              <a:rPr lang="en-ID" sz="2800" dirty="0"/>
              <a:t> </a:t>
            </a:r>
            <a:r>
              <a:rPr lang="en-ID" sz="2800" dirty="0" err="1"/>
              <a:t>kasus</a:t>
            </a:r>
            <a:r>
              <a:rPr lang="en-ID" sz="2800" dirty="0"/>
              <a:t> </a:t>
            </a:r>
            <a:r>
              <a:rPr lang="en-ID" sz="2800" dirty="0" err="1"/>
              <a:t>beserta</a:t>
            </a:r>
            <a:r>
              <a:rPr lang="en-ID" sz="2800" dirty="0"/>
              <a:t> </a:t>
            </a:r>
            <a:r>
              <a:rPr lang="en-ID" sz="2800" dirty="0" err="1"/>
              <a:t>rekomendasi</a:t>
            </a:r>
            <a:r>
              <a:rPr lang="en-ID" sz="2800" dirty="0"/>
              <a:t> </a:t>
            </a:r>
            <a:r>
              <a:rPr lang="en-ID" sz="2800" dirty="0" err="1"/>
              <a:t>penyelesaian</a:t>
            </a:r>
            <a:r>
              <a:rPr lang="en-ID" sz="2800" dirty="0"/>
              <a:t> </a:t>
            </a:r>
            <a:r>
              <a:rPr lang="en-ID" sz="2800" dirty="0" err="1"/>
              <a:t>masalah</a:t>
            </a:r>
            <a:r>
              <a:rPr lang="en-ID" sz="2800" dirty="0"/>
              <a:t> </a:t>
            </a:r>
            <a:r>
              <a:rPr lang="en-ID" sz="2800" dirty="0" err="1"/>
              <a:t>berdasarkan</a:t>
            </a:r>
            <a:r>
              <a:rPr lang="en-ID" sz="2800" dirty="0"/>
              <a:t> </a:t>
            </a:r>
            <a:r>
              <a:rPr lang="en-ID" sz="2800" dirty="0" err="1"/>
              <a:t>bukti</a:t>
            </a:r>
            <a:r>
              <a:rPr lang="en-ID" sz="2800" dirty="0"/>
              <a:t> yang </a:t>
            </a:r>
            <a:r>
              <a:rPr lang="en-ID" sz="2800" dirty="0" err="1"/>
              <a:t>diperoleh</a:t>
            </a:r>
            <a:r>
              <a:rPr lang="en-ID" sz="2800" dirty="0"/>
              <a:t> </a:t>
            </a:r>
            <a:r>
              <a:rPr lang="en-ID" sz="2800" dirty="0" err="1"/>
              <a:t>secara</a:t>
            </a:r>
            <a:r>
              <a:rPr lang="en-ID" sz="2800" dirty="0"/>
              <a:t> </a:t>
            </a:r>
            <a:r>
              <a:rPr lang="en-ID" sz="2800" dirty="0" err="1"/>
              <a:t>runtut</a:t>
            </a:r>
            <a:r>
              <a:rPr lang="en-ID" sz="2800" dirty="0"/>
              <a:t> dan </a:t>
            </a:r>
            <a:r>
              <a:rPr lang="en-ID" sz="2800" dirty="0" err="1"/>
              <a:t>dapat</a:t>
            </a:r>
            <a:r>
              <a:rPr lang="en-ID" sz="2800" dirty="0"/>
              <a:t> </a:t>
            </a:r>
            <a:r>
              <a:rPr lang="en-ID" sz="2800" dirty="0" err="1"/>
              <a:t>dipertanggungjawabkan</a:t>
            </a:r>
            <a:r>
              <a:rPr lang="en-ID" sz="2800" dirty="0"/>
              <a:t>.</a:t>
            </a:r>
          </a:p>
          <a:p>
            <a:r>
              <a:rPr lang="en-ID" sz="2800" dirty="0"/>
              <a:t> </a:t>
            </a:r>
          </a:p>
          <a:p>
            <a:r>
              <a:rPr lang="en-ID" sz="2800" dirty="0" err="1"/>
              <a:t>Afektif</a:t>
            </a:r>
            <a:r>
              <a:rPr lang="en-ID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D" sz="2800" dirty="0"/>
              <a:t>Murid </a:t>
            </a:r>
            <a:r>
              <a:rPr lang="en-ID" sz="2800" dirty="0" err="1"/>
              <a:t>mampu</a:t>
            </a:r>
            <a:r>
              <a:rPr lang="en-ID" sz="2800" dirty="0"/>
              <a:t> </a:t>
            </a:r>
            <a:r>
              <a:rPr lang="en-ID" sz="2800" dirty="0" err="1"/>
              <a:t>menunjukkan</a:t>
            </a:r>
            <a:r>
              <a:rPr lang="en-ID" sz="2800" dirty="0"/>
              <a:t> </a:t>
            </a:r>
            <a:r>
              <a:rPr lang="en-ID" sz="2800" dirty="0" err="1"/>
              <a:t>sikap</a:t>
            </a:r>
            <a:r>
              <a:rPr lang="en-ID" sz="2800" dirty="0"/>
              <a:t> </a:t>
            </a:r>
            <a:r>
              <a:rPr lang="en-ID" sz="2800" dirty="0" err="1"/>
              <a:t>teliti</a:t>
            </a:r>
            <a:r>
              <a:rPr lang="en-ID" sz="2800" dirty="0"/>
              <a:t>, </a:t>
            </a:r>
            <a:r>
              <a:rPr lang="en-ID" sz="2800" dirty="0" err="1"/>
              <a:t>bertanggung</a:t>
            </a:r>
            <a:r>
              <a:rPr lang="en-ID" sz="2800" dirty="0"/>
              <a:t> </a:t>
            </a:r>
            <a:r>
              <a:rPr lang="en-ID" sz="2800" dirty="0" err="1"/>
              <a:t>jawab</a:t>
            </a:r>
            <a:r>
              <a:rPr lang="en-ID" sz="2800" dirty="0"/>
              <a:t>, </a:t>
            </a:r>
            <a:r>
              <a:rPr lang="en-ID" sz="2800" dirty="0" err="1"/>
              <a:t>terbuka</a:t>
            </a:r>
            <a:r>
              <a:rPr lang="en-ID" sz="2800" dirty="0"/>
              <a:t> </a:t>
            </a:r>
            <a:r>
              <a:rPr lang="en-ID" sz="2800" dirty="0" err="1"/>
              <a:t>terhadap</a:t>
            </a:r>
            <a:r>
              <a:rPr lang="en-ID" sz="2800" dirty="0"/>
              <a:t> </a:t>
            </a:r>
            <a:r>
              <a:rPr lang="en-ID" sz="2800" dirty="0" err="1"/>
              <a:t>bukti</a:t>
            </a:r>
            <a:r>
              <a:rPr lang="en-ID" sz="2800" dirty="0"/>
              <a:t>, </a:t>
            </a:r>
            <a:r>
              <a:rPr lang="en-ID" sz="2800" dirty="0" err="1"/>
              <a:t>serta</a:t>
            </a:r>
            <a:r>
              <a:rPr lang="en-ID" sz="2800" dirty="0"/>
              <a:t> </a:t>
            </a:r>
            <a:r>
              <a:rPr lang="en-ID" sz="2800" dirty="0" err="1"/>
              <a:t>menghargai</a:t>
            </a:r>
            <a:r>
              <a:rPr lang="en-ID" sz="2800" dirty="0"/>
              <a:t> </a:t>
            </a:r>
            <a:r>
              <a:rPr lang="en-ID" sz="2800" dirty="0" err="1"/>
              <a:t>pendapat</a:t>
            </a:r>
            <a:r>
              <a:rPr lang="en-ID" sz="2800" dirty="0"/>
              <a:t> orang lain </a:t>
            </a:r>
            <a:r>
              <a:rPr lang="en-ID" sz="2800" dirty="0" err="1"/>
              <a:t>selama</a:t>
            </a:r>
            <a:r>
              <a:rPr lang="en-ID" sz="2800" dirty="0"/>
              <a:t> proses </a:t>
            </a:r>
            <a:r>
              <a:rPr lang="en-ID" sz="2800" dirty="0" err="1"/>
              <a:t>analisis</a:t>
            </a:r>
            <a:r>
              <a:rPr lang="en-ID" sz="2800" dirty="0"/>
              <a:t> dan </a:t>
            </a:r>
            <a:r>
              <a:rPr lang="en-ID" sz="2800" dirty="0" err="1"/>
              <a:t>diskusi</a:t>
            </a:r>
            <a:r>
              <a:rPr lang="en-ID" sz="2800" dirty="0"/>
              <a:t> </a:t>
            </a:r>
            <a:r>
              <a:rPr lang="en-ID" sz="2800" dirty="0" err="1"/>
              <a:t>kasus</a:t>
            </a:r>
            <a:r>
              <a:rPr lang="en-ID" sz="2800" dirty="0"/>
              <a:t>.</a:t>
            </a:r>
            <a:r>
              <a:rPr lang="en-ID" sz="3600" dirty="0"/>
              <a:t> </a:t>
            </a:r>
            <a:endParaRPr lang="en-US" sz="3600" dirty="0">
              <a:solidFill>
                <a:srgbClr val="10233F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44808DA-235B-A85F-D21E-8CF5876AD01A}"/>
              </a:ext>
            </a:extLst>
          </p:cNvPr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C7680BA-47F5-95EF-B1E3-51473AFFEEEC}"/>
              </a:ext>
            </a:extLst>
          </p:cNvPr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DB3F5C0-5DBC-564E-8381-E5247E65153B}"/>
              </a:ext>
            </a:extLst>
          </p:cNvPr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389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2944-15D2-4A0C-7DA9-85B04C35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338367-1EB9-481E-7844-1E406EB3CC31}"/>
              </a:ext>
            </a:extLst>
          </p:cNvPr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AE1D2385-08DF-C592-C933-7B6B977E2D98}"/>
                </a:ext>
              </a:extLst>
            </p:cNvPr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504B5F-1B2F-5F39-871E-38DD243725FE}"/>
                </a:ext>
              </a:extLst>
            </p:cNvPr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 dirty="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Tujuan </a:t>
              </a:r>
              <a:r>
                <a:rPr lang="en-US" sz="5100" dirty="0" err="1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Pembelajaran</a:t>
              </a:r>
              <a:endParaRPr lang="en-US" sz="5100" dirty="0">
                <a:solidFill>
                  <a:srgbClr val="10233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26" name="AutoShape 26">
            <a:extLst>
              <a:ext uri="{FF2B5EF4-FFF2-40B4-BE49-F238E27FC236}">
                <a16:creationId xmlns:a16="http://schemas.microsoft.com/office/drawing/2014/main" id="{87F35848-AF16-9CC0-B060-09DC1823E098}"/>
              </a:ext>
            </a:extLst>
          </p:cNvPr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F443BAF-09A5-36A9-9CB0-11D7B9715C1C}"/>
              </a:ext>
            </a:extLst>
          </p:cNvPr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059335F-66FE-543C-2F57-8624F57AC301}"/>
              </a:ext>
            </a:extLst>
          </p:cNvPr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A2A9AD2-B8C5-447E-909E-989A9B240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966576"/>
              </p:ext>
            </p:extLst>
          </p:nvPr>
        </p:nvGraphicFramePr>
        <p:xfrm>
          <a:off x="1524000" y="2034921"/>
          <a:ext cx="15049500" cy="691470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852672">
                  <a:extLst>
                    <a:ext uri="{9D8B030D-6E8A-4147-A177-3AD203B41FA5}">
                      <a16:colId xmlns:a16="http://schemas.microsoft.com/office/drawing/2014/main" val="3620342986"/>
                    </a:ext>
                  </a:extLst>
                </a:gridCol>
                <a:gridCol w="11196828">
                  <a:extLst>
                    <a:ext uri="{9D8B030D-6E8A-4147-A177-3AD203B41FA5}">
                      <a16:colId xmlns:a16="http://schemas.microsoft.com/office/drawing/2014/main" val="3325951562"/>
                    </a:ext>
                  </a:extLst>
                </a:gridCol>
              </a:tblGrid>
              <a:tr h="470312">
                <a:tc>
                  <a:txBody>
                    <a:bodyPr/>
                    <a:lstStyle/>
                    <a:p>
                      <a:pPr marL="72000" marR="109220" indent="8890" algn="just">
                        <a:lnSpc>
                          <a:spcPct val="95486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Komponen</a:t>
                      </a:r>
                      <a:endParaRPr lang="en-ID" sz="28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109220" indent="8890" algn="just">
                        <a:lnSpc>
                          <a:spcPct val="95486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>
                          <a:solidFill>
                            <a:sysClr val="windowText" lastClr="000000"/>
                          </a:solidFill>
                          <a:effectLst/>
                        </a:rPr>
                        <a:t>Deskripsi</a:t>
                      </a:r>
                      <a:endParaRPr lang="en-ID" sz="28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277062"/>
                  </a:ext>
                </a:extLst>
              </a:tr>
              <a:tr h="1570431">
                <a:tc>
                  <a:txBody>
                    <a:bodyPr/>
                    <a:lstStyle/>
                    <a:p>
                      <a:pPr marL="72000" marR="109220" indent="8890" algn="just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Pengaturan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Murid</a:t>
                      </a:r>
                      <a:endParaRPr lang="en-ID" sz="28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109220" indent="8890" algn="just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Murid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belajar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dalam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kelompok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heterogen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yang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terdiri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atas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4–5 orang.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Setiap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anggota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kelompok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memperoleh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peran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secara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bergiliran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sebagai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fasilitator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diskusi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pencatat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hasil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analisis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pemeriksa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sumber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informasi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dan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penyaji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hasil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diskusi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.</a:t>
                      </a:r>
                      <a:endParaRPr lang="en-ID" sz="28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82968"/>
                  </a:ext>
                </a:extLst>
              </a:tr>
              <a:tr h="470312">
                <a:tc>
                  <a:txBody>
                    <a:bodyPr/>
                    <a:lstStyle/>
                    <a:p>
                      <a:pPr marL="72000" marR="109220" indent="8890" algn="just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>
                          <a:solidFill>
                            <a:sysClr val="windowText" lastClr="000000"/>
                          </a:solidFill>
                          <a:effectLst/>
                        </a:rPr>
                        <a:t>Model Pembelajaran</a:t>
                      </a:r>
                      <a:endParaRPr lang="en-ID" sz="28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109220" indent="8890" algn="just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Case-Based Learning (CBL).</a:t>
                      </a:r>
                      <a:endParaRPr lang="en-ID" sz="28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4845"/>
                  </a:ext>
                </a:extLst>
              </a:tr>
              <a:tr h="785216">
                <a:tc>
                  <a:txBody>
                    <a:bodyPr/>
                    <a:lstStyle/>
                    <a:p>
                      <a:pPr marL="72000" marR="109220" indent="8890" algn="just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>
                          <a:solidFill>
                            <a:sysClr val="windowText" lastClr="000000"/>
                          </a:solidFill>
                          <a:effectLst/>
                        </a:rPr>
                        <a:t>Pendekatan Pembelajaran</a:t>
                      </a:r>
                      <a:endParaRPr lang="en-ID" sz="28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109220" indent="8890" algn="just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Pembelajaran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Mendalam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(Deep Learning) yang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berpusat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pada murid,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kontekstual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serta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berorientasi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pada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pemecahan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masalah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nyata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.</a:t>
                      </a:r>
                      <a:endParaRPr lang="en-ID" sz="28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75713"/>
                  </a:ext>
                </a:extLst>
              </a:tr>
              <a:tr h="785216">
                <a:tc>
                  <a:txBody>
                    <a:bodyPr/>
                    <a:lstStyle/>
                    <a:p>
                      <a:pPr marL="72000" marR="36195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>
                          <a:solidFill>
                            <a:sysClr val="windowText" lastClr="000000"/>
                          </a:solidFill>
                          <a:effectLst/>
                        </a:rPr>
                        <a:t>Metode Pembelajaran</a:t>
                      </a:r>
                      <a:endParaRPr lang="en-ID" sz="28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36195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Diskusi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kelompok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tanya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jawab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analisis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informasi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digital,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presentasi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refleksi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dan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pemberian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umpan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balik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.</a:t>
                      </a:r>
                      <a:endParaRPr lang="en-ID" sz="28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00252"/>
                  </a:ext>
                </a:extLst>
              </a:tr>
              <a:tr h="2355647">
                <a:tc>
                  <a:txBody>
                    <a:bodyPr/>
                    <a:lstStyle/>
                    <a:p>
                      <a:pPr marL="72000" marR="36195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>
                          <a:solidFill>
                            <a:sysClr val="windowText" lastClr="000000"/>
                          </a:solidFill>
                          <a:effectLst/>
                        </a:rPr>
                        <a:t>Strategi Pedagogis</a:t>
                      </a:r>
                      <a:endParaRPr lang="en-ID" sz="28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36195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Guru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berperan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sebagai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fasilitator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dengan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memberikan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scaffolding,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pertanyaan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penuntun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(guiding questions),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umpan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balik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formatif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serta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memfasilitasi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murid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mengevaluasi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berbagai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sumber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informasi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digital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sebelum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mengambil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keputusan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. Guru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tidak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memberikan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solusi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secara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langsung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tetapi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membimbing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murid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membangun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pemahaman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melalui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proses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analisis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bukti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diskusi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kolaboratif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presentasi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, dan </a:t>
                      </a:r>
                      <a:r>
                        <a:rPr lang="en-ID" sz="2800" spc="-1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refleksi</a:t>
                      </a:r>
                      <a:r>
                        <a:rPr lang="en-ID" sz="2800" spc="-10" dirty="0">
                          <a:solidFill>
                            <a:sysClr val="windowText" lastClr="000000"/>
                          </a:solidFill>
                          <a:effectLst/>
                        </a:rPr>
                        <a:t>.</a:t>
                      </a:r>
                      <a:endParaRPr lang="en-ID" sz="28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1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43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24800" y="0"/>
            <a:ext cx="10363200" cy="10287000"/>
          </a:xfrm>
          <a:custGeom>
            <a:avLst/>
            <a:gdLst/>
            <a:ahLst/>
            <a:cxnLst/>
            <a:rect l="l" t="t" r="r" b="b"/>
            <a:pathLst>
              <a:path w="10363200" h="10287000">
                <a:moveTo>
                  <a:pt x="0" y="0"/>
                </a:moveTo>
                <a:lnTo>
                  <a:pt x="10363200" y="0"/>
                </a:lnTo>
                <a:lnTo>
                  <a:pt x="103632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383" r="-3376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924800" y="0"/>
            <a:ext cx="10363200" cy="10287000"/>
            <a:chOff x="0" y="0"/>
            <a:chExt cx="138176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7600" cy="13716000"/>
            </a:xfrm>
            <a:custGeom>
              <a:avLst/>
              <a:gdLst/>
              <a:ahLst/>
              <a:cxnLst/>
              <a:rect l="l" t="t" r="r" b="b"/>
              <a:pathLst>
                <a:path w="13817600" h="13716000">
                  <a:moveTo>
                    <a:pt x="0" y="0"/>
                  </a:moveTo>
                  <a:lnTo>
                    <a:pt x="13817600" y="0"/>
                  </a:lnTo>
                  <a:lnTo>
                    <a:pt x="13817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A33">
                <a:alpha val="29804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8176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75079" y="849858"/>
            <a:ext cx="3810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32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PEMANTIK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5079" y="1659483"/>
            <a:ext cx="6858000" cy="228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58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Mengapa</a:t>
            </a:r>
          </a:p>
          <a:p>
            <a:pPr algn="l">
              <a:lnSpc>
                <a:spcPts val="5967"/>
              </a:lnSpc>
            </a:pPr>
            <a:r>
              <a:rPr lang="en-US" sz="58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Komputer Bisa</a:t>
            </a:r>
          </a:p>
          <a:p>
            <a:pPr algn="l">
              <a:lnSpc>
                <a:spcPts val="5967"/>
              </a:lnSpc>
            </a:pPr>
            <a:r>
              <a:rPr lang="en-US" sz="58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Menjadi Lambat?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5079" y="6345783"/>
            <a:ext cx="5905500" cy="54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725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CHROME  →  WORD  →  POWERPOINT  →  PAINT  →  FILE EXPLORER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5079" y="7993608"/>
            <a:ext cx="285750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>
                <a:solidFill>
                  <a:srgbClr val="FF7A2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LAMBAT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123C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Apa itu Sistem Komputer?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8750" y="3429000"/>
            <a:ext cx="4762500" cy="2381250"/>
            <a:chOff x="0" y="0"/>
            <a:chExt cx="6350000" cy="3175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350000" cy="3175000"/>
              <a:chOff x="0" y="0"/>
              <a:chExt cx="6350000" cy="3175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175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350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33400" y="927100"/>
              <a:ext cx="546100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3400" y="1876425"/>
              <a:ext cx="54610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Perangkat fisik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334125" y="4619625"/>
            <a:ext cx="476250" cy="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6953250" y="3429000"/>
            <a:ext cx="4762500" cy="2381250"/>
            <a:chOff x="0" y="0"/>
            <a:chExt cx="6350000" cy="3175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350000" cy="3175000"/>
              <a:chOff x="0" y="0"/>
              <a:chExt cx="6350000" cy="3175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175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350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33400" y="927100"/>
              <a:ext cx="546100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3400" y="1876425"/>
              <a:ext cx="54610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Program &amp; aplikasi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1858625" y="4619625"/>
            <a:ext cx="476250" cy="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2477750" y="3429000"/>
            <a:ext cx="4762500" cy="2381250"/>
            <a:chOff x="0" y="0"/>
            <a:chExt cx="6350000" cy="3175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6350000" cy="3175000"/>
              <a:chOff x="0" y="0"/>
              <a:chExt cx="6350000" cy="3175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175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F9D7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350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33400" y="927100"/>
              <a:ext cx="546100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BRAINWARE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400" y="1876425"/>
              <a:ext cx="54610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Pengguna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095750" y="7010400"/>
            <a:ext cx="10096500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400">
                <a:solidFill>
                  <a:srgbClr val="10233F"/>
                </a:solidFill>
                <a:latin typeface="Clear Sans"/>
                <a:ea typeface="Clear Sans"/>
                <a:cs typeface="Clear Sans"/>
                <a:sym typeface="Clear Sans"/>
              </a:rPr>
              <a:t>Ketiga komponen bekerja bersama membentuk sistem komputer.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Konsep IPO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8750" y="3333750"/>
            <a:ext cx="4953000" cy="2762250"/>
            <a:chOff x="0" y="0"/>
            <a:chExt cx="6604000" cy="3683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604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68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6604000" cy="127000"/>
              <a:chOff x="0" y="0"/>
              <a:chExt cx="6604000" cy="12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60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2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604000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44500" y="819150"/>
              <a:ext cx="5715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6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INPUT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4500" y="2130425"/>
              <a:ext cx="57150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5F6F8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Keyboard • Mouse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477000" y="4714875"/>
            <a:ext cx="428625" cy="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7048500" y="3333750"/>
            <a:ext cx="4953000" cy="2762250"/>
            <a:chOff x="0" y="0"/>
            <a:chExt cx="6604000" cy="368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04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68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6604000" cy="127000"/>
              <a:chOff x="0" y="0"/>
              <a:chExt cx="6604000" cy="127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60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2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604000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44500" y="819150"/>
              <a:ext cx="5715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6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PROCESS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4500" y="2130425"/>
              <a:ext cx="57150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CPU • RAM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2096750" y="4714875"/>
            <a:ext cx="428625" cy="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2668250" y="3333750"/>
            <a:ext cx="4953000" cy="2762250"/>
            <a:chOff x="0" y="0"/>
            <a:chExt cx="6604000" cy="3683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604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68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0"/>
              <a:ext cx="6604000" cy="127000"/>
              <a:chOff x="0" y="0"/>
              <a:chExt cx="6604000" cy="127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60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2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27000"/>
                    </a:lnTo>
                    <a:lnTo>
                      <a:pt x="0" y="127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604000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444500" y="819150"/>
              <a:ext cx="5715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6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OUTPUT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4500" y="2130425"/>
              <a:ext cx="5715000" cy="450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5F6F82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Monitor • Printer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 Komputer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6800" y="3048000"/>
            <a:ext cx="5238750" cy="4286250"/>
            <a:chOff x="0" y="0"/>
            <a:chExt cx="6985000" cy="5715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985000" cy="5715000"/>
              <a:chOff x="0" y="0"/>
              <a:chExt cx="6985000" cy="5715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985000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571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985000" cy="575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461000" y="381000"/>
              <a:ext cx="1016000" cy="1016000"/>
              <a:chOff x="0" y="0"/>
              <a:chExt cx="1016000" cy="101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16000" cy="101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" h="1016000">
                    <a:moveTo>
                      <a:pt x="0" y="0"/>
                    </a:moveTo>
                    <a:lnTo>
                      <a:pt x="1016000" y="0"/>
                    </a:lnTo>
                    <a:lnTo>
                      <a:pt x="1016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08000" y="533400"/>
              <a:ext cx="6096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INPUT DEVICE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000" y="1438275"/>
              <a:ext cx="6096000" cy="2112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Keyboard</a:t>
              </a:r>
            </a:p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Mouse</a:t>
              </a:r>
            </a:p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Scanner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81800" y="3048000"/>
            <a:ext cx="5238750" cy="4286250"/>
            <a:chOff x="0" y="0"/>
            <a:chExt cx="6985000" cy="5715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985000" cy="5715000"/>
              <a:chOff x="0" y="0"/>
              <a:chExt cx="6985000" cy="5715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985000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571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6985000" cy="575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461000" y="381000"/>
              <a:ext cx="1016000" cy="1016000"/>
              <a:chOff x="0" y="0"/>
              <a:chExt cx="1016000" cy="1016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16000" cy="101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" h="1016000">
                    <a:moveTo>
                      <a:pt x="0" y="0"/>
                    </a:moveTo>
                    <a:lnTo>
                      <a:pt x="1016000" y="0"/>
                    </a:lnTo>
                    <a:lnTo>
                      <a:pt x="1016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08000" y="533400"/>
              <a:ext cx="6096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PROCESSING DEVICE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8000" y="1438275"/>
              <a:ext cx="6096000" cy="2112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CPU</a:t>
              </a:r>
            </a:p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RAM</a:t>
              </a:r>
            </a:p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HDD / SSD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96800" y="3048000"/>
            <a:ext cx="5238750" cy="4286250"/>
            <a:chOff x="0" y="0"/>
            <a:chExt cx="6985000" cy="5715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985000" cy="5715000"/>
              <a:chOff x="0" y="0"/>
              <a:chExt cx="6985000" cy="5715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985000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571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985000" cy="575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461000" y="381000"/>
              <a:ext cx="1016000" cy="1016000"/>
              <a:chOff x="0" y="0"/>
              <a:chExt cx="1016000" cy="1016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016000" cy="101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" h="1016000">
                    <a:moveTo>
                      <a:pt x="0" y="0"/>
                    </a:moveTo>
                    <a:lnTo>
                      <a:pt x="1016000" y="0"/>
                    </a:lnTo>
                    <a:lnTo>
                      <a:pt x="1016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016000" cy="105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508000" y="533400"/>
              <a:ext cx="6096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OUTPUT DEVICE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000" y="1438275"/>
              <a:ext cx="6096000" cy="2112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Monitor</a:t>
              </a:r>
            </a:p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Printer</a:t>
              </a:r>
            </a:p>
            <a:p>
              <a:pPr algn="l">
                <a:lnSpc>
                  <a:spcPts val="4275"/>
                </a:lnSpc>
              </a:pPr>
              <a:r>
                <a:rPr lang="en-US" sz="28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Speaker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 Komputer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8250" y="3048000"/>
            <a:ext cx="7239000" cy="4762500"/>
            <a:chOff x="0" y="0"/>
            <a:chExt cx="9652000" cy="6350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652000" cy="6350000"/>
              <a:chOff x="0" y="0"/>
              <a:chExt cx="9652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652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6350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652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127000" cy="6350000"/>
              <a:chOff x="0" y="0"/>
              <a:chExt cx="127000" cy="635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7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27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62000" y="596900"/>
              <a:ext cx="825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SYSTEM SOFTWARE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0" y="1609725"/>
              <a:ext cx="8255000" cy="1819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en-US" sz="37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Windows</a:t>
              </a:r>
            </a:p>
            <a:p>
              <a:pPr algn="l">
                <a:lnSpc>
                  <a:spcPts val="5625"/>
                </a:lnSpc>
              </a:pPr>
              <a:r>
                <a:rPr lang="en-US" sz="37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Linux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15500" y="3048000"/>
            <a:ext cx="7239000" cy="4762500"/>
            <a:chOff x="0" y="0"/>
            <a:chExt cx="9652000" cy="6350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9652000" cy="6350000"/>
              <a:chOff x="0" y="0"/>
              <a:chExt cx="9652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652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6350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9652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7000" cy="6350000"/>
              <a:chOff x="0" y="0"/>
              <a:chExt cx="127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7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27000" cy="638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762000" y="596900"/>
              <a:ext cx="825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APPLICATION SOFTWARE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0" y="1647825"/>
              <a:ext cx="8255000" cy="2279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Microsoft Word</a:t>
              </a:r>
            </a:p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Chrome</a:t>
              </a:r>
            </a:p>
            <a:p>
              <a:pPr algn="l">
                <a:lnSpc>
                  <a:spcPts val="4620"/>
                </a:lnSpc>
              </a:pPr>
              <a:r>
                <a:rPr lang="en-US" sz="33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Paint • PowerPoint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123C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Apa yang Dilakukan Sistem Operasi?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81875" y="3476625"/>
            <a:ext cx="3524250" cy="2381250"/>
            <a:chOff x="0" y="0"/>
            <a:chExt cx="4699000" cy="3175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699000" cy="3175000"/>
              <a:chOff x="0" y="0"/>
              <a:chExt cx="4699000" cy="3175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699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3175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699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1022350"/>
              <a:ext cx="4699000" cy="139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50"/>
                </a:lnSpc>
              </a:pPr>
              <a:r>
                <a:rPr lang="en-US" sz="75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667250" y="8439151"/>
            <a:ext cx="8763000" cy="31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>
                <a:solidFill>
                  <a:srgbClr val="5F6F82"/>
                </a:solidFill>
                <a:latin typeface="Clear Sans"/>
                <a:ea typeface="Clear Sans"/>
                <a:cs typeface="Clear Sans"/>
                <a:sym typeface="Clear Sans"/>
              </a:rPr>
              <a:t>Sistem operasi mengatur sumber daya komputer agar bekerja terkoordinasi.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20206" y="3737108"/>
            <a:ext cx="2857500" cy="857250"/>
            <a:chOff x="0" y="0"/>
            <a:chExt cx="3810000" cy="1143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810000" cy="1143000"/>
              <a:chOff x="0" y="0"/>
              <a:chExt cx="3810000" cy="1143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810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143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C1FF7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8100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317500"/>
              <a:ext cx="381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144">
                  <a:solidFill>
                    <a:srgbClr val="10233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CPU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H="1" flipV="1">
            <a:off x="4377706" y="4165733"/>
            <a:ext cx="3024398" cy="58070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135874" y="6307042"/>
            <a:ext cx="2857500" cy="857250"/>
            <a:chOff x="0" y="0"/>
            <a:chExt cx="3810000" cy="1143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3810000" cy="1143000"/>
              <a:chOff x="0" y="0"/>
              <a:chExt cx="3810000" cy="1143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810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143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C1FF7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38100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317500"/>
              <a:ext cx="381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144">
                  <a:solidFill>
                    <a:srgbClr val="10233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RAM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H="1">
            <a:off x="4993374" y="5419584"/>
            <a:ext cx="2388501" cy="1316084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7715250" y="7066928"/>
            <a:ext cx="2857500" cy="857250"/>
            <a:chOff x="0" y="0"/>
            <a:chExt cx="3810000" cy="1143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3810000" cy="1143000"/>
              <a:chOff x="0" y="0"/>
              <a:chExt cx="3810000" cy="1143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810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143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C1FF7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38100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317500"/>
              <a:ext cx="381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144">
                  <a:solidFill>
                    <a:srgbClr val="10233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STORAGE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9144000" y="5857875"/>
            <a:ext cx="0" cy="1209053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12799895" y="6491288"/>
            <a:ext cx="2857500" cy="857250"/>
            <a:chOff x="0" y="0"/>
            <a:chExt cx="3810000" cy="1143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810000" cy="1143000"/>
              <a:chOff x="0" y="0"/>
              <a:chExt cx="3810000" cy="1143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810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143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C1FF7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38100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317500"/>
              <a:ext cx="381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144">
                  <a:solidFill>
                    <a:srgbClr val="10233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APLIKASI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0906125" y="5450291"/>
            <a:ext cx="3291813" cy="111414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3811250" y="3703987"/>
            <a:ext cx="2857500" cy="857250"/>
            <a:chOff x="0" y="0"/>
            <a:chExt cx="3810000" cy="11430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3810000" cy="1143000"/>
              <a:chOff x="0" y="0"/>
              <a:chExt cx="3810000" cy="1143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810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1143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C1FF72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3810000" cy="118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0" y="317500"/>
              <a:ext cx="3810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144">
                  <a:solidFill>
                    <a:srgbClr val="10233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PERANGKAT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 flipV="1">
            <a:off x="10906125" y="4132612"/>
            <a:ext cx="2905125" cy="457869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154049"/>
            <a:chOff x="0" y="0"/>
            <a:chExt cx="19050000" cy="1538732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865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43"/>
                </a:lnSpc>
              </a:pPr>
              <a:r>
                <a:rPr lang="en-US" sz="465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Bagaimana Mengetahui Kondisi Komputer?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2095500" y="2857500"/>
            <a:ext cx="14097000" cy="5715000"/>
          </a:xfrm>
          <a:custGeom>
            <a:avLst/>
            <a:gdLst/>
            <a:ahLst/>
            <a:cxnLst/>
            <a:rect l="l" t="t" r="r" b="b"/>
            <a:pathLst>
              <a:path w="14097000" h="5715000">
                <a:moveTo>
                  <a:pt x="0" y="0"/>
                </a:moveTo>
                <a:lnTo>
                  <a:pt x="14097000" y="0"/>
                </a:lnTo>
                <a:lnTo>
                  <a:pt x="14097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00" b="-202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476875" y="8001000"/>
            <a:ext cx="7334250" cy="666750"/>
            <a:chOff x="0" y="0"/>
            <a:chExt cx="9779000" cy="889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779000" cy="889000"/>
              <a:chOff x="0" y="0"/>
              <a:chExt cx="9779000" cy="889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779000" cy="889000"/>
              </a:xfrm>
              <a:custGeom>
                <a:avLst/>
                <a:gdLst/>
                <a:ahLst/>
                <a:cxnLst/>
                <a:rect l="l" t="t" r="r" b="b"/>
                <a:pathLst>
                  <a:path w="9779000" h="889000">
                    <a:moveTo>
                      <a:pt x="0" y="0"/>
                    </a:moveTo>
                    <a:lnTo>
                      <a:pt x="9779000" y="0"/>
                    </a:lnTo>
                    <a:lnTo>
                      <a:pt x="9779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9779000" cy="92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17500" y="215900"/>
              <a:ext cx="9144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1" spc="132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AMATI: CPU • RAM • DISK • GPU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Melihat Spesifikasi Komputer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9750" y="3238500"/>
            <a:ext cx="3810000" cy="1428750"/>
            <a:chOff x="0" y="0"/>
            <a:chExt cx="5080000" cy="1905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080000" cy="1905000"/>
              <a:chOff x="0" y="0"/>
              <a:chExt cx="5080000" cy="1905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080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05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5080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673100"/>
              <a:ext cx="5080000" cy="529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92"/>
                </a:lnSpc>
              </a:pPr>
              <a:r>
                <a:rPr lang="en-US" sz="28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SETTINGS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5762625" y="3952875"/>
            <a:ext cx="952500" cy="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858000" y="3238500"/>
            <a:ext cx="3810000" cy="1428750"/>
            <a:chOff x="0" y="0"/>
            <a:chExt cx="5080000" cy="1905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080000" cy="1905000"/>
              <a:chOff x="0" y="0"/>
              <a:chExt cx="5080000" cy="1905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080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05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080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673100"/>
              <a:ext cx="5080000" cy="529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92"/>
                </a:lnSpc>
              </a:pPr>
              <a:r>
                <a:rPr lang="en-US" sz="28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SYSTEM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10810875" y="3952875"/>
            <a:ext cx="952500" cy="0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1906250" y="3238500"/>
            <a:ext cx="3810000" cy="1428750"/>
            <a:chOff x="0" y="0"/>
            <a:chExt cx="5080000" cy="1905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080000" cy="1905000"/>
              <a:chOff x="0" y="0"/>
              <a:chExt cx="5080000" cy="1905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080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1905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5080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673100"/>
              <a:ext cx="5080000" cy="529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92"/>
                </a:lnSpc>
              </a:pPr>
              <a:r>
                <a:rPr lang="en-US" sz="28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ABOUT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333750" y="5753100"/>
            <a:ext cx="116205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>
                <a:solidFill>
                  <a:srgbClr val="10233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Alternatif cepat: ketik msinfo32 di Search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33750" y="6972300"/>
            <a:ext cx="11620500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 spc="156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CPU   •   RAM   •   STORAGE   •   VERSI WINDOWS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A33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7" name="TextBox 7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STUDI KASUS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Kasus Komputer Laboratorium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8750" y="4333875"/>
            <a:ext cx="15430500" cy="77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9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KOMPUTER SEKOLAH  →  CHROME (20 TAB)  →  WORD  →  POWERPOINT  →  PAINT  →  FILE EXPLORER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34000" y="6848475"/>
            <a:ext cx="7620000" cy="64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6"/>
              </a:lnSpc>
            </a:pPr>
            <a:r>
              <a:rPr lang="en-US" sz="4800">
                <a:solidFill>
                  <a:srgbClr val="FF7A2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AKHIRNYA: LAMBAT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123C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Apakah Penyebabnya?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7239000" y="2714625"/>
            <a:ext cx="9906000" cy="5572125"/>
          </a:xfrm>
          <a:custGeom>
            <a:avLst/>
            <a:gdLst/>
            <a:ahLst/>
            <a:cxnLst/>
            <a:rect l="l" t="t" r="r" b="b"/>
            <a:pathLst>
              <a:path w="9906000" h="5572125">
                <a:moveTo>
                  <a:pt x="0" y="0"/>
                </a:moveTo>
                <a:lnTo>
                  <a:pt x="9906000" y="0"/>
                </a:lnTo>
                <a:lnTo>
                  <a:pt x="990600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28750" y="2857500"/>
            <a:ext cx="4857750" cy="886206"/>
            <a:chOff x="0" y="0"/>
            <a:chExt cx="6477000" cy="1181608"/>
          </a:xfrm>
        </p:grpSpPr>
        <p:sp>
          <p:nvSpPr>
            <p:cNvPr id="7" name="TextBox 7"/>
            <p:cNvSpPr txBox="1"/>
            <p:nvPr/>
          </p:nvSpPr>
          <p:spPr>
            <a:xfrm>
              <a:off x="0" y="104775"/>
              <a:ext cx="4826000" cy="1076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67"/>
                </a:lnSpc>
              </a:pPr>
              <a:r>
                <a:rPr lang="en-US" sz="5850">
                  <a:solidFill>
                    <a:srgbClr val="FF7A2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95%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64000" y="342900"/>
              <a:ext cx="241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5F6F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RAM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8750" y="4238625"/>
            <a:ext cx="4857750" cy="554355"/>
            <a:chOff x="0" y="0"/>
            <a:chExt cx="6477000" cy="73914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6675"/>
              <a:ext cx="4826000" cy="6526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2"/>
                </a:lnSpc>
              </a:pPr>
              <a:r>
                <a:rPr lang="en-US" sz="3600">
                  <a:solidFill>
                    <a:srgbClr val="123C6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30%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4000" y="342900"/>
              <a:ext cx="241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5F6F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CPU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28750" y="5619750"/>
            <a:ext cx="4857750" cy="554355"/>
            <a:chOff x="0" y="0"/>
            <a:chExt cx="6477000" cy="73914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66675"/>
              <a:ext cx="4826000" cy="6526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2"/>
                </a:lnSpc>
              </a:pPr>
              <a:r>
                <a:rPr lang="en-US" sz="3600">
                  <a:solidFill>
                    <a:srgbClr val="123C6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15%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4000" y="342900"/>
              <a:ext cx="241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5F6F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DISK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8750" y="7000875"/>
            <a:ext cx="4857750" cy="554355"/>
            <a:chOff x="0" y="0"/>
            <a:chExt cx="6477000" cy="73914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66675"/>
              <a:ext cx="4826000" cy="6526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2"/>
                </a:lnSpc>
              </a:pPr>
              <a:r>
                <a:rPr lang="en-US" sz="3600">
                  <a:solidFill>
                    <a:srgbClr val="123C6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64000" y="342900"/>
              <a:ext cx="2413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144">
                  <a:solidFill>
                    <a:srgbClr val="5F6F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GPU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Jangan Langsung Percaya Internet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3000" y="2762250"/>
            <a:ext cx="7239000" cy="4953000"/>
            <a:chOff x="0" y="0"/>
            <a:chExt cx="9652000" cy="6604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9652000" cy="6604000"/>
              <a:chOff x="0" y="0"/>
              <a:chExt cx="9652000" cy="6604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652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6604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652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9652000" cy="152400"/>
              <a:chOff x="0" y="0"/>
              <a:chExt cx="9652000" cy="152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652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1524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1F9D7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652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62000" y="596900"/>
              <a:ext cx="825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1F9D7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SUMBER TERPERCAYA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0" y="1565275"/>
              <a:ext cx="8255000" cy="2040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2"/>
                </a:lnSpc>
              </a:pPr>
              <a:r>
                <a:rPr lang="en-US" sz="2775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Microsoft Support</a:t>
              </a:r>
            </a:p>
            <a:p>
              <a:pPr algn="l">
                <a:lnSpc>
                  <a:spcPts val="4162"/>
                </a:lnSpc>
              </a:pPr>
              <a:r>
                <a:rPr lang="en-US" sz="2775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Dokumentasi Windows</a:t>
              </a:r>
            </a:p>
            <a:p>
              <a:pPr algn="l">
                <a:lnSpc>
                  <a:spcPts val="4162"/>
                </a:lnSpc>
              </a:pPr>
              <a:r>
                <a:rPr lang="en-US" sz="2775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Buku pelajaran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15500" y="2762250"/>
            <a:ext cx="7239000" cy="4953000"/>
            <a:chOff x="0" y="0"/>
            <a:chExt cx="9652000" cy="6604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9652000" cy="6604000"/>
              <a:chOff x="0" y="0"/>
              <a:chExt cx="9652000" cy="660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652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6604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9652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9652000" cy="152400"/>
              <a:chOff x="0" y="0"/>
              <a:chExt cx="9652000" cy="152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652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1524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F7A2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9652000" cy="19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762000" y="596900"/>
              <a:ext cx="825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PERLU DIWASPADAI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0" y="1565275"/>
              <a:ext cx="8255000" cy="2040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2"/>
                </a:lnSpc>
              </a:pPr>
              <a:r>
                <a:rPr lang="en-US" sz="2775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Forum</a:t>
              </a:r>
            </a:p>
            <a:p>
              <a:pPr algn="l">
                <a:lnSpc>
                  <a:spcPts val="4162"/>
                </a:lnSpc>
              </a:pPr>
              <a:r>
                <a:rPr lang="en-US" sz="2775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Blog &amp; YouTube</a:t>
              </a:r>
            </a:p>
            <a:p>
              <a:pPr algn="l">
                <a:lnSpc>
                  <a:spcPts val="4162"/>
                </a:lnSpc>
              </a:pPr>
              <a:r>
                <a:rPr lang="en-US" sz="2775">
                  <a:solidFill>
                    <a:srgbClr val="10233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Iklan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E7ED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5F6F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684" r="-4868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572500" y="0"/>
            <a:ext cx="9715500" cy="10287000"/>
            <a:chOff x="0" y="0"/>
            <a:chExt cx="1295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54000" cy="13716000"/>
            </a:xfrm>
            <a:custGeom>
              <a:avLst/>
              <a:gdLst/>
              <a:ahLst/>
              <a:cxnLst/>
              <a:rect l="l" t="t" r="r" b="b"/>
              <a:pathLst>
                <a:path w="12954000" h="13716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A33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66800" y="552450"/>
            <a:ext cx="14248987" cy="3184554"/>
            <a:chOff x="0" y="0"/>
            <a:chExt cx="18998649" cy="4246071"/>
          </a:xfrm>
        </p:grpSpPr>
        <p:sp>
          <p:nvSpPr>
            <p:cNvPr id="7" name="TextBox 7"/>
            <p:cNvSpPr txBox="1"/>
            <p:nvPr/>
          </p:nvSpPr>
          <p:spPr>
            <a:xfrm>
              <a:off x="0" y="-38100"/>
              <a:ext cx="11399189" cy="362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3"/>
                </a:lnSpc>
              </a:pPr>
              <a:r>
                <a:rPr lang="en-US" sz="1645" b="1" spc="131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CASE-BASED LEARNING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81016"/>
              <a:ext cx="18998649" cy="35650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87"/>
                </a:lnSpc>
              </a:pPr>
              <a:endParaRPr/>
            </a:p>
            <a:p>
              <a:pPr algn="l">
                <a:lnSpc>
                  <a:spcPts val="5187"/>
                </a:lnSpc>
              </a:pPr>
              <a:endParaRPr/>
            </a:p>
            <a:p>
              <a:pPr algn="l">
                <a:lnSpc>
                  <a:spcPts val="5187"/>
                </a:lnSpc>
              </a:pPr>
              <a:r>
                <a:rPr lang="en-US" sz="5086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Saatnya Menjadi</a:t>
              </a:r>
            </a:p>
            <a:p>
              <a:pPr algn="l">
                <a:lnSpc>
                  <a:spcPts val="5187"/>
                </a:lnSpc>
              </a:pPr>
              <a:r>
                <a:rPr lang="en-US" sz="5086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Analis Komputer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66800" y="4290949"/>
            <a:ext cx="7239000" cy="254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sz="26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KELOMPOK</a:t>
            </a:r>
          </a:p>
          <a:p>
            <a:pPr marL="566738" lvl="1" indent="-283369" algn="l">
              <a:lnSpc>
                <a:spcPts val="4068"/>
              </a:lnSpc>
              <a:buFont typeface="Arial"/>
              <a:buChar char="•"/>
            </a:pPr>
            <a:r>
              <a:rPr lang="en-US" sz="26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Ketua/Fasilitator</a:t>
            </a:r>
          </a:p>
          <a:p>
            <a:pPr marL="566738" lvl="1" indent="-283369" algn="l">
              <a:lnSpc>
                <a:spcPts val="4068"/>
              </a:lnSpc>
              <a:buFont typeface="Arial"/>
              <a:buChar char="•"/>
            </a:pPr>
            <a:r>
              <a:rPr lang="en-US" sz="26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Analis Bukti</a:t>
            </a:r>
          </a:p>
          <a:p>
            <a:pPr marL="566738" lvl="1" indent="-283369" algn="l">
              <a:lnSpc>
                <a:spcPts val="4068"/>
              </a:lnSpc>
              <a:buFont typeface="Arial"/>
              <a:buChar char="•"/>
            </a:pPr>
            <a:r>
              <a:rPr lang="en-US" sz="26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Evaluator Sumber</a:t>
            </a:r>
          </a:p>
          <a:p>
            <a:pPr marL="566738" lvl="1" indent="-283369" algn="l">
              <a:lnSpc>
                <a:spcPts val="4068"/>
              </a:lnSpc>
              <a:buFont typeface="Arial"/>
              <a:buChar char="•"/>
            </a:pPr>
            <a:r>
              <a:rPr lang="en-US" sz="26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Pencatat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123C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86418" y="2072757"/>
            <a:ext cx="2918698" cy="2772763"/>
          </a:xfrm>
          <a:custGeom>
            <a:avLst/>
            <a:gdLst/>
            <a:ahLst/>
            <a:cxnLst/>
            <a:rect l="l" t="t" r="r" b="b"/>
            <a:pathLst>
              <a:path w="2918698" h="2772763">
                <a:moveTo>
                  <a:pt x="0" y="0"/>
                </a:moveTo>
                <a:lnTo>
                  <a:pt x="2918698" y="0"/>
                </a:lnTo>
                <a:lnTo>
                  <a:pt x="2918698" y="2772763"/>
                </a:lnTo>
                <a:lnTo>
                  <a:pt x="0" y="2772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762750" y="4328900"/>
            <a:ext cx="4762500" cy="2190750"/>
            <a:chOff x="0" y="0"/>
            <a:chExt cx="6350000" cy="2921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350000" cy="2921000"/>
              <a:chOff x="0" y="0"/>
              <a:chExt cx="6350000" cy="2921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2921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F9D7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6350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890397"/>
              <a:ext cx="6350000" cy="12068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9"/>
                </a:lnSpc>
              </a:pPr>
              <a:r>
                <a:rPr lang="en-US" sz="34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ANALISIS</a:t>
              </a:r>
            </a:p>
            <a:p>
              <a:pPr algn="ctr">
                <a:lnSpc>
                  <a:spcPts val="3519"/>
                </a:lnSpc>
              </a:pPr>
              <a:r>
                <a:rPr lang="en-US" sz="34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KOMPUTER LAMBAT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070267" y="5684792"/>
            <a:ext cx="2622217" cy="2622217"/>
          </a:xfrm>
          <a:custGeom>
            <a:avLst/>
            <a:gdLst/>
            <a:ahLst/>
            <a:cxnLst/>
            <a:rect l="l" t="t" r="r" b="b"/>
            <a:pathLst>
              <a:path w="2622217" h="2622217">
                <a:moveTo>
                  <a:pt x="0" y="0"/>
                </a:moveTo>
                <a:lnTo>
                  <a:pt x="2622216" y="0"/>
                </a:lnTo>
                <a:lnTo>
                  <a:pt x="2622216" y="2622216"/>
                </a:lnTo>
                <a:lnTo>
                  <a:pt x="0" y="2622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903582" y="2470107"/>
            <a:ext cx="2955586" cy="2955586"/>
          </a:xfrm>
          <a:custGeom>
            <a:avLst/>
            <a:gdLst/>
            <a:ahLst/>
            <a:cxnLst/>
            <a:rect l="l" t="t" r="r" b="b"/>
            <a:pathLst>
              <a:path w="2955586" h="2955586">
                <a:moveTo>
                  <a:pt x="0" y="0"/>
                </a:moveTo>
                <a:lnTo>
                  <a:pt x="2955586" y="0"/>
                </a:lnTo>
                <a:lnTo>
                  <a:pt x="2955586" y="2955586"/>
                </a:lnTo>
                <a:lnTo>
                  <a:pt x="0" y="2955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91" b="-319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143000" y="3424025"/>
            <a:ext cx="4476750" cy="1143000"/>
            <a:chOff x="0" y="0"/>
            <a:chExt cx="5969000" cy="1524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969000" cy="1524000"/>
              <a:chOff x="0" y="0"/>
              <a:chExt cx="5969000" cy="152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96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1524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969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482600"/>
              <a:ext cx="5969000" cy="500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7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IPO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5619750" y="3947900"/>
            <a:ext cx="1143000" cy="1476375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143000" y="6472025"/>
            <a:ext cx="4476750" cy="1143000"/>
            <a:chOff x="0" y="0"/>
            <a:chExt cx="5969000" cy="1524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969000" cy="1524000"/>
              <a:chOff x="0" y="0"/>
              <a:chExt cx="5969000" cy="1524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96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1524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969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482600"/>
              <a:ext cx="5969000" cy="500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7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5619750" y="5424275"/>
            <a:ext cx="1143000" cy="1571625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2192000" y="3424025"/>
            <a:ext cx="4476750" cy="1143000"/>
            <a:chOff x="0" y="0"/>
            <a:chExt cx="5969000" cy="1524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5969000" cy="1524000"/>
              <a:chOff x="0" y="0"/>
              <a:chExt cx="5969000" cy="1524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96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1524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5969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0" y="482600"/>
              <a:ext cx="5969000" cy="500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7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flipH="1">
            <a:off x="11525250" y="3947900"/>
            <a:ext cx="666750" cy="1476375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2526513" y="5184160"/>
            <a:ext cx="3623480" cy="3623480"/>
          </a:xfrm>
          <a:custGeom>
            <a:avLst/>
            <a:gdLst/>
            <a:ahLst/>
            <a:cxnLst/>
            <a:rect l="l" t="t" r="r" b="b"/>
            <a:pathLst>
              <a:path w="3623480" h="3623480">
                <a:moveTo>
                  <a:pt x="0" y="0"/>
                </a:moveTo>
                <a:lnTo>
                  <a:pt x="3623479" y="0"/>
                </a:lnTo>
                <a:lnTo>
                  <a:pt x="3623479" y="3623480"/>
                </a:lnTo>
                <a:lnTo>
                  <a:pt x="0" y="3623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12192000" y="6472025"/>
            <a:ext cx="4476750" cy="1143000"/>
            <a:chOff x="0" y="0"/>
            <a:chExt cx="5969000" cy="1524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5969000" cy="1524000"/>
              <a:chOff x="0" y="0"/>
              <a:chExt cx="5969000" cy="152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96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5969000" h="1524000">
                    <a:moveTo>
                      <a:pt x="0" y="0"/>
                    </a:moveTo>
                    <a:lnTo>
                      <a:pt x="5969000" y="0"/>
                    </a:lnTo>
                    <a:lnTo>
                      <a:pt x="5969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23C6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5969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482600"/>
              <a:ext cx="5969000" cy="500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7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SISTEM OPERASI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 flipH="1" flipV="1">
            <a:off x="11525250" y="5424275"/>
            <a:ext cx="666750" cy="1571625"/>
          </a:xfrm>
          <a:prstGeom prst="line">
            <a:avLst/>
          </a:prstGeom>
          <a:ln w="66675" cap="rnd">
            <a:solidFill>
              <a:srgbClr val="FF7A2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1066800" y="9448800"/>
            <a:ext cx="16154400" cy="0"/>
          </a:xfrm>
          <a:prstGeom prst="line">
            <a:avLst/>
          </a:prstGeom>
          <a:ln w="19050" cap="flat">
            <a:solidFill>
              <a:srgbClr val="123C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066800" y="552450"/>
            <a:ext cx="14287500" cy="1221486"/>
            <a:chOff x="0" y="0"/>
            <a:chExt cx="19050000" cy="1628648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38100"/>
              <a:ext cx="11430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32">
                  <a:solidFill>
                    <a:srgbClr val="FF7A21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INFORMATIKA • SISTEM KOMPUTER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673100"/>
              <a:ext cx="19050000" cy="955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2"/>
                </a:lnSpc>
              </a:pPr>
              <a:r>
                <a:rPr lang="en-US" sz="51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Kesimpulan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66800" y="9639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SMK KELAS X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573500" y="9572625"/>
            <a:ext cx="666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20">
                <a:solidFill>
                  <a:srgbClr val="FF7A2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655</Words>
  <Application>Microsoft Macintosh PowerPoint</Application>
  <PresentationFormat>Custom</PresentationFormat>
  <Paragraphs>170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Clear Sans</vt:lpstr>
      <vt:lpstr>Clear Sans Bold</vt:lpstr>
      <vt:lpstr>Calibri</vt:lpstr>
      <vt:lpstr>League Spartan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KOMPUTER SEKOLAH → CHROME (20 TAB) → WORD → POWERPOINT → PAINT → FILE EXPLORER</dc:title>
  <cp:lastModifiedBy>ibnu allika prabo warasto</cp:lastModifiedBy>
  <cp:revision>4</cp:revision>
  <dcterms:created xsi:type="dcterms:W3CDTF">2006-08-16T00:00:00Z</dcterms:created>
  <dcterms:modified xsi:type="dcterms:W3CDTF">2026-09-04T10:41:48Z</dcterms:modified>
  <dc:identifier>DAHTewG2Jjw</dc:identifier>
</cp:coreProperties>
</file>