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Fredoka" panose="02000000000000000000" pitchFamily="2" charset="77"/>
      <p:regular r:id="rId17"/>
    </p:embeddedFont>
    <p:embeddedFont>
      <p:font typeface="Nunito Sans" pitchFamily="2" charset="77"/>
      <p:regular r:id="rId18"/>
      <p:bold r:id="rId19"/>
      <p:italic r:id="rId20"/>
      <p:boldItalic r:id="rId21"/>
    </p:embeddedFont>
    <p:embeddedFont>
      <p:font typeface="Nunito Sans Bold" pitchFamily="2" charset="77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 autoAdjust="0"/>
    <p:restoredTop sz="94602" autoAdjust="0"/>
  </p:normalViewPr>
  <p:slideViewPr>
    <p:cSldViewPr>
      <p:cViewPr varScale="1">
        <p:scale>
          <a:sx n="97" d="100"/>
          <a:sy n="97" d="100"/>
        </p:scale>
        <p:origin x="184" y="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43F">
                <a:alpha val="33725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1219200"/>
            <a:ext cx="2476500" cy="457200"/>
            <a:chOff x="0" y="0"/>
            <a:chExt cx="3302000" cy="60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02000" cy="609600"/>
            </a:xfrm>
            <a:custGeom>
              <a:avLst/>
              <a:gdLst/>
              <a:ahLst/>
              <a:cxnLst/>
              <a:rect l="l" t="t" r="r" b="b"/>
              <a:pathLst>
                <a:path w="3302000" h="609600">
                  <a:moveTo>
                    <a:pt x="0" y="0"/>
                  </a:moveTo>
                  <a:lnTo>
                    <a:pt x="3302000" y="0"/>
                  </a:lnTo>
                  <a:lnTo>
                    <a:pt x="330200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FFD1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30200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104900" y="1276350"/>
            <a:ext cx="2095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08">
                <a:solidFill>
                  <a:srgbClr val="252044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MATERI PENGANTAR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2600325"/>
            <a:ext cx="8286750" cy="2390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8"/>
              </a:lnSpc>
            </a:pPr>
            <a:r>
              <a:rPr lang="en-US" sz="9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Konsep</a:t>
            </a:r>
          </a:p>
          <a:p>
            <a:pPr algn="l">
              <a:lnSpc>
                <a:spcPts val="9108"/>
              </a:lnSpc>
            </a:pPr>
            <a:r>
              <a:rPr lang="en-US" sz="9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Dasar 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5172075"/>
            <a:ext cx="723900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Memahami</a:t>
            </a:r>
            <a:r>
              <a:rPr lang="en-US" sz="2400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Dasar </a:t>
            </a:r>
            <a:r>
              <a:rPr lang="en-US" sz="2400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Kecerdasan</a:t>
            </a:r>
            <a:r>
              <a:rPr lang="en-US" sz="2400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Buatan</a:t>
            </a:r>
            <a:r>
              <a:rPr lang="en-US" sz="2400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dengan</a:t>
            </a:r>
            <a:r>
              <a:rPr lang="en-US" sz="2400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Bahasa </a:t>
            </a:r>
            <a:r>
              <a:rPr lang="en-US" sz="2400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Sederhana</a:t>
            </a:r>
            <a:endParaRPr lang="en-US" sz="2400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400" y="8820150"/>
            <a:ext cx="6667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45D6D3"/>
                </a:solidFill>
                <a:latin typeface="Nunito Sans"/>
                <a:ea typeface="Nunito Sans"/>
                <a:cs typeface="Nunito Sans"/>
                <a:sym typeface="Nunito Sans"/>
              </a:rPr>
              <a:t>Belajar • Mencoba • Bertanggung jawab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B8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9B8C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1266825"/>
            <a:ext cx="104775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dirty="0" err="1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Praktik</a:t>
            </a:r>
            <a:r>
              <a:rPr lang="en-US" sz="5100" dirty="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 </a:t>
            </a:r>
            <a:r>
              <a:rPr lang="en-US" sz="5100" dirty="0" err="1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Pedagogis</a:t>
            </a:r>
            <a:endParaRPr lang="en-US" sz="5100" dirty="0">
              <a:solidFill>
                <a:srgbClr val="252044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AEC655-5AEB-F181-E627-A308ABEF2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947608"/>
              </p:ext>
            </p:extLst>
          </p:nvPr>
        </p:nvGraphicFramePr>
        <p:xfrm>
          <a:off x="1195387" y="2894489"/>
          <a:ext cx="14730413" cy="647334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4321309">
                  <a:extLst>
                    <a:ext uri="{9D8B030D-6E8A-4147-A177-3AD203B41FA5}">
                      <a16:colId xmlns:a16="http://schemas.microsoft.com/office/drawing/2014/main" val="2928698823"/>
                    </a:ext>
                  </a:extLst>
                </a:gridCol>
                <a:gridCol w="10409104">
                  <a:extLst>
                    <a:ext uri="{9D8B030D-6E8A-4147-A177-3AD203B41FA5}">
                      <a16:colId xmlns:a16="http://schemas.microsoft.com/office/drawing/2014/main" val="2807059968"/>
                    </a:ext>
                  </a:extLst>
                </a:gridCol>
              </a:tblGrid>
              <a:tr h="682705">
                <a:tc>
                  <a:txBody>
                    <a:bodyPr/>
                    <a:lstStyle/>
                    <a:p>
                      <a:pPr marL="210501" marR="109220" lvl="1" indent="0" algn="l" defTabSz="914400" rtl="0" eaLnBrk="1" latinLnBrk="0" hangingPunct="1">
                        <a:lnSpc>
                          <a:spcPts val="2729"/>
                        </a:lnSpc>
                        <a:buFont typeface="Arial"/>
                        <a:buNone/>
                      </a:pP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Komponen</a:t>
                      </a:r>
                      <a:endParaRPr lang="en-ID" sz="2800" kern="1200" dirty="0">
                        <a:solidFill>
                          <a:schemeClr val="tx1"/>
                        </a:solidFill>
                        <a:latin typeface="Nunito San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10501" marR="109220" lvl="1" indent="0" algn="l" defTabSz="914400" rtl="0" eaLnBrk="1" latinLnBrk="0" hangingPunct="1">
                        <a:lnSpc>
                          <a:spcPts val="2729"/>
                        </a:lnSpc>
                        <a:buFont typeface="Arial"/>
                        <a:buNone/>
                      </a:pP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Deskripsi</a:t>
                      </a:r>
                      <a:endParaRPr lang="en-ID" sz="2800" kern="1200" dirty="0">
                        <a:solidFill>
                          <a:schemeClr val="tx1"/>
                        </a:solidFill>
                        <a:latin typeface="Nunito San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758853"/>
                  </a:ext>
                </a:extLst>
              </a:tr>
              <a:tr h="1871106">
                <a:tc>
                  <a:txBody>
                    <a:bodyPr/>
                    <a:lstStyle/>
                    <a:p>
                      <a:pPr marL="210501" marR="109220" lvl="1" indent="0" algn="l" defTabSz="914400" rtl="0" eaLnBrk="1" latinLnBrk="0" hangingPunct="1">
                        <a:lnSpc>
                          <a:spcPts val="2729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None/>
                      </a:pP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Pengaturan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Murid</a:t>
                      </a:r>
                      <a:endParaRPr lang="en-ID" sz="2800" kern="1200" dirty="0">
                        <a:solidFill>
                          <a:schemeClr val="tx1"/>
                        </a:solidFill>
                        <a:latin typeface="Nunito San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0501" marR="109220" lvl="1" indent="0" algn="l" defTabSz="914400" rtl="0" eaLnBrk="1" latinLnBrk="0" hangingPunct="1">
                        <a:lnSpc>
                          <a:spcPts val="2729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None/>
                      </a:pP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Murid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menganalisis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studi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kasus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secara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individu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menggunakan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LKM.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Diskusi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kelas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dilakukan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pada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tahap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eksplorasi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dan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klarifikasi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hasil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analisis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sehingga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setiap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murid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tetap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bertanggung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jawab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terhadap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jawaban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masing-masing.</a:t>
                      </a:r>
                      <a:endParaRPr lang="en-ID" sz="2800" kern="1200" dirty="0">
                        <a:solidFill>
                          <a:schemeClr val="tx1"/>
                        </a:solidFill>
                        <a:latin typeface="Nunito San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159928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marL="210501" marR="109220" lvl="1" indent="0" algn="l" defTabSz="914400" rtl="0" eaLnBrk="1" latinLnBrk="0" hangingPunct="1">
                        <a:lnSpc>
                          <a:spcPts val="2729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None/>
                      </a:pPr>
                      <a:r>
                        <a:rPr lang="en-ID" sz="2800" kern="1200">
                          <a:solidFill>
                            <a:schemeClr val="tx1"/>
                          </a:solidFill>
                          <a:latin typeface="Nunito Sans"/>
                        </a:rPr>
                        <a:t>Model Pembelajaran</a:t>
                      </a:r>
                      <a:endParaRPr lang="en-ID" sz="2800" kern="1200">
                        <a:solidFill>
                          <a:schemeClr val="tx1"/>
                        </a:solidFill>
                        <a:latin typeface="Nunito San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0501" marR="109220" lvl="1" indent="0" algn="l" defTabSz="914400" rtl="0" eaLnBrk="1" latinLnBrk="0" hangingPunct="1">
                        <a:lnSpc>
                          <a:spcPts val="2729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None/>
                      </a:pP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Case-Based Learning (CBL).</a:t>
                      </a:r>
                      <a:endParaRPr lang="en-ID" sz="2800" kern="1200" dirty="0">
                        <a:solidFill>
                          <a:schemeClr val="tx1"/>
                        </a:solidFill>
                        <a:latin typeface="Nunito San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533758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210501" marR="109220" lvl="1" indent="0" algn="l" defTabSz="914400" rtl="0" eaLnBrk="1" latinLnBrk="0" hangingPunct="1">
                        <a:lnSpc>
                          <a:spcPts val="2729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None/>
                      </a:pPr>
                      <a:r>
                        <a:rPr lang="en-ID" sz="2800" kern="1200">
                          <a:solidFill>
                            <a:schemeClr val="tx1"/>
                          </a:solidFill>
                          <a:latin typeface="Nunito Sans"/>
                        </a:rPr>
                        <a:t>Pendekatan Pembelajaran</a:t>
                      </a:r>
                      <a:endParaRPr lang="en-ID" sz="2800" kern="1200">
                        <a:solidFill>
                          <a:schemeClr val="tx1"/>
                        </a:solidFill>
                        <a:latin typeface="Nunito San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0501" marR="109220" lvl="1" indent="0" algn="l" defTabSz="914400" rtl="0" eaLnBrk="1" latinLnBrk="0" hangingPunct="1">
                        <a:lnSpc>
                          <a:spcPts val="2729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None/>
                      </a:pP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Deep Learning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berpusat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pada murid (Student-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Centered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Learning).</a:t>
                      </a:r>
                      <a:endParaRPr lang="en-ID" sz="2800" kern="1200" dirty="0">
                        <a:solidFill>
                          <a:schemeClr val="tx1"/>
                        </a:solidFill>
                        <a:latin typeface="Nunito San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416725"/>
                  </a:ext>
                </a:extLst>
              </a:tr>
              <a:tr h="1709733">
                <a:tc>
                  <a:txBody>
                    <a:bodyPr/>
                    <a:lstStyle/>
                    <a:p>
                      <a:pPr marL="210501" marR="36195" lvl="1" indent="0" algn="l" defTabSz="914400" rtl="0" eaLnBrk="1" latinLnBrk="0" hangingPunct="1">
                        <a:lnSpc>
                          <a:spcPts val="2729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None/>
                      </a:pP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Strategi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Pedagogis</a:t>
                      </a:r>
                      <a:endParaRPr lang="en-ID" sz="2800" kern="1200" dirty="0">
                        <a:solidFill>
                          <a:schemeClr val="tx1"/>
                        </a:solidFill>
                        <a:latin typeface="Nunito San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0501" marR="36195" lvl="1" indent="0" algn="l" defTabSz="914400" rtl="0" eaLnBrk="1" latinLnBrk="0" hangingPunct="1">
                        <a:lnSpc>
                          <a:spcPts val="2729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/>
                        <a:buNone/>
                      </a:pP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Guru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menggunakan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pertanyaan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penuntun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(guiding questions), scaffolding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bertahap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,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refleksi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individu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,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umpan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balik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formatif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, dan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diskusi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kelas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untuk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membantu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murid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membangun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pemahaman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berdasarkan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 </a:t>
                      </a:r>
                      <a:r>
                        <a:rPr lang="en-ID" sz="2800" kern="1200" dirty="0" err="1">
                          <a:solidFill>
                            <a:schemeClr val="tx1"/>
                          </a:solidFill>
                          <a:latin typeface="Nunito Sans"/>
                        </a:rPr>
                        <a:t>bukti</a:t>
                      </a:r>
                      <a:r>
                        <a:rPr lang="en-ID" sz="2800" kern="1200" dirty="0">
                          <a:solidFill>
                            <a:schemeClr val="tx1"/>
                          </a:solidFill>
                          <a:latin typeface="Nunito Sans"/>
                        </a:rPr>
                        <a:t>.</a:t>
                      </a:r>
                      <a:endParaRPr lang="en-ID" sz="2800" kern="1200" dirty="0">
                        <a:solidFill>
                          <a:schemeClr val="tx1"/>
                        </a:solidFill>
                        <a:latin typeface="Nunito San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5795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45D6D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04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5D6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1266825"/>
            <a:ext cx="104775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Tujuan Pembelajaran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2984368"/>
            <a:ext cx="16344900" cy="582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  <a:spcBef>
                <a:spcPct val="0"/>
              </a:spcBef>
            </a:pP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Kognitif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:</a:t>
            </a:r>
          </a:p>
          <a:p>
            <a:pPr marL="421003" lvl="1" indent="-210502" algn="l">
              <a:lnSpc>
                <a:spcPts val="2729"/>
              </a:lnSpc>
              <a:buFont typeface="Arial"/>
              <a:buChar char="•"/>
            </a:pP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Murid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mampu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menjelaskan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(C2)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konsep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dasar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sejarah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singkat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serta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perbedaan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antara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mesin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cerdas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dan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mesin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non-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cerdas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secara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tepat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</a:p>
          <a:p>
            <a:pPr marL="421003" lvl="1" indent="-210502" algn="l">
              <a:lnSpc>
                <a:spcPts val="2729"/>
              </a:lnSpc>
              <a:buFont typeface="Arial"/>
              <a:buChar char="•"/>
            </a:pP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Murid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mampu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menguraikan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(C2)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prinsip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kerja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dasar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AI yang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meliputi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aspek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Learning, Reasoning, Perception, Decision-Making, dan NLP.</a:t>
            </a:r>
          </a:p>
          <a:p>
            <a:pPr marL="421003" lvl="1" indent="-210502" algn="l">
              <a:lnSpc>
                <a:spcPts val="2729"/>
              </a:lnSpc>
              <a:buFont typeface="Arial"/>
              <a:buChar char="•"/>
            </a:pP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Murid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mampu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menganalisis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(C4)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dampak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sosial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etika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penggunaan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masalah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bias data,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serta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aspek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keamanan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data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pribadi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dalam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pemanfaatan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AI di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bidang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keahlian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</a:p>
          <a:p>
            <a:pPr algn="l">
              <a:lnSpc>
                <a:spcPts val="2729"/>
              </a:lnSpc>
              <a:spcBef>
                <a:spcPct val="0"/>
              </a:spcBef>
            </a:pP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</a:p>
          <a:p>
            <a:pPr algn="l">
              <a:lnSpc>
                <a:spcPts val="2729"/>
              </a:lnSpc>
              <a:spcBef>
                <a:spcPct val="0"/>
              </a:spcBef>
            </a:pP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Psikomotor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:</a:t>
            </a:r>
          </a:p>
          <a:p>
            <a:pPr marL="421003" lvl="1" indent="-210502" algn="l">
              <a:lnSpc>
                <a:spcPts val="2729"/>
              </a:lnSpc>
              <a:buFont typeface="Arial"/>
              <a:buChar char="•"/>
            </a:pP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Murid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mampu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menerapkan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(P3)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teknik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prompt engineering yang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efektif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(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kejelasan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instruksi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konteks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batasan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tujuan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)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untuk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menyelesaikan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tugas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atau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mengevaluasi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ide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produk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/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jasa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</a:p>
          <a:p>
            <a:pPr marL="421003" lvl="1" indent="-210502" algn="l">
              <a:lnSpc>
                <a:spcPts val="2729"/>
              </a:lnSpc>
              <a:buFont typeface="Arial"/>
              <a:buChar char="•"/>
            </a:pP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Murid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mampu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menyusun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(P3)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matriks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analisis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kasus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yang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memuat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identifikasi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fakta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klaim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evaluasi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kredibilitas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sumber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dan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rumusan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rekomendasi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secara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sistematis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</a:p>
          <a:p>
            <a:pPr marL="421003" lvl="1" indent="-210502" algn="l">
              <a:lnSpc>
                <a:spcPts val="2729"/>
              </a:lnSpc>
              <a:buFont typeface="Arial"/>
              <a:buChar char="•"/>
            </a:pP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Murid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mampu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mempresentasikan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(P4)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hasil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analisis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kasus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etika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AI dan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hasil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prompt engineering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berdasarkan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bukti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logis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dan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dapat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dipertanggungjawabkan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</a:p>
          <a:p>
            <a:pPr algn="l">
              <a:lnSpc>
                <a:spcPts val="2729"/>
              </a:lnSpc>
              <a:spcBef>
                <a:spcPct val="0"/>
              </a:spcBef>
            </a:pP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</a:p>
          <a:p>
            <a:pPr algn="l">
              <a:lnSpc>
                <a:spcPts val="2729"/>
              </a:lnSpc>
              <a:spcBef>
                <a:spcPct val="0"/>
              </a:spcBef>
            </a:pP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Afektif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:</a:t>
            </a:r>
          </a:p>
          <a:p>
            <a:pPr algn="l">
              <a:lnSpc>
                <a:spcPts val="2729"/>
              </a:lnSpc>
              <a:spcBef>
                <a:spcPct val="0"/>
              </a:spcBef>
            </a:pP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Murid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mampu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menunjukkan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(A2)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sikap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kolaboratif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bertanggung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jawab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terhadap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keamanan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data,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terbuka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terhadap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bukti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baru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,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serta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menghargai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pendapat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orang lain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selama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proses </a:t>
            </a:r>
            <a:r>
              <a:rPr lang="en-US" sz="1949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diskusi</a:t>
            </a:r>
            <a:r>
              <a:rPr lang="en-US" sz="1949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9B8C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02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B8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1266825"/>
            <a:ext cx="104775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Apa itu Artificial Intelligence?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2305050"/>
            <a:ext cx="7239000" cy="1392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85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AI adalah sistem komputer yang melakukan tugas seperti manusia—menggunakan data dan algoritma.</a:t>
            </a:r>
          </a:p>
        </p:txBody>
      </p:sp>
      <p:sp>
        <p:nvSpPr>
          <p:cNvPr id="9" name="Freeform 9"/>
          <p:cNvSpPr/>
          <p:nvPr/>
        </p:nvSpPr>
        <p:spPr>
          <a:xfrm>
            <a:off x="9286875" y="2850833"/>
            <a:ext cx="8096250" cy="5715000"/>
          </a:xfrm>
          <a:custGeom>
            <a:avLst/>
            <a:gdLst/>
            <a:ahLst/>
            <a:cxnLst/>
            <a:rect l="l" t="t" r="r" b="b"/>
            <a:pathLst>
              <a:path w="8096250" h="5715000">
                <a:moveTo>
                  <a:pt x="0" y="0"/>
                </a:moveTo>
                <a:lnTo>
                  <a:pt x="8096250" y="0"/>
                </a:lnTo>
                <a:lnTo>
                  <a:pt x="8096250" y="5714999"/>
                </a:lnTo>
                <a:lnTo>
                  <a:pt x="0" y="5714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745" r="-1274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914400" y="4953000"/>
            <a:ext cx="3333750" cy="1047750"/>
            <a:chOff x="0" y="0"/>
            <a:chExt cx="4445000" cy="1397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1397000"/>
            </a:xfrm>
            <a:custGeom>
              <a:avLst/>
              <a:gdLst/>
              <a:ahLst/>
              <a:cxnLst/>
              <a:rect l="l" t="t" r="r" b="b"/>
              <a:pathLst>
                <a:path w="4445000" h="1397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44450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ChatGPT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629150" y="4953000"/>
            <a:ext cx="3333750" cy="1047750"/>
            <a:chOff x="0" y="0"/>
            <a:chExt cx="4445000" cy="1397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1397000"/>
            </a:xfrm>
            <a:custGeom>
              <a:avLst/>
              <a:gdLst/>
              <a:ahLst/>
              <a:cxnLst/>
              <a:rect l="l" t="t" r="r" b="b"/>
              <a:pathLst>
                <a:path w="4445000" h="1397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45D6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44450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Google Translate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4400" y="6381750"/>
            <a:ext cx="3333750" cy="1047750"/>
            <a:chOff x="0" y="0"/>
            <a:chExt cx="4445000" cy="1397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1397000"/>
            </a:xfrm>
            <a:custGeom>
              <a:avLst/>
              <a:gdLst/>
              <a:ahLst/>
              <a:cxnLst/>
              <a:rect l="l" t="t" r="r" b="b"/>
              <a:pathLst>
                <a:path w="4445000" h="1397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FFD1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44450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Rekomendasi Netflix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629150" y="6381750"/>
            <a:ext cx="3333750" cy="1047750"/>
            <a:chOff x="0" y="0"/>
            <a:chExt cx="4445000" cy="1397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45000" cy="1397000"/>
            </a:xfrm>
            <a:custGeom>
              <a:avLst/>
              <a:gdLst/>
              <a:ahLst/>
              <a:cxnLst/>
              <a:rect l="l" t="t" r="r" b="b"/>
              <a:pathLst>
                <a:path w="4445000" h="1397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1331686"/>
                  </a:lnTo>
                  <a:cubicBezTo>
                    <a:pt x="4445000" y="1349008"/>
                    <a:pt x="4438119" y="1365621"/>
                    <a:pt x="4425870" y="1377870"/>
                  </a:cubicBezTo>
                  <a:cubicBezTo>
                    <a:pt x="4413621" y="1390119"/>
                    <a:pt x="4397008" y="1397000"/>
                    <a:pt x="4379686" y="1397000"/>
                  </a:cubicBezTo>
                  <a:lnTo>
                    <a:pt x="65314" y="1397000"/>
                  </a:lnTo>
                  <a:cubicBezTo>
                    <a:pt x="47992" y="1397000"/>
                    <a:pt x="31379" y="1390119"/>
                    <a:pt x="19130" y="1377870"/>
                  </a:cubicBezTo>
                  <a:cubicBezTo>
                    <a:pt x="6881" y="1365621"/>
                    <a:pt x="0" y="1349008"/>
                    <a:pt x="0" y="1331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9B8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4445000" cy="1397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6"/>
                </a:lnSpc>
              </a:pPr>
              <a:r>
                <a:rPr lang="en-US" sz="1875" b="1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Face Unlock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953625" y="8918257"/>
            <a:ext cx="6191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9B8C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AI DI SEKITAR KITA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9B8C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03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B8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1266825"/>
            <a:ext cx="95250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Mesin Non-AI vs AI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4400" y="2619375"/>
            <a:ext cx="7791450" cy="6191250"/>
            <a:chOff x="0" y="0"/>
            <a:chExt cx="10388600" cy="8255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388600" cy="8255000"/>
              <a:chOff x="0" y="0"/>
              <a:chExt cx="10388600" cy="8255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3886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10388600" h="8255000">
                    <a:moveTo>
                      <a:pt x="0" y="0"/>
                    </a:moveTo>
                    <a:lnTo>
                      <a:pt x="10388600" y="0"/>
                    </a:lnTo>
                    <a:lnTo>
                      <a:pt x="103886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0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3886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36600" y="1930400"/>
              <a:ext cx="8890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Aturan tetap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6600" y="3625850"/>
              <a:ext cx="8890000" cy="633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>
                  <a:solidFill>
                    <a:srgbClr val="FF6B6B"/>
                  </a:solidFill>
                  <a:latin typeface="Fredoka"/>
                  <a:ea typeface="Fredoka"/>
                  <a:cs typeface="Fredoka"/>
                  <a:sym typeface="Fredoka"/>
                </a:rPr>
                <a:t>Tidak belajar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6600" y="5359400"/>
              <a:ext cx="8890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Kalkulator • lampu otomatis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36600" y="6413500"/>
              <a:ext cx="8890000" cy="1168400"/>
              <a:chOff x="0" y="0"/>
              <a:chExt cx="8890000" cy="11684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8900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8890000" h="1168400">
                    <a:moveTo>
                      <a:pt x="32657" y="0"/>
                    </a:moveTo>
                    <a:lnTo>
                      <a:pt x="8857343" y="0"/>
                    </a:lnTo>
                    <a:cubicBezTo>
                      <a:pt x="8866004" y="0"/>
                      <a:pt x="8874310" y="3441"/>
                      <a:pt x="8880435" y="9565"/>
                    </a:cubicBezTo>
                    <a:cubicBezTo>
                      <a:pt x="8886559" y="15689"/>
                      <a:pt x="8890000" y="23996"/>
                      <a:pt x="8890000" y="32657"/>
                    </a:cubicBezTo>
                    <a:lnTo>
                      <a:pt x="8890000" y="1135743"/>
                    </a:lnTo>
                    <a:cubicBezTo>
                      <a:pt x="8890000" y="1144404"/>
                      <a:pt x="8886559" y="1152711"/>
                      <a:pt x="8880435" y="1158835"/>
                    </a:cubicBezTo>
                    <a:cubicBezTo>
                      <a:pt x="8874310" y="1164959"/>
                      <a:pt x="8866004" y="1168400"/>
                      <a:pt x="8857343" y="1168400"/>
                    </a:cubicBezTo>
                    <a:lnTo>
                      <a:pt x="32657" y="1168400"/>
                    </a:lnTo>
                    <a:cubicBezTo>
                      <a:pt x="23996" y="1168400"/>
                      <a:pt x="15689" y="1164959"/>
                      <a:pt x="9565" y="1158835"/>
                    </a:cubicBezTo>
                    <a:cubicBezTo>
                      <a:pt x="3441" y="1152711"/>
                      <a:pt x="0" y="1144404"/>
                      <a:pt x="0" y="1135743"/>
                    </a:cubicBezTo>
                    <a:lnTo>
                      <a:pt x="0" y="32657"/>
                    </a:lnTo>
                    <a:cubicBezTo>
                      <a:pt x="0" y="23996"/>
                      <a:pt x="3441" y="15689"/>
                      <a:pt x="9565" y="9565"/>
                    </a:cubicBezTo>
                    <a:cubicBezTo>
                      <a:pt x="15689" y="3441"/>
                      <a:pt x="23996" y="0"/>
                      <a:pt x="32657" y="0"/>
                    </a:cubicBezTo>
                    <a:close/>
                  </a:path>
                </a:pathLst>
              </a:custGeom>
              <a:solidFill>
                <a:srgbClr val="FF6B6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0" y="9525"/>
                <a:ext cx="8890000" cy="1158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28"/>
                  </a:lnSpc>
                </a:pPr>
                <a:r>
                  <a:rPr lang="en-US" sz="2025" b="1">
                    <a:solidFill>
                      <a:srgbClr val="252044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TIDAK BELAJAR</a:t>
                </a:r>
              </a:p>
            </p:txBody>
          </p:sp>
        </p:grpSp>
      </p:grpSp>
      <p:grpSp>
        <p:nvGrpSpPr>
          <p:cNvPr id="18" name="Group 18"/>
          <p:cNvGrpSpPr/>
          <p:nvPr/>
        </p:nvGrpSpPr>
        <p:grpSpPr>
          <a:xfrm>
            <a:off x="9582150" y="2619375"/>
            <a:ext cx="7791450" cy="6191250"/>
            <a:chOff x="0" y="0"/>
            <a:chExt cx="10388600" cy="825500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10388600" cy="8255000"/>
              <a:chOff x="0" y="0"/>
              <a:chExt cx="10388600" cy="8255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03886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10388600" h="8255000">
                    <a:moveTo>
                      <a:pt x="0" y="0"/>
                    </a:moveTo>
                    <a:lnTo>
                      <a:pt x="10388600" y="0"/>
                    </a:lnTo>
                    <a:lnTo>
                      <a:pt x="103886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EBE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03886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736600" y="1930400"/>
              <a:ext cx="8890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Belajar dari data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600" y="3625850"/>
              <a:ext cx="8890000" cy="6337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90"/>
                </a:lnSpc>
              </a:pPr>
              <a:r>
                <a:rPr lang="en-US" sz="2850">
                  <a:solidFill>
                    <a:srgbClr val="9B8CFF"/>
                  </a:solidFill>
                  <a:latin typeface="Fredoka"/>
                  <a:ea typeface="Fredoka"/>
                  <a:cs typeface="Fredoka"/>
                  <a:sym typeface="Fredoka"/>
                </a:rPr>
                <a:t>Mengenali pola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600" y="5359400"/>
              <a:ext cx="88900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Siri • face recognition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736600" y="6413500"/>
              <a:ext cx="8890000" cy="1168400"/>
              <a:chOff x="0" y="0"/>
              <a:chExt cx="8890000" cy="11684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8900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8890000" h="1168400">
                    <a:moveTo>
                      <a:pt x="32657" y="0"/>
                    </a:moveTo>
                    <a:lnTo>
                      <a:pt x="8857343" y="0"/>
                    </a:lnTo>
                    <a:cubicBezTo>
                      <a:pt x="8866004" y="0"/>
                      <a:pt x="8874310" y="3441"/>
                      <a:pt x="8880435" y="9565"/>
                    </a:cubicBezTo>
                    <a:cubicBezTo>
                      <a:pt x="8886559" y="15689"/>
                      <a:pt x="8890000" y="23996"/>
                      <a:pt x="8890000" y="32657"/>
                    </a:cubicBezTo>
                    <a:lnTo>
                      <a:pt x="8890000" y="1135743"/>
                    </a:lnTo>
                    <a:cubicBezTo>
                      <a:pt x="8890000" y="1144404"/>
                      <a:pt x="8886559" y="1152711"/>
                      <a:pt x="8880435" y="1158835"/>
                    </a:cubicBezTo>
                    <a:cubicBezTo>
                      <a:pt x="8874310" y="1164959"/>
                      <a:pt x="8866004" y="1168400"/>
                      <a:pt x="8857343" y="1168400"/>
                    </a:cubicBezTo>
                    <a:lnTo>
                      <a:pt x="32657" y="1168400"/>
                    </a:lnTo>
                    <a:cubicBezTo>
                      <a:pt x="23996" y="1168400"/>
                      <a:pt x="15689" y="1164959"/>
                      <a:pt x="9565" y="1158835"/>
                    </a:cubicBezTo>
                    <a:cubicBezTo>
                      <a:pt x="3441" y="1152711"/>
                      <a:pt x="0" y="1144404"/>
                      <a:pt x="0" y="1135743"/>
                    </a:cubicBezTo>
                    <a:lnTo>
                      <a:pt x="0" y="32657"/>
                    </a:lnTo>
                    <a:cubicBezTo>
                      <a:pt x="0" y="23996"/>
                      <a:pt x="3441" y="15689"/>
                      <a:pt x="9565" y="9565"/>
                    </a:cubicBezTo>
                    <a:cubicBezTo>
                      <a:pt x="15689" y="3441"/>
                      <a:pt x="23996" y="0"/>
                      <a:pt x="32657" y="0"/>
                    </a:cubicBezTo>
                    <a:close/>
                  </a:path>
                </a:pathLst>
              </a:custGeom>
              <a:solidFill>
                <a:srgbClr val="9B8C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9525"/>
                <a:ext cx="8890000" cy="1158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328"/>
                  </a:lnSpc>
                </a:pPr>
                <a:r>
                  <a:rPr lang="en-US" sz="2025" b="1">
                    <a:solidFill>
                      <a:srgbClr val="FFFFF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BELAJAR &amp; BERADAPTASI</a:t>
                </a:r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1333500" y="2809875"/>
            <a:ext cx="619125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6B6B"/>
                </a:solidFill>
                <a:latin typeface="Fredoka"/>
                <a:ea typeface="Fredoka"/>
                <a:cs typeface="Fredoka"/>
                <a:sym typeface="Fredoka"/>
              </a:rPr>
              <a:t>MESIN NON-AI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001250" y="2809875"/>
            <a:ext cx="66675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9B8CFF"/>
                </a:solidFill>
                <a:latin typeface="Fredoka"/>
                <a:ea typeface="Fredoka"/>
                <a:cs typeface="Fredoka"/>
                <a:sym typeface="Fredoka"/>
              </a:rPr>
              <a:t>ARTIFICIAL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45D6D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04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5D6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1266825"/>
            <a:ext cx="104775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Bagaimana AI Bekerja?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2066925"/>
            <a:ext cx="8572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Satu alur sederhana, dari data menjadi jawaban.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57250" y="4212325"/>
            <a:ext cx="2667000" cy="1428750"/>
            <a:chOff x="0" y="0"/>
            <a:chExt cx="3556000" cy="1905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56000" cy="1905000"/>
            </a:xfrm>
            <a:custGeom>
              <a:avLst/>
              <a:gdLst/>
              <a:ahLst/>
              <a:cxnLst/>
              <a:rect l="l" t="t" r="r" b="b"/>
              <a:pathLst>
                <a:path w="3556000" h="1905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823357"/>
                  </a:lnTo>
                  <a:cubicBezTo>
                    <a:pt x="3556000" y="1868447"/>
                    <a:pt x="3519447" y="1905000"/>
                    <a:pt x="3474357" y="1905000"/>
                  </a:cubicBezTo>
                  <a:lnTo>
                    <a:pt x="81643" y="1905000"/>
                  </a:lnTo>
                  <a:cubicBezTo>
                    <a:pt x="36553" y="1905000"/>
                    <a:pt x="0" y="1868447"/>
                    <a:pt x="0" y="1823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050"/>
              <a:ext cx="3556000" cy="188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1  INPUT DATA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3638550" y="4926700"/>
            <a:ext cx="552450" cy="0"/>
          </a:xfrm>
          <a:prstGeom prst="line">
            <a:avLst/>
          </a:prstGeom>
          <a:ln w="666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4333875" y="4212325"/>
            <a:ext cx="2667000" cy="1428750"/>
            <a:chOff x="0" y="0"/>
            <a:chExt cx="3556000" cy="1905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56000" cy="1905000"/>
            </a:xfrm>
            <a:custGeom>
              <a:avLst/>
              <a:gdLst/>
              <a:ahLst/>
              <a:cxnLst/>
              <a:rect l="l" t="t" r="r" b="b"/>
              <a:pathLst>
                <a:path w="3556000" h="1905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823357"/>
                  </a:lnTo>
                  <a:cubicBezTo>
                    <a:pt x="3556000" y="1868447"/>
                    <a:pt x="3519447" y="1905000"/>
                    <a:pt x="3474357" y="1905000"/>
                  </a:cubicBezTo>
                  <a:lnTo>
                    <a:pt x="81643" y="1905000"/>
                  </a:lnTo>
                  <a:cubicBezTo>
                    <a:pt x="36553" y="1905000"/>
                    <a:pt x="0" y="1868447"/>
                    <a:pt x="0" y="1823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FD1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3556000" cy="188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2  BELAJAR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7115175" y="4926700"/>
            <a:ext cx="552450" cy="0"/>
          </a:xfrm>
          <a:prstGeom prst="line">
            <a:avLst/>
          </a:prstGeom>
          <a:ln w="666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7810500" y="4212325"/>
            <a:ext cx="2667000" cy="1428750"/>
            <a:chOff x="0" y="0"/>
            <a:chExt cx="3556000" cy="1905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56000" cy="1905000"/>
            </a:xfrm>
            <a:custGeom>
              <a:avLst/>
              <a:gdLst/>
              <a:ahLst/>
              <a:cxnLst/>
              <a:rect l="l" t="t" r="r" b="b"/>
              <a:pathLst>
                <a:path w="3556000" h="1905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823357"/>
                  </a:lnTo>
                  <a:cubicBezTo>
                    <a:pt x="3556000" y="1868447"/>
                    <a:pt x="3519447" y="1905000"/>
                    <a:pt x="3474357" y="1905000"/>
                  </a:cubicBezTo>
                  <a:lnTo>
                    <a:pt x="81643" y="1905000"/>
                  </a:lnTo>
                  <a:cubicBezTo>
                    <a:pt x="36553" y="1905000"/>
                    <a:pt x="0" y="1868447"/>
                    <a:pt x="0" y="1823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45D6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9050"/>
              <a:ext cx="3556000" cy="188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3  CARI POLA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0591800" y="4926700"/>
            <a:ext cx="552450" cy="0"/>
          </a:xfrm>
          <a:prstGeom prst="line">
            <a:avLst/>
          </a:prstGeom>
          <a:ln w="666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1287125" y="4212325"/>
            <a:ext cx="2667000" cy="1428750"/>
            <a:chOff x="0" y="0"/>
            <a:chExt cx="3556000" cy="1905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556000" cy="1905000"/>
            </a:xfrm>
            <a:custGeom>
              <a:avLst/>
              <a:gdLst/>
              <a:ahLst/>
              <a:cxnLst/>
              <a:rect l="l" t="t" r="r" b="b"/>
              <a:pathLst>
                <a:path w="3556000" h="1905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823357"/>
                  </a:lnTo>
                  <a:cubicBezTo>
                    <a:pt x="3556000" y="1868447"/>
                    <a:pt x="3519447" y="1905000"/>
                    <a:pt x="3474357" y="1905000"/>
                  </a:cubicBezTo>
                  <a:lnTo>
                    <a:pt x="81643" y="1905000"/>
                  </a:lnTo>
                  <a:cubicBezTo>
                    <a:pt x="36553" y="1905000"/>
                    <a:pt x="0" y="1868447"/>
                    <a:pt x="0" y="1823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9B8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19050"/>
              <a:ext cx="3556000" cy="188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4  PREDIKSI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4068425" y="4926700"/>
            <a:ext cx="552450" cy="0"/>
          </a:xfrm>
          <a:prstGeom prst="line">
            <a:avLst/>
          </a:prstGeom>
          <a:ln w="666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14763750" y="4212325"/>
            <a:ext cx="2667000" cy="1428750"/>
            <a:chOff x="0" y="0"/>
            <a:chExt cx="3556000" cy="1905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556000" cy="1905000"/>
            </a:xfrm>
            <a:custGeom>
              <a:avLst/>
              <a:gdLst/>
              <a:ahLst/>
              <a:cxnLst/>
              <a:rect l="l" t="t" r="r" b="b"/>
              <a:pathLst>
                <a:path w="3556000" h="1905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823357"/>
                  </a:lnTo>
                  <a:cubicBezTo>
                    <a:pt x="3556000" y="1868447"/>
                    <a:pt x="3519447" y="1905000"/>
                    <a:pt x="3474357" y="1905000"/>
                  </a:cubicBezTo>
                  <a:lnTo>
                    <a:pt x="81643" y="1905000"/>
                  </a:lnTo>
                  <a:cubicBezTo>
                    <a:pt x="36553" y="1905000"/>
                    <a:pt x="0" y="1868447"/>
                    <a:pt x="0" y="1823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9050"/>
              <a:ext cx="3556000" cy="1885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5  OUTPUT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81125" y="6736450"/>
            <a:ext cx="15525750" cy="1428750"/>
            <a:chOff x="0" y="0"/>
            <a:chExt cx="20701000" cy="19050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0701000" cy="1905000"/>
            </a:xfrm>
            <a:custGeom>
              <a:avLst/>
              <a:gdLst/>
              <a:ahLst/>
              <a:cxnLst/>
              <a:rect l="l" t="t" r="r" b="b"/>
              <a:pathLst>
                <a:path w="20701000" h="1905000">
                  <a:moveTo>
                    <a:pt x="0" y="0"/>
                  </a:moveTo>
                  <a:lnTo>
                    <a:pt x="20701000" y="0"/>
                  </a:lnTo>
                  <a:lnTo>
                    <a:pt x="20701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25204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0701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762125" y="7117450"/>
            <a:ext cx="14763750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 b="1">
                <a:solidFill>
                  <a:srgbClr val="FFFF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Foto kucing  →  AI belajar pola  →  mengenali ciri  →  “Ini kucing”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9B8C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05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B8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1266825"/>
            <a:ext cx="809625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Machine Learning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2362200"/>
            <a:ext cx="8096250" cy="10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0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Komputer belajar dari data tanpa diprogram manual untuk setiap aturan.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620250" y="2660461"/>
            <a:ext cx="3571875" cy="2286000"/>
            <a:chOff x="0" y="0"/>
            <a:chExt cx="4762500" cy="3048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699000" cy="3048000"/>
              <a:chOff x="0" y="0"/>
              <a:chExt cx="4699000" cy="3048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699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4699000" h="3048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6B6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699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81000" y="241300"/>
              <a:ext cx="1016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87500" y="434975"/>
              <a:ext cx="3175000" cy="989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Rekomendasi Netflix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430250" y="2660461"/>
            <a:ext cx="3571875" cy="2286000"/>
            <a:chOff x="0" y="0"/>
            <a:chExt cx="4762500" cy="3048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4699000" cy="3048000"/>
              <a:chOff x="0" y="0"/>
              <a:chExt cx="4699000" cy="3048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699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4699000" h="3048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45D6D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4699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81000" y="241300"/>
              <a:ext cx="1016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87500" y="434975"/>
              <a:ext cx="3175000" cy="989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Deteksi spam email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620250" y="5613211"/>
            <a:ext cx="3571875" cy="2286000"/>
            <a:chOff x="0" y="0"/>
            <a:chExt cx="4762500" cy="3048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4699000" cy="3048000"/>
              <a:chOff x="0" y="0"/>
              <a:chExt cx="4699000" cy="3048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46990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4699000" h="3048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FFD1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4699000" cy="3086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381000" y="241300"/>
              <a:ext cx="1016000" cy="8915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70"/>
                </a:lnSpc>
              </a:pPr>
              <a:r>
                <a:rPr lang="en-US" sz="4050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87500" y="434975"/>
              <a:ext cx="3175000" cy="481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75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Prediksi cuaca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9B8C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06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B8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1266825"/>
            <a:ext cx="95250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dirty="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Dua Cara AI </a:t>
            </a:r>
            <a:r>
              <a:rPr lang="en-US" sz="5100" dirty="0" err="1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Belajar</a:t>
            </a:r>
            <a:endParaRPr lang="en-US" sz="5100" dirty="0">
              <a:solidFill>
                <a:srgbClr val="252044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914400" y="2667000"/>
            <a:ext cx="7791450" cy="6191250"/>
            <a:chOff x="0" y="0"/>
            <a:chExt cx="10388600" cy="8255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388600" cy="8255000"/>
              <a:chOff x="0" y="0"/>
              <a:chExt cx="10388600" cy="8255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3886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10388600" h="8255000">
                    <a:moveTo>
                      <a:pt x="0" y="0"/>
                    </a:moveTo>
                    <a:lnTo>
                      <a:pt x="10388600" y="0"/>
                    </a:lnTo>
                    <a:lnTo>
                      <a:pt x="103886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0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3886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36600" y="1476375"/>
              <a:ext cx="8890000" cy="300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Data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sudah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berlabel</a:t>
              </a:r>
              <a:endPara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algn="l">
                <a:lnSpc>
                  <a:spcPts val="3045"/>
                </a:lnSpc>
              </a:pPr>
              <a:endPara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algn="l">
                <a:lnSpc>
                  <a:spcPts val="3045"/>
                </a:lnSpc>
              </a:pP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✓ Akurat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untuk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target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jelas</a:t>
              </a:r>
              <a:endPara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algn="l">
                <a:lnSpc>
                  <a:spcPts val="3045"/>
                </a:lnSpc>
              </a:pP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−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Butuh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banyak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data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berlabel</a:t>
              </a:r>
              <a:endPara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algn="l">
                <a:lnSpc>
                  <a:spcPts val="3045"/>
                </a:lnSpc>
              </a:pPr>
              <a:endPara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algn="l">
                <a:lnSpc>
                  <a:spcPts val="3045"/>
                </a:lnSpc>
              </a:pP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Contoh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: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deteksi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penyakit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, face recognition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82150" y="2667000"/>
            <a:ext cx="7791450" cy="6191250"/>
            <a:chOff x="0" y="0"/>
            <a:chExt cx="10388600" cy="825500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0388600" cy="8255000"/>
              <a:chOff x="0" y="0"/>
              <a:chExt cx="10388600" cy="8255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3886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10388600" h="8255000">
                    <a:moveTo>
                      <a:pt x="0" y="0"/>
                    </a:moveTo>
                    <a:lnTo>
                      <a:pt x="10388600" y="0"/>
                    </a:lnTo>
                    <a:lnTo>
                      <a:pt x="103886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EBE6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03886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736600" y="1476375"/>
              <a:ext cx="8890000" cy="300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45"/>
                </a:lnSpc>
              </a:pP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Data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tanpa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label; AI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mencari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pola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sendiri</a:t>
              </a:r>
              <a:endPara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algn="l">
                <a:lnSpc>
                  <a:spcPts val="3045"/>
                </a:lnSpc>
              </a:pPr>
              <a:endPara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algn="l">
                <a:lnSpc>
                  <a:spcPts val="3045"/>
                </a:lnSpc>
              </a:pP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✓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Menemukan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pola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tersembunyi</a:t>
              </a:r>
              <a:endPara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algn="l">
                <a:lnSpc>
                  <a:spcPts val="3045"/>
                </a:lnSpc>
              </a:pP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− Hasil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lebih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sulit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ditafsirkan</a:t>
              </a:r>
              <a:endPara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algn="l">
                <a:lnSpc>
                  <a:spcPts val="3045"/>
                </a:lnSpc>
              </a:pPr>
              <a:endPara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  <a:p>
              <a:pPr algn="l">
                <a:lnSpc>
                  <a:spcPts val="3045"/>
                </a:lnSpc>
              </a:pP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Contoh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: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segmentasi</a:t>
              </a:r>
              <a:r>
                <a:rPr lang="en-US" sz="2100" dirty="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  <a:r>
                <a:rPr lang="en-US" sz="2100" dirty="0" err="1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pelanggan</a:t>
              </a:r>
              <a:endPara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28750" y="2847975"/>
            <a:ext cx="6667500" cy="48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FF6B6B"/>
                </a:solidFill>
                <a:latin typeface="Fredoka"/>
                <a:ea typeface="Fredoka"/>
                <a:cs typeface="Fredoka"/>
                <a:sym typeface="Fredoka"/>
              </a:rPr>
              <a:t>SUPERVISED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01250" y="2847975"/>
            <a:ext cx="6667500" cy="489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9B8CFF"/>
                </a:solidFill>
                <a:latin typeface="Fredoka"/>
                <a:ea typeface="Fredoka"/>
                <a:cs typeface="Fredoka"/>
                <a:sym typeface="Fredoka"/>
              </a:rPr>
              <a:t>UNSUPERVISED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59BB4C3-C1A1-D55C-5400-AC897B61A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639399"/>
              </p:ext>
            </p:extLst>
          </p:nvPr>
        </p:nvGraphicFramePr>
        <p:xfrm>
          <a:off x="2209800" y="6703695"/>
          <a:ext cx="3657600" cy="18488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76132">
                  <a:extLst>
                    <a:ext uri="{9D8B030D-6E8A-4147-A177-3AD203B41FA5}">
                      <a16:colId xmlns:a16="http://schemas.microsoft.com/office/drawing/2014/main" val="3020765709"/>
                    </a:ext>
                  </a:extLst>
                </a:gridCol>
                <a:gridCol w="1981468">
                  <a:extLst>
                    <a:ext uri="{9D8B030D-6E8A-4147-A177-3AD203B41FA5}">
                      <a16:colId xmlns:a16="http://schemas.microsoft.com/office/drawing/2014/main" val="1798857595"/>
                    </a:ext>
                  </a:extLst>
                </a:gridCol>
              </a:tblGrid>
              <a:tr h="468711">
                <a:tc>
                  <a:txBody>
                    <a:bodyPr/>
                    <a:lstStyle/>
                    <a:p>
                      <a:pPr marL="36195" marR="36195" algn="ctr">
                        <a:buNone/>
                      </a:pPr>
                      <a:r>
                        <a:rPr lang="en-ID" sz="2400" dirty="0">
                          <a:effectLst/>
                        </a:rPr>
                        <a:t>Gambar</a:t>
                      </a:r>
                      <a:endParaRPr lang="en-ID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195" marR="36195" algn="ctr">
                        <a:buNone/>
                      </a:pPr>
                      <a:r>
                        <a:rPr lang="en-ID" sz="2400">
                          <a:effectLst/>
                        </a:rPr>
                        <a:t>Label</a:t>
                      </a:r>
                      <a:endParaRPr lang="en-ID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54219900"/>
                  </a:ext>
                </a:extLst>
              </a:tr>
              <a:tr h="468711">
                <a:tc>
                  <a:txBody>
                    <a:bodyPr/>
                    <a:lstStyle/>
                    <a:p>
                      <a:pPr marL="36195" marR="36195" algn="ctr">
                        <a:buNone/>
                      </a:pPr>
                      <a:r>
                        <a:rPr lang="en-ID" sz="2400">
                          <a:effectLst/>
                        </a:rPr>
                        <a:t>🍎</a:t>
                      </a:r>
                      <a:endParaRPr lang="en-ID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195" marR="36195" algn="ctr">
                        <a:buNone/>
                      </a:pPr>
                      <a:r>
                        <a:rPr lang="en-ID" sz="2400" dirty="0">
                          <a:effectLst/>
                        </a:rPr>
                        <a:t>Apel</a:t>
                      </a:r>
                      <a:endParaRPr lang="en-ID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94449826"/>
                  </a:ext>
                </a:extLst>
              </a:tr>
              <a:tr h="468711">
                <a:tc>
                  <a:txBody>
                    <a:bodyPr/>
                    <a:lstStyle/>
                    <a:p>
                      <a:pPr marL="36195" marR="36195" algn="ctr">
                        <a:buNone/>
                      </a:pPr>
                      <a:r>
                        <a:rPr lang="en-ID" sz="2400">
                          <a:effectLst/>
                        </a:rPr>
                        <a:t>🍌</a:t>
                      </a:r>
                      <a:endParaRPr lang="en-ID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195" marR="36195" algn="ctr">
                        <a:buNone/>
                      </a:pPr>
                      <a:r>
                        <a:rPr lang="en-ID" sz="2400" dirty="0">
                          <a:effectLst/>
                        </a:rPr>
                        <a:t>Pisang</a:t>
                      </a:r>
                      <a:endParaRPr lang="en-ID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44394217"/>
                  </a:ext>
                </a:extLst>
              </a:tr>
              <a:tr h="442671">
                <a:tc>
                  <a:txBody>
                    <a:bodyPr/>
                    <a:lstStyle/>
                    <a:p>
                      <a:pPr marL="36195" marR="36195" algn="ctr">
                        <a:buNone/>
                      </a:pPr>
                      <a:r>
                        <a:rPr lang="en-ID" sz="2400">
                          <a:effectLst/>
                        </a:rPr>
                        <a:t>🍊</a:t>
                      </a:r>
                      <a:endParaRPr lang="en-ID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36195" marR="36195" algn="ctr">
                        <a:buNone/>
                      </a:pPr>
                      <a:r>
                        <a:rPr lang="en-ID" sz="2400" dirty="0" err="1">
                          <a:effectLst/>
                        </a:rPr>
                        <a:t>Jeruk</a:t>
                      </a:r>
                      <a:endParaRPr lang="en-ID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6751470"/>
                  </a:ext>
                </a:extLst>
              </a:tr>
            </a:tbl>
          </a:graphicData>
        </a:graphic>
      </p:graphicFrame>
      <p:grpSp>
        <p:nvGrpSpPr>
          <p:cNvPr id="32" name="Group 31">
            <a:extLst>
              <a:ext uri="{FF2B5EF4-FFF2-40B4-BE49-F238E27FC236}">
                <a16:creationId xmlns:a16="http://schemas.microsoft.com/office/drawing/2014/main" id="{3F33F5F0-3167-AA99-E19C-947AB39FCB12}"/>
              </a:ext>
            </a:extLst>
          </p:cNvPr>
          <p:cNvGrpSpPr/>
          <p:nvPr/>
        </p:nvGrpSpPr>
        <p:grpSpPr>
          <a:xfrm>
            <a:off x="10591800" y="6317395"/>
            <a:ext cx="4953000" cy="2663666"/>
            <a:chOff x="0" y="0"/>
            <a:chExt cx="3464468" cy="1646024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261EA9BA-FFE1-EAF0-B8E1-BC7C6D34CC55}"/>
                </a:ext>
              </a:extLst>
            </p:cNvPr>
            <p:cNvSpPr/>
            <p:nvPr/>
          </p:nvSpPr>
          <p:spPr>
            <a:xfrm>
              <a:off x="0" y="417443"/>
              <a:ext cx="1203158" cy="885524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6195" marR="36195" algn="ctr">
                <a:buNone/>
              </a:pPr>
              <a:r>
                <a:rPr lang="en-US" sz="2000" b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AI</a:t>
              </a:r>
              <a:endParaRPr lang="en-ID" sz="120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AD891DC6-7CC5-49ED-D73B-5AD7CC0D53D4}"/>
                </a:ext>
              </a:extLst>
            </p:cNvPr>
            <p:cNvSpPr/>
            <p:nvPr/>
          </p:nvSpPr>
          <p:spPr>
            <a:xfrm>
              <a:off x="1808922" y="0"/>
              <a:ext cx="1655546" cy="42351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6195" marR="36195" algn="ctr">
                <a:buNone/>
              </a:pPr>
              <a:r>
                <a:rPr lang="en-US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Sering </a:t>
              </a:r>
              <a:r>
                <a:rPr lang="en-US" dirty="0" err="1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Belanja</a:t>
              </a:r>
              <a:endParaRPr lang="en-ID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5EA45437-013F-7F2D-F474-8587FFFE3A8C}"/>
                </a:ext>
              </a:extLst>
            </p:cNvPr>
            <p:cNvSpPr/>
            <p:nvPr/>
          </p:nvSpPr>
          <p:spPr>
            <a:xfrm>
              <a:off x="1808922" y="596347"/>
              <a:ext cx="1655546" cy="42351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6195" marR="36195" algn="ctr">
                <a:buNone/>
              </a:pPr>
              <a:r>
                <a:rPr lang="en-US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Jarang Belanja</a:t>
              </a:r>
              <a:endParaRPr lang="en-ID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EFE5EB3C-B5EB-97A0-34F2-BBA9B2B8CC5E}"/>
                </a:ext>
              </a:extLst>
            </p:cNvPr>
            <p:cNvSpPr/>
            <p:nvPr/>
          </p:nvSpPr>
          <p:spPr>
            <a:xfrm>
              <a:off x="1808922" y="1222513"/>
              <a:ext cx="1655546" cy="423511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6195" marR="36195" algn="ctr">
                <a:buNone/>
              </a:pPr>
              <a:r>
                <a:rPr lang="en-US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Belanja saat Diskon</a:t>
              </a:r>
              <a:endParaRPr lang="en-ID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46DC144-5E03-A985-AEED-9494D83F4202}"/>
                </a:ext>
              </a:extLst>
            </p:cNvPr>
            <p:cNvCxnSpPr/>
            <p:nvPr/>
          </p:nvCxnSpPr>
          <p:spPr>
            <a:xfrm flipV="1">
              <a:off x="1199874" y="261178"/>
              <a:ext cx="609466" cy="59974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089E28C-C932-0584-42BE-01817C112A7E}"/>
                </a:ext>
              </a:extLst>
            </p:cNvPr>
            <p:cNvCxnSpPr/>
            <p:nvPr/>
          </p:nvCxnSpPr>
          <p:spPr>
            <a:xfrm>
              <a:off x="1199874" y="861943"/>
              <a:ext cx="609466" cy="63637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2E9502E-CAC9-A0C3-84BF-F99E4D2C75B7}"/>
                </a:ext>
              </a:extLst>
            </p:cNvPr>
            <p:cNvCxnSpPr/>
            <p:nvPr/>
          </p:nvCxnSpPr>
          <p:spPr>
            <a:xfrm flipV="1">
              <a:off x="1209813" y="803413"/>
              <a:ext cx="606726" cy="566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45D6D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07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5D6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8382000" y="1428750"/>
            <a:ext cx="8953500" cy="6191250"/>
          </a:xfrm>
          <a:custGeom>
            <a:avLst/>
            <a:gdLst/>
            <a:ahLst/>
            <a:cxnLst/>
            <a:rect l="l" t="t" r="r" b="b"/>
            <a:pathLst>
              <a:path w="8953500" h="6191250">
                <a:moveTo>
                  <a:pt x="0" y="0"/>
                </a:moveTo>
                <a:lnTo>
                  <a:pt x="8953500" y="0"/>
                </a:lnTo>
                <a:lnTo>
                  <a:pt x="89535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65" r="-11465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14400" y="1476375"/>
            <a:ext cx="7239000" cy="1513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1"/>
              </a:lnSpc>
            </a:pPr>
            <a:r>
              <a:rPr lang="en-US" sz="57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Deep Learning:</a:t>
            </a:r>
          </a:p>
          <a:p>
            <a:pPr algn="l">
              <a:lnSpc>
                <a:spcPts val="5871"/>
              </a:lnSpc>
            </a:pPr>
            <a:r>
              <a:rPr lang="en-US" sz="57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Belajar Lebih Dalam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3448050"/>
            <a:ext cx="6381750" cy="693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Menggunakan jaringan saraf tiruan berlapis-lapis untuk memahami pola yang kompleks.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4400" y="7991475"/>
            <a:ext cx="4476750" cy="1714500"/>
            <a:chOff x="0" y="0"/>
            <a:chExt cx="5969000" cy="228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969000" cy="2286000"/>
            </a:xfrm>
            <a:custGeom>
              <a:avLst/>
              <a:gdLst/>
              <a:ahLst/>
              <a:cxnLst/>
              <a:rect l="l" t="t" r="r" b="b"/>
              <a:pathLst>
                <a:path w="5969000" h="2286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2237362"/>
                  </a:lnTo>
                  <a:cubicBezTo>
                    <a:pt x="5969000" y="2250261"/>
                    <a:pt x="5963876" y="2262633"/>
                    <a:pt x="5954754" y="2271754"/>
                  </a:cubicBezTo>
                  <a:cubicBezTo>
                    <a:pt x="5945633" y="2280876"/>
                    <a:pt x="5933261" y="2286000"/>
                    <a:pt x="5920362" y="2286000"/>
                  </a:cubicBezTo>
                  <a:lnTo>
                    <a:pt x="48638" y="2286000"/>
                  </a:lnTo>
                  <a:cubicBezTo>
                    <a:pt x="35739" y="2286000"/>
                    <a:pt x="23367" y="2280876"/>
                    <a:pt x="14246" y="2271754"/>
                  </a:cubicBezTo>
                  <a:cubicBezTo>
                    <a:pt x="5124" y="2262633"/>
                    <a:pt x="0" y="2250261"/>
                    <a:pt x="0" y="2237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9B8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5969000" cy="227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762250" y="6238875"/>
            <a:ext cx="3714750" cy="1524000"/>
            <a:chOff x="0" y="0"/>
            <a:chExt cx="4953000" cy="2032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53000" cy="2032000"/>
            </a:xfrm>
            <a:custGeom>
              <a:avLst/>
              <a:gdLst/>
              <a:ahLst/>
              <a:cxnLst/>
              <a:rect l="l" t="t" r="r" b="b"/>
              <a:pathLst>
                <a:path w="4953000" h="2032000">
                  <a:moveTo>
                    <a:pt x="58615" y="0"/>
                  </a:moveTo>
                  <a:lnTo>
                    <a:pt x="4894385" y="0"/>
                  </a:lnTo>
                  <a:cubicBezTo>
                    <a:pt x="4926757" y="0"/>
                    <a:pt x="4953000" y="26243"/>
                    <a:pt x="4953000" y="58615"/>
                  </a:cubicBezTo>
                  <a:lnTo>
                    <a:pt x="4953000" y="1973385"/>
                  </a:lnTo>
                  <a:cubicBezTo>
                    <a:pt x="4953000" y="2005757"/>
                    <a:pt x="4926757" y="2032000"/>
                    <a:pt x="4894385" y="2032000"/>
                  </a:cubicBezTo>
                  <a:lnTo>
                    <a:pt x="58615" y="2032000"/>
                  </a:lnTo>
                  <a:cubicBezTo>
                    <a:pt x="26243" y="2032000"/>
                    <a:pt x="0" y="2005757"/>
                    <a:pt x="0" y="1973385"/>
                  </a:cubicBezTo>
                  <a:lnTo>
                    <a:pt x="0" y="58615"/>
                  </a:lnTo>
                  <a:cubicBezTo>
                    <a:pt x="0" y="26243"/>
                    <a:pt x="26243" y="0"/>
                    <a:pt x="58615" y="0"/>
                  </a:cubicBezTo>
                  <a:close/>
                </a:path>
              </a:pathLst>
            </a:custGeom>
            <a:solidFill>
              <a:srgbClr val="45D6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9525"/>
              <a:ext cx="4953000" cy="2022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Machine Learning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808278" y="4674072"/>
            <a:ext cx="2952750" cy="1333500"/>
            <a:chOff x="0" y="0"/>
            <a:chExt cx="3937000" cy="1778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937000" cy="1778000"/>
            </a:xfrm>
            <a:custGeom>
              <a:avLst/>
              <a:gdLst/>
              <a:ahLst/>
              <a:cxnLst/>
              <a:rect l="l" t="t" r="r" b="b"/>
              <a:pathLst>
                <a:path w="3937000" h="1778000">
                  <a:moveTo>
                    <a:pt x="73742" y="0"/>
                  </a:moveTo>
                  <a:lnTo>
                    <a:pt x="3863258" y="0"/>
                  </a:lnTo>
                  <a:cubicBezTo>
                    <a:pt x="3882816" y="0"/>
                    <a:pt x="3901572" y="7769"/>
                    <a:pt x="3915401" y="21599"/>
                  </a:cubicBezTo>
                  <a:cubicBezTo>
                    <a:pt x="3929231" y="35428"/>
                    <a:pt x="3937000" y="54184"/>
                    <a:pt x="3937000" y="73742"/>
                  </a:cubicBezTo>
                  <a:lnTo>
                    <a:pt x="3937000" y="1704258"/>
                  </a:lnTo>
                  <a:cubicBezTo>
                    <a:pt x="3937000" y="1723816"/>
                    <a:pt x="3929231" y="1742572"/>
                    <a:pt x="3915401" y="1756402"/>
                  </a:cubicBezTo>
                  <a:cubicBezTo>
                    <a:pt x="3901572" y="1770231"/>
                    <a:pt x="3882816" y="1778000"/>
                    <a:pt x="3863258" y="1778000"/>
                  </a:cubicBezTo>
                  <a:lnTo>
                    <a:pt x="73742" y="1778000"/>
                  </a:lnTo>
                  <a:cubicBezTo>
                    <a:pt x="54184" y="1778000"/>
                    <a:pt x="35428" y="1770231"/>
                    <a:pt x="21599" y="1756402"/>
                  </a:cubicBezTo>
                  <a:cubicBezTo>
                    <a:pt x="7769" y="1742572"/>
                    <a:pt x="0" y="1723816"/>
                    <a:pt x="0" y="1704258"/>
                  </a:cubicBezTo>
                  <a:lnTo>
                    <a:pt x="0" y="73742"/>
                  </a:lnTo>
                  <a:cubicBezTo>
                    <a:pt x="0" y="54184"/>
                    <a:pt x="7769" y="35428"/>
                    <a:pt x="21599" y="21599"/>
                  </a:cubicBezTo>
                  <a:cubicBezTo>
                    <a:pt x="35428" y="7769"/>
                    <a:pt x="54184" y="0"/>
                    <a:pt x="73742" y="0"/>
                  </a:cubicBezTo>
                  <a:close/>
                </a:path>
              </a:pathLst>
            </a:custGeom>
            <a:solidFill>
              <a:srgbClr val="FFD1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3937000" cy="1768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65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Deep Learning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45D6D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07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5D6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1476375"/>
            <a:ext cx="6324600" cy="3783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71"/>
              </a:lnSpc>
            </a:pPr>
            <a:r>
              <a:rPr lang="en-US" sz="5700" dirty="0" err="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Perbandingan</a:t>
            </a:r>
            <a:r>
              <a:rPr lang="en-US" sz="5700" dirty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 Machine Learning dan </a:t>
            </a:r>
          </a:p>
          <a:p>
            <a:pPr algn="l">
              <a:lnSpc>
                <a:spcPts val="5871"/>
              </a:lnSpc>
            </a:pPr>
            <a:r>
              <a:rPr lang="en-US" sz="5700" dirty="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Deep Learning:</a:t>
            </a:r>
          </a:p>
          <a:p>
            <a:pPr algn="l">
              <a:lnSpc>
                <a:spcPts val="5871"/>
              </a:lnSpc>
            </a:pPr>
            <a:endParaRPr lang="en-US" sz="5700" dirty="0">
              <a:solidFill>
                <a:srgbClr val="FFFFF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A2DD02-BC9D-68AF-D58D-1453AD8F4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53" t="13943" r="32353" b="12854"/>
          <a:stretch>
            <a:fillRect/>
          </a:stretch>
        </p:blipFill>
        <p:spPr>
          <a:xfrm>
            <a:off x="8763000" y="-25403"/>
            <a:ext cx="8839200" cy="103124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45D6D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08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5D6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8286750" y="1047750"/>
            <a:ext cx="9048750" cy="7620000"/>
          </a:xfrm>
          <a:custGeom>
            <a:avLst/>
            <a:gdLst/>
            <a:ahLst/>
            <a:cxnLst/>
            <a:rect l="l" t="t" r="r" b="b"/>
            <a:pathLst>
              <a:path w="9048750" h="7620000">
                <a:moveTo>
                  <a:pt x="0" y="0"/>
                </a:moveTo>
                <a:lnTo>
                  <a:pt x="9048750" y="0"/>
                </a:lnTo>
                <a:lnTo>
                  <a:pt x="9048750" y="7620000"/>
                </a:lnTo>
                <a:lnTo>
                  <a:pt x="0" y="762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853" r="-24853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14400" y="1457325"/>
            <a:ext cx="66675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Generative AI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2495550"/>
            <a:ext cx="6191250" cy="92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8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AI yang menciptakan konten baru—bukan sekadar memilih jawaban.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4991100"/>
            <a:ext cx="6191250" cy="804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FFD166"/>
                </a:solidFill>
                <a:latin typeface="Fredoka"/>
                <a:ea typeface="Fredoka"/>
                <a:cs typeface="Fredoka"/>
                <a:sym typeface="Fredoka"/>
              </a:rPr>
              <a:t>TEKS  •  GAMBAR  •  VIDEO</a:t>
            </a:r>
          </a:p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FFD166"/>
                </a:solidFill>
                <a:latin typeface="Fredoka"/>
                <a:ea typeface="Fredoka"/>
                <a:cs typeface="Fredoka"/>
                <a:sym typeface="Fredoka"/>
              </a:rPr>
              <a:t>SUARA  •  KODE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7191375"/>
            <a:ext cx="6191250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45D6D3"/>
                </a:solidFill>
                <a:latin typeface="Nunito Sans"/>
                <a:ea typeface="Nunito Sans"/>
                <a:cs typeface="Nunito Sans"/>
                <a:sym typeface="Nunito Sans"/>
              </a:rPr>
              <a:t>Contoh: ChatGPT, Adobe Firefly, Microsoft Copilot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9B8C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09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B8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1266825"/>
            <a:ext cx="85725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Prompt Engineering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2066925"/>
            <a:ext cx="904875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Cara memberi instruksi agar AI memahami tujuan kita.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" y="3238500"/>
            <a:ext cx="7791450" cy="3714750"/>
            <a:chOff x="0" y="0"/>
            <a:chExt cx="10388600" cy="4953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0388600" cy="4953000"/>
              <a:chOff x="0" y="0"/>
              <a:chExt cx="10388600" cy="4953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03886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10388600" h="4953000">
                    <a:moveTo>
                      <a:pt x="0" y="0"/>
                    </a:moveTo>
                    <a:lnTo>
                      <a:pt x="10388600" y="0"/>
                    </a:lnTo>
                    <a:lnTo>
                      <a:pt x="103886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FFF0E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03886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35000" y="342900"/>
              <a:ext cx="8890000" cy="353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 b="1" spc="157">
                  <a:solidFill>
                    <a:srgbClr val="FF6B6B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KURANG BAIK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5000" y="1168400"/>
              <a:ext cx="8890000" cy="544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2"/>
                </a:lnSpc>
              </a:pPr>
              <a:r>
                <a:rPr lang="en-US" sz="255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“Buat program luas lingkaran.”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82150" y="3238500"/>
            <a:ext cx="7791450" cy="3714750"/>
            <a:chOff x="0" y="0"/>
            <a:chExt cx="10388600" cy="4953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0388600" cy="4953000"/>
              <a:chOff x="0" y="0"/>
              <a:chExt cx="10388600" cy="4953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3886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10388600" h="4953000">
                    <a:moveTo>
                      <a:pt x="0" y="0"/>
                    </a:moveTo>
                    <a:lnTo>
                      <a:pt x="10388600" y="0"/>
                    </a:lnTo>
                    <a:lnTo>
                      <a:pt x="103886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DFF8F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03886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35000" y="342900"/>
              <a:ext cx="8890000" cy="353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04"/>
                </a:lnSpc>
              </a:pPr>
              <a:r>
                <a:rPr lang="en-US" sz="1575" b="1" spc="157">
                  <a:solidFill>
                    <a:srgbClr val="11847C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LEBIH BAIK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000" y="1168400"/>
              <a:ext cx="8890000" cy="16878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42"/>
                </a:lnSpc>
              </a:pPr>
              <a:r>
                <a:rPr lang="en-US" sz="2550">
                  <a:solidFill>
                    <a:srgbClr val="252044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“Buat program Python yang meminta input jari-jari, menghitung luas lingkaran, lalu menampilkan hasil 2 angka desimal.”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714500" y="7810500"/>
            <a:ext cx="14859000" cy="348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>
                <a:solidFill>
                  <a:srgbClr val="9B8CFF"/>
                </a:solidFill>
                <a:latin typeface="Fredoka"/>
                <a:ea typeface="Fredoka"/>
                <a:cs typeface="Fredoka"/>
                <a:sym typeface="Fredoka"/>
              </a:rPr>
              <a:t>JELAS  •  TUJUAN  •  KONTEKS  •  BATASAN  •  FORMAT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9B8CFF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10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9B8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1266825"/>
            <a:ext cx="9525000" cy="69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>
                <a:solidFill>
                  <a:srgbClr val="252044"/>
                </a:solidFill>
                <a:latin typeface="Fredoka"/>
                <a:ea typeface="Fredoka"/>
                <a:cs typeface="Fredoka"/>
                <a:sym typeface="Fredoka"/>
              </a:rPr>
              <a:t>Etika Penggunaan 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2066925"/>
            <a:ext cx="10477500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AI yang </a:t>
            </a:r>
            <a:r>
              <a:rPr lang="en-US" sz="2100" dirty="0" err="1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hebat</a:t>
            </a:r>
            <a:r>
              <a: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100" dirty="0" err="1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tetap</a:t>
            </a:r>
            <a:r>
              <a: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100" dirty="0" err="1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membutuhkan</a:t>
            </a:r>
            <a:r>
              <a: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100" dirty="0" err="1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manusia</a:t>
            </a:r>
            <a:r>
              <a: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 yang </a:t>
            </a:r>
            <a:r>
              <a:rPr lang="en-US" sz="2100" dirty="0" err="1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bertanggung</a:t>
            </a:r>
            <a:r>
              <a: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 </a:t>
            </a:r>
            <a:r>
              <a:rPr lang="en-US" sz="2100" dirty="0" err="1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jawab</a:t>
            </a:r>
            <a:r>
              <a:rPr lang="en-US" sz="2100" dirty="0">
                <a:solidFill>
                  <a:srgbClr val="252044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" y="3333750"/>
            <a:ext cx="5048250" cy="2000250"/>
            <a:chOff x="0" y="0"/>
            <a:chExt cx="6731000" cy="2667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6731000" cy="2667000"/>
              <a:chOff x="0" y="0"/>
              <a:chExt cx="6731000" cy="2667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731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2667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6B6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67310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31800" y="279400"/>
              <a:ext cx="889000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87500" y="558800"/>
              <a:ext cx="46355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Jaga data pribadi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38900" y="3333750"/>
            <a:ext cx="5048250" cy="2000250"/>
            <a:chOff x="0" y="0"/>
            <a:chExt cx="6731000" cy="2667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731000" cy="2667000"/>
              <a:chOff x="0" y="0"/>
              <a:chExt cx="6731000" cy="2667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731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2667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45D6D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67310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31800" y="279400"/>
              <a:ext cx="889000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87500" y="558800"/>
              <a:ext cx="46355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Hindari plagiarisme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963400" y="3333750"/>
            <a:ext cx="5048250" cy="2000250"/>
            <a:chOff x="0" y="0"/>
            <a:chExt cx="6731000" cy="26670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6731000" cy="2667000"/>
              <a:chOff x="0" y="0"/>
              <a:chExt cx="6731000" cy="2667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731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2667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D16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67310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431800" y="279400"/>
              <a:ext cx="889000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87500" y="558800"/>
              <a:ext cx="46355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Cek ulang hasil AI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4400" y="5857875"/>
            <a:ext cx="5048250" cy="2000250"/>
            <a:chOff x="0" y="0"/>
            <a:chExt cx="6731000" cy="266700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6731000" cy="2667000"/>
              <a:chOff x="0" y="0"/>
              <a:chExt cx="6731000" cy="2667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731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2667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9B8C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67310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31800" y="279400"/>
              <a:ext cx="889000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87500" y="558800"/>
              <a:ext cx="4635500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Gunakan sumber terpercaya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38900" y="5857875"/>
            <a:ext cx="5048250" cy="2000250"/>
            <a:chOff x="0" y="0"/>
            <a:chExt cx="6731000" cy="2667000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6731000" cy="2667000"/>
              <a:chOff x="0" y="0"/>
              <a:chExt cx="6731000" cy="26670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6731000" cy="2667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2667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2667000"/>
                    </a:lnTo>
                    <a:lnTo>
                      <a:pt x="0" y="2667000"/>
                    </a:lnTo>
                    <a:close/>
                  </a:path>
                </a:pathLst>
              </a:custGeom>
              <a:solidFill>
                <a:srgbClr val="FF6B6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6731000" cy="270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431800" y="279400"/>
              <a:ext cx="889000" cy="838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en-US" sz="3750">
                  <a:solidFill>
                    <a:srgbClr val="FFFFFF"/>
                  </a:solidFill>
                  <a:latin typeface="Fredoka"/>
                  <a:ea typeface="Fredoka"/>
                  <a:cs typeface="Fredoka"/>
                  <a:sym typeface="Fredoka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87500" y="558800"/>
              <a:ext cx="4635500" cy="462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Hindari hoaks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381000"/>
            <a:ext cx="1714500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AI 101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621125" y="409575"/>
            <a:ext cx="7620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1">
                <a:solidFill>
                  <a:srgbClr val="45D6D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11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14400" y="781050"/>
            <a:ext cx="16459200" cy="38100"/>
            <a:chOff x="0" y="0"/>
            <a:chExt cx="21945600" cy="50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50800"/>
            </a:xfrm>
            <a:custGeom>
              <a:avLst/>
              <a:gdLst/>
              <a:ahLst/>
              <a:cxnLst/>
              <a:rect l="l" t="t" r="r" b="b"/>
              <a:pathLst>
                <a:path w="21945600" h="50800">
                  <a:moveTo>
                    <a:pt x="0" y="0"/>
                  </a:moveTo>
                  <a:lnTo>
                    <a:pt x="21945600" y="0"/>
                  </a:lnTo>
                  <a:lnTo>
                    <a:pt x="219456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45D6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88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400" y="1257300"/>
            <a:ext cx="285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45D6D3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REFLEKSI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1895475"/>
            <a:ext cx="8572500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Bagaimana kamu</a:t>
            </a:r>
          </a:p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mengelompokkan AI?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3962400"/>
            <a:ext cx="7239000" cy="757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Buat daftar contoh yang sudah dibahas, lalu kelompokkan berdasarkan karakteristiknya.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53500" y="1524000"/>
            <a:ext cx="3333750" cy="1619250"/>
            <a:chOff x="0" y="0"/>
            <a:chExt cx="4445000" cy="2159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93686"/>
                  </a:lnTo>
                  <a:cubicBezTo>
                    <a:pt x="4445000" y="2111008"/>
                    <a:pt x="4438119" y="2127621"/>
                    <a:pt x="4425870" y="2139870"/>
                  </a:cubicBezTo>
                  <a:cubicBezTo>
                    <a:pt x="4413621" y="2152119"/>
                    <a:pt x="4397008" y="2159000"/>
                    <a:pt x="4379686" y="2159000"/>
                  </a:cubicBezTo>
                  <a:lnTo>
                    <a:pt x="65314" y="2159000"/>
                  </a:lnTo>
                  <a:cubicBezTo>
                    <a:pt x="47992" y="2159000"/>
                    <a:pt x="31379" y="2152119"/>
                    <a:pt x="19130" y="2139870"/>
                  </a:cubicBezTo>
                  <a:cubicBezTo>
                    <a:pt x="6881" y="2127621"/>
                    <a:pt x="0" y="2111008"/>
                    <a:pt x="0" y="2093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FF6B6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4445000" cy="213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 NON-AI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763500" y="1524000"/>
            <a:ext cx="3333750" cy="1619250"/>
            <a:chOff x="0" y="0"/>
            <a:chExt cx="4445000" cy="2159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93686"/>
                  </a:lnTo>
                  <a:cubicBezTo>
                    <a:pt x="4445000" y="2111008"/>
                    <a:pt x="4438119" y="2127621"/>
                    <a:pt x="4425870" y="2139870"/>
                  </a:cubicBezTo>
                  <a:cubicBezTo>
                    <a:pt x="4413621" y="2152119"/>
                    <a:pt x="4397008" y="2159000"/>
                    <a:pt x="4379686" y="2159000"/>
                  </a:cubicBezTo>
                  <a:lnTo>
                    <a:pt x="65314" y="2159000"/>
                  </a:lnTo>
                  <a:cubicBezTo>
                    <a:pt x="47992" y="2159000"/>
                    <a:pt x="31379" y="2152119"/>
                    <a:pt x="19130" y="2139870"/>
                  </a:cubicBezTo>
                  <a:cubicBezTo>
                    <a:pt x="6881" y="2127621"/>
                    <a:pt x="0" y="2111008"/>
                    <a:pt x="0" y="2093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45D6D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050"/>
              <a:ext cx="4445000" cy="213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 AI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53500" y="3810000"/>
            <a:ext cx="3333750" cy="1619250"/>
            <a:chOff x="0" y="0"/>
            <a:chExt cx="4445000" cy="2159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93686"/>
                  </a:lnTo>
                  <a:cubicBezTo>
                    <a:pt x="4445000" y="2111008"/>
                    <a:pt x="4438119" y="2127621"/>
                    <a:pt x="4425870" y="2139870"/>
                  </a:cubicBezTo>
                  <a:cubicBezTo>
                    <a:pt x="4413621" y="2152119"/>
                    <a:pt x="4397008" y="2159000"/>
                    <a:pt x="4379686" y="2159000"/>
                  </a:cubicBezTo>
                  <a:lnTo>
                    <a:pt x="65314" y="2159000"/>
                  </a:lnTo>
                  <a:cubicBezTo>
                    <a:pt x="47992" y="2159000"/>
                    <a:pt x="31379" y="2152119"/>
                    <a:pt x="19130" y="2139870"/>
                  </a:cubicBezTo>
                  <a:cubicBezTo>
                    <a:pt x="6881" y="2127621"/>
                    <a:pt x="0" y="2111008"/>
                    <a:pt x="0" y="2093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FFD1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4445000" cy="213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 MACHINE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LEARNING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763500" y="3810000"/>
            <a:ext cx="3333750" cy="1619250"/>
            <a:chOff x="0" y="0"/>
            <a:chExt cx="4445000" cy="21590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93686"/>
                  </a:lnTo>
                  <a:cubicBezTo>
                    <a:pt x="4445000" y="2111008"/>
                    <a:pt x="4438119" y="2127621"/>
                    <a:pt x="4425870" y="2139870"/>
                  </a:cubicBezTo>
                  <a:cubicBezTo>
                    <a:pt x="4413621" y="2152119"/>
                    <a:pt x="4397008" y="2159000"/>
                    <a:pt x="4379686" y="2159000"/>
                  </a:cubicBezTo>
                  <a:lnTo>
                    <a:pt x="65314" y="2159000"/>
                  </a:lnTo>
                  <a:cubicBezTo>
                    <a:pt x="47992" y="2159000"/>
                    <a:pt x="31379" y="2152119"/>
                    <a:pt x="19130" y="2139870"/>
                  </a:cubicBezTo>
                  <a:cubicBezTo>
                    <a:pt x="6881" y="2127621"/>
                    <a:pt x="0" y="2111008"/>
                    <a:pt x="0" y="2093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9B8C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9050"/>
              <a:ext cx="4445000" cy="213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 DEEP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LEARNING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953500" y="6096000"/>
            <a:ext cx="3333750" cy="1619250"/>
            <a:chOff x="0" y="0"/>
            <a:chExt cx="4445000" cy="21590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445000" cy="2159000"/>
            </a:xfrm>
            <a:custGeom>
              <a:avLst/>
              <a:gdLst/>
              <a:ahLst/>
              <a:cxnLst/>
              <a:rect l="l" t="t" r="r" b="b"/>
              <a:pathLst>
                <a:path w="4445000" h="2159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093686"/>
                  </a:lnTo>
                  <a:cubicBezTo>
                    <a:pt x="4445000" y="2111008"/>
                    <a:pt x="4438119" y="2127621"/>
                    <a:pt x="4425870" y="2139870"/>
                  </a:cubicBezTo>
                  <a:cubicBezTo>
                    <a:pt x="4413621" y="2152119"/>
                    <a:pt x="4397008" y="2159000"/>
                    <a:pt x="4379686" y="2159000"/>
                  </a:cubicBezTo>
                  <a:lnTo>
                    <a:pt x="65314" y="2159000"/>
                  </a:lnTo>
                  <a:cubicBezTo>
                    <a:pt x="47992" y="2159000"/>
                    <a:pt x="31379" y="2152119"/>
                    <a:pt x="19130" y="2139870"/>
                  </a:cubicBezTo>
                  <a:cubicBezTo>
                    <a:pt x="6881" y="2127621"/>
                    <a:pt x="0" y="2111008"/>
                    <a:pt x="0" y="2093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9050"/>
              <a:ext cx="4445000" cy="213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□  GENERATIVE</a:t>
              </a:r>
            </a:p>
            <a:p>
              <a:pPr algn="ctr">
                <a:lnSpc>
                  <a:spcPts val="2070"/>
                </a:lnSpc>
              </a:pPr>
              <a:r>
                <a:rPr lang="en-US" sz="1800" b="1">
                  <a:solidFill>
                    <a:srgbClr val="252044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AI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43F">
                <a:alpha val="27843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2476500"/>
            <a:ext cx="8096250" cy="2339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10"/>
              </a:lnSpc>
            </a:pPr>
            <a:r>
              <a:rPr lang="en-US" sz="9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Terima</a:t>
            </a:r>
          </a:p>
          <a:p>
            <a:pPr algn="l">
              <a:lnSpc>
                <a:spcPts val="8910"/>
              </a:lnSpc>
            </a:pPr>
            <a:r>
              <a:rPr lang="en-US" sz="9900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Kasih!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4743450"/>
            <a:ext cx="7239000" cy="37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Terima kasih atas perhatian dan partisipasi kalian.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" y="6591300"/>
            <a:ext cx="6191250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FFD166"/>
                </a:solidFill>
                <a:latin typeface="Fredoka"/>
                <a:ea typeface="Fredoka"/>
                <a:cs typeface="Fredoka"/>
                <a:sym typeface="Fredoka"/>
              </a:rPr>
              <a:t>Ada pertanyaan?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8782050"/>
            <a:ext cx="47625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5D6D3"/>
                </a:solidFill>
                <a:latin typeface="Nunito Sans"/>
                <a:ea typeface="Nunito Sans"/>
                <a:cs typeface="Nunito Sans"/>
                <a:sym typeface="Nunito Sans"/>
              </a:rPr>
              <a:t>Selamat belajar AI!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2104</TotalTime>
  <Words>711</Words>
  <Application>Microsoft Macintosh PowerPoint</Application>
  <PresentationFormat>Custom</PresentationFormat>
  <Paragraphs>165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Nunito Sans Bold</vt:lpstr>
      <vt:lpstr>Calibri</vt:lpstr>
      <vt:lpstr>Arial</vt:lpstr>
      <vt:lpstr>Times New Roman</vt:lpstr>
      <vt:lpstr>Fredoka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Learning: Belajar Lebih Dalam</dc:title>
  <cp:lastModifiedBy>ibnu allika prabo warasto</cp:lastModifiedBy>
  <cp:revision>3</cp:revision>
  <dcterms:created xsi:type="dcterms:W3CDTF">2006-08-16T00:00:00Z</dcterms:created>
  <dcterms:modified xsi:type="dcterms:W3CDTF">2026-09-02T06:37:05Z</dcterms:modified>
  <dc:identifier>DAHT44zeZq4</dc:identifier>
</cp:coreProperties>
</file>