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6" r:id="rId13"/>
    <p:sldId id="267" r:id="rId14"/>
    <p:sldId id="268" r:id="rId15"/>
    <p:sldId id="275" r:id="rId16"/>
    <p:sldId id="269" r:id="rId17"/>
    <p:sldId id="270" r:id="rId18"/>
    <p:sldId id="271" r:id="rId19"/>
    <p:sldId id="272" r:id="rId20"/>
    <p:sldId id="273" r:id="rId21"/>
    <p:sldId id="277" r:id="rId22"/>
  </p:sldIdLst>
  <p:sldSz cx="18288000" cy="10287000"/>
  <p:notesSz cx="6858000" cy="9144000"/>
  <p:embeddedFontLst>
    <p:embeddedFont>
      <p:font typeface="Archivo Black" panose="020B0A03020202020B04" pitchFamily="34" charset="77"/>
      <p:regular r:id="rId23"/>
    </p:embeddedFont>
    <p:embeddedFont>
      <p:font typeface="Bricolage Grotesque Bold" panose="020B0605040402000204" pitchFamily="34" charset="0"/>
      <p:regular r:id="rId24"/>
      <p:bold r:id="rId25"/>
    </p:embeddedFont>
    <p:embeddedFont>
      <p:font typeface="DM Sans" pitchFamily="2" charset="77"/>
      <p:regular r:id="rId26"/>
    </p:embeddedFont>
    <p:embeddedFont>
      <p:font typeface="DM Sans Bold" pitchFamily="2" charset="77"/>
      <p:regular r:id="rId27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 autoAdjust="0"/>
    <p:restoredTop sz="94656" autoAdjust="0"/>
  </p:normalViewPr>
  <p:slideViewPr>
    <p:cSldViewPr>
      <p:cViewPr>
        <p:scale>
          <a:sx n="99" d="100"/>
          <a:sy n="99" d="100"/>
        </p:scale>
        <p:origin x="144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tLaIdEedoU4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B1930">
                <a:alpha val="5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2500" y="1428750"/>
            <a:ext cx="152400" cy="6667500"/>
            <a:chOff x="0" y="0"/>
            <a:chExt cx="203200" cy="889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3200" cy="8890000"/>
            </a:xfrm>
            <a:custGeom>
              <a:avLst/>
              <a:gdLst/>
              <a:ahLst/>
              <a:cxnLst/>
              <a:rect l="l" t="t" r="r" b="b"/>
              <a:pathLst>
                <a:path w="203200" h="8890000">
                  <a:moveTo>
                    <a:pt x="0" y="0"/>
                  </a:moveTo>
                  <a:lnTo>
                    <a:pt x="203200" y="0"/>
                  </a:lnTo>
                  <a:lnTo>
                    <a:pt x="203200" y="8890000"/>
                  </a:lnTo>
                  <a:lnTo>
                    <a:pt x="0" y="8890000"/>
                  </a:lnTo>
                  <a:close/>
                </a:path>
              </a:pathLst>
            </a:custGeom>
            <a:solidFill>
              <a:srgbClr val="FFC85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03200" cy="892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8750" y="1495425"/>
            <a:ext cx="6667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SELAMAT DATANG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8750" y="2343150"/>
            <a:ext cx="10915650" cy="2591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32"/>
              </a:lnSpc>
            </a:pPr>
            <a:r>
              <a:rPr lang="en-US" sz="66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Memahami</a:t>
            </a:r>
            <a:r>
              <a:rPr lang="en-US" sz="66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Mesin</a:t>
            </a:r>
            <a:r>
              <a:rPr lang="en-US" sz="66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Pencari</a:t>
            </a:r>
            <a:r>
              <a:rPr lang="en-US" sz="66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, AI, dan </a:t>
            </a:r>
            <a:r>
              <a:rPr lang="en-US" sz="66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Mengevaluasi</a:t>
            </a:r>
            <a:r>
              <a:rPr lang="en-US" sz="66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Sumber</a:t>
            </a:r>
            <a:r>
              <a:rPr lang="en-US" sz="66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Informasi</a:t>
            </a:r>
            <a:endParaRPr lang="en-US" sz="6600" b="1" dirty="0">
              <a:solidFill>
                <a:srgbClr val="FFFFFF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428750" y="5391150"/>
            <a:ext cx="7524750" cy="702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Belajar mencari, memeriksa, dan menggunakan informasi secara bertanggung jawab.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8750" y="7496175"/>
            <a:ext cx="9906000" cy="664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TUJUAN HARI INI  →  bukan sekadar menemukan jawaban, tetapi menilai apakah jawaban itu layak dipercaya.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Praktik pedagogis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952500" y="2686050"/>
            <a:ext cx="16383000" cy="1190625"/>
            <a:chOff x="0" y="0"/>
            <a:chExt cx="21844000" cy="15875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21844000" cy="1587500"/>
              <a:chOff x="0" y="0"/>
              <a:chExt cx="21844000" cy="15875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1844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15875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1587500"/>
                    </a:lnTo>
                    <a:lnTo>
                      <a:pt x="0" y="1587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21844000" cy="1625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71500" y="434975"/>
              <a:ext cx="3937000" cy="428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en-US" sz="1875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MODEL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34000" y="298450"/>
              <a:ext cx="14732000" cy="6108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884"/>
                </a:lnSpc>
              </a:pPr>
              <a:r>
                <a:rPr lang="en-US" sz="2775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Case Based Learning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2500" y="4162425"/>
            <a:ext cx="16383000" cy="1676400"/>
            <a:chOff x="0" y="0"/>
            <a:chExt cx="21844000" cy="2235200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21844000" cy="2235200"/>
              <a:chOff x="0" y="0"/>
              <a:chExt cx="21844000" cy="22352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1844000" cy="22352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22352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2235200"/>
                    </a:lnTo>
                    <a:lnTo>
                      <a:pt x="0" y="22352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1844000" cy="2273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571500" y="434975"/>
              <a:ext cx="3937000" cy="428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en-US" sz="1875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PENDEKATAN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34000" y="298450"/>
              <a:ext cx="14732000" cy="12585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884"/>
                </a:lnSpc>
              </a:pPr>
              <a:r>
                <a:rPr lang="en-US" sz="2775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Deep Learning berpusat pada murid (Student-Centered Learning).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2500" y="5638800"/>
            <a:ext cx="16383000" cy="1190625"/>
            <a:chOff x="0" y="0"/>
            <a:chExt cx="21844000" cy="15875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21844000" cy="1587500"/>
              <a:chOff x="0" y="0"/>
              <a:chExt cx="21844000" cy="1587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1844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15875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1587500"/>
                    </a:lnTo>
                    <a:lnTo>
                      <a:pt x="0" y="1587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21844000" cy="1625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571500" y="434975"/>
              <a:ext cx="3937000" cy="428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en-US" sz="1875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STRATEGI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34000" y="298450"/>
              <a:ext cx="14732000" cy="6108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884"/>
                </a:lnSpc>
              </a:pPr>
              <a:r>
                <a:rPr lang="en-US" sz="2775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Guiding Question • Investigasi • Diskusi • Refleksi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2500" y="7115175"/>
            <a:ext cx="16383000" cy="1190625"/>
            <a:chOff x="0" y="0"/>
            <a:chExt cx="21844000" cy="1587500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21844000" cy="1587500"/>
              <a:chOff x="0" y="0"/>
              <a:chExt cx="21844000" cy="15875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1844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15875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1587500"/>
                    </a:lnTo>
                    <a:lnTo>
                      <a:pt x="0" y="1587500"/>
                    </a:lnTo>
                    <a:close/>
                  </a:path>
                </a:pathLst>
              </a:custGeom>
              <a:solidFill>
                <a:srgbClr val="12233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21844000" cy="1625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571500" y="434975"/>
              <a:ext cx="3937000" cy="428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en-US" sz="1875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PRODUK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34000" y="298450"/>
              <a:ext cx="14732000" cy="6108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884"/>
                </a:lnSpc>
              </a:pPr>
              <a:r>
                <a:rPr lang="en-US" sz="2775" b="1">
                  <a:solidFill>
                    <a:srgbClr val="FFFFF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Analisis Kredibilitas Informasi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Tujuan pembelajaran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952500" y="2571750"/>
            <a:ext cx="5238750" cy="6274197"/>
            <a:chOff x="0" y="0"/>
            <a:chExt cx="6985000" cy="836559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6985000" cy="8365596"/>
              <a:chOff x="0" y="0"/>
              <a:chExt cx="6985000" cy="836559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985000" cy="8365596"/>
              </a:xfrm>
              <a:custGeom>
                <a:avLst/>
                <a:gdLst/>
                <a:ahLst/>
                <a:cxnLst/>
                <a:rect l="l" t="t" r="r" b="b"/>
                <a:pathLst>
                  <a:path w="6985000" h="8365596">
                    <a:moveTo>
                      <a:pt x="0" y="0"/>
                    </a:moveTo>
                    <a:lnTo>
                      <a:pt x="6985000" y="0"/>
                    </a:lnTo>
                    <a:lnTo>
                      <a:pt x="6985000" y="8365596"/>
                    </a:lnTo>
                    <a:lnTo>
                      <a:pt x="0" y="8365596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6985000" cy="840369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0"/>
              <a:ext cx="6985000" cy="177800"/>
              <a:chOff x="0" y="0"/>
              <a:chExt cx="6985000" cy="177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985000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0" h="177800">
                    <a:moveTo>
                      <a:pt x="0" y="0"/>
                    </a:moveTo>
                    <a:lnTo>
                      <a:pt x="6985000" y="0"/>
                    </a:lnTo>
                    <a:lnTo>
                      <a:pt x="6985000" y="177800"/>
                    </a:lnTo>
                    <a:lnTo>
                      <a:pt x="0" y="1778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985000" cy="215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57200" y="460375"/>
              <a:ext cx="6350000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100">
                  <a:solidFill>
                    <a:srgbClr val="12233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KOGNITIF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7200" y="1447800"/>
              <a:ext cx="6350000" cy="20060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Bedakan fakta, opini &amp; informasi (C2)</a:t>
              </a:r>
            </a:p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Terapkan kata kunci &amp; operator (C3)</a:t>
              </a:r>
            </a:p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Analisis kredibilitas sumber (C4)</a:t>
              </a:r>
            </a:p>
            <a:p>
              <a:pPr algn="l">
                <a:lnSpc>
                  <a:spcPts val="2906"/>
                </a:lnSpc>
              </a:pPr>
              <a:endParaRPr lang="en-US" sz="200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524625" y="2571750"/>
            <a:ext cx="5238750" cy="6271419"/>
            <a:chOff x="0" y="0"/>
            <a:chExt cx="6985000" cy="8361892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6985000" cy="8361892"/>
              <a:chOff x="0" y="0"/>
              <a:chExt cx="6985000" cy="8361892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985000" cy="8361891"/>
              </a:xfrm>
              <a:custGeom>
                <a:avLst/>
                <a:gdLst/>
                <a:ahLst/>
                <a:cxnLst/>
                <a:rect l="l" t="t" r="r" b="b"/>
                <a:pathLst>
                  <a:path w="6985000" h="8361891">
                    <a:moveTo>
                      <a:pt x="0" y="0"/>
                    </a:moveTo>
                    <a:lnTo>
                      <a:pt x="6985000" y="0"/>
                    </a:lnTo>
                    <a:lnTo>
                      <a:pt x="6985000" y="8361891"/>
                    </a:lnTo>
                    <a:lnTo>
                      <a:pt x="0" y="8361891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6985000" cy="839999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0" y="0"/>
              <a:ext cx="6985000" cy="177800"/>
              <a:chOff x="0" y="0"/>
              <a:chExt cx="6985000" cy="177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6985000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0" h="177800">
                    <a:moveTo>
                      <a:pt x="0" y="0"/>
                    </a:moveTo>
                    <a:lnTo>
                      <a:pt x="6985000" y="0"/>
                    </a:lnTo>
                    <a:lnTo>
                      <a:pt x="6985000" y="177800"/>
                    </a:lnTo>
                    <a:lnTo>
                      <a:pt x="0" y="1778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6985000" cy="215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457200" y="460375"/>
              <a:ext cx="6350000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100">
                  <a:solidFill>
                    <a:srgbClr val="12233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PSIKOMOTOR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200" y="1447800"/>
              <a:ext cx="6350000" cy="15197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Gunakan operator pencarian (P3)</a:t>
              </a:r>
            </a:p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Kumpulkan beragam sumber digital (P3)</a:t>
              </a:r>
            </a:p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Bandingkan tingkat kredibilitas (P3)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096750" y="2571750"/>
            <a:ext cx="5238750" cy="6271419"/>
            <a:chOff x="0" y="0"/>
            <a:chExt cx="6985000" cy="8361892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6985000" cy="8361892"/>
              <a:chOff x="0" y="0"/>
              <a:chExt cx="6985000" cy="8361892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985000" cy="8361891"/>
              </a:xfrm>
              <a:custGeom>
                <a:avLst/>
                <a:gdLst/>
                <a:ahLst/>
                <a:cxnLst/>
                <a:rect l="l" t="t" r="r" b="b"/>
                <a:pathLst>
                  <a:path w="6985000" h="8361891">
                    <a:moveTo>
                      <a:pt x="0" y="0"/>
                    </a:moveTo>
                    <a:lnTo>
                      <a:pt x="6985000" y="0"/>
                    </a:lnTo>
                    <a:lnTo>
                      <a:pt x="6985000" y="8361891"/>
                    </a:lnTo>
                    <a:lnTo>
                      <a:pt x="0" y="8361891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6985000" cy="839999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0" y="0"/>
              <a:ext cx="6985000" cy="177800"/>
              <a:chOff x="0" y="0"/>
              <a:chExt cx="6985000" cy="1778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6985000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0" h="177800">
                    <a:moveTo>
                      <a:pt x="0" y="0"/>
                    </a:moveTo>
                    <a:lnTo>
                      <a:pt x="6985000" y="0"/>
                    </a:lnTo>
                    <a:lnTo>
                      <a:pt x="6985000" y="177800"/>
                    </a:lnTo>
                    <a:lnTo>
                      <a:pt x="0" y="177800"/>
                    </a:lnTo>
                    <a:close/>
                  </a:path>
                </a:pathLst>
              </a:custGeom>
              <a:solidFill>
                <a:srgbClr val="EF6F6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6985000" cy="215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457200" y="460375"/>
              <a:ext cx="6350000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100">
                  <a:solidFill>
                    <a:srgbClr val="12233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AFEKTIF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7200" y="1447800"/>
              <a:ext cx="6350000" cy="15197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Bertanggung jawab saat berbagi (A3)</a:t>
              </a:r>
            </a:p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Kritis sebelum percaya (A3)</a:t>
              </a:r>
            </a:p>
            <a:p>
              <a:pPr algn="l">
                <a:lnSpc>
                  <a:spcPts val="3100"/>
                </a:lnSpc>
              </a:pPr>
              <a:r>
                <a:rPr lang="en-US" sz="20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Jujur mencantumkan sumber (A3)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B1930">
                <a:alpha val="80000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43000" y="1019175"/>
            <a:ext cx="6667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PERTANYAAN PEMANTIK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43000" y="2162175"/>
            <a:ext cx="11906250" cy="150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27"/>
              </a:lnSpc>
            </a:pPr>
            <a:r>
              <a:rPr lang="en-US" sz="5550" b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Ketika sebuah berita viral muncul di linimasa…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43000" y="5467350"/>
            <a:ext cx="14287500" cy="855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0"/>
              </a:lnSpc>
            </a:pPr>
            <a:r>
              <a:rPr lang="en-US" sz="4950">
                <a:solidFill>
                  <a:srgbClr val="FFC857"/>
                </a:solidFill>
                <a:latin typeface="Archivo Black"/>
                <a:ea typeface="Archivo Black"/>
                <a:cs typeface="Archivo Black"/>
                <a:sym typeface="Archivo Black"/>
              </a:rPr>
              <a:t>APA YANG MEMBUATMU PERCAYA?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43000" y="6819900"/>
            <a:ext cx="9525000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Berhenti • Periksa sumber • Cari bukti pembanding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Mengapa kita perlu mesin pencari?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952500" y="3667125"/>
            <a:ext cx="2476500" cy="1619250"/>
            <a:chOff x="0" y="0"/>
            <a:chExt cx="3302000" cy="2159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02000" cy="2159000"/>
            </a:xfrm>
            <a:custGeom>
              <a:avLst/>
              <a:gdLst/>
              <a:ahLst/>
              <a:cxnLst/>
              <a:rect l="l" t="t" r="r" b="b"/>
              <a:pathLst>
                <a:path w="3302000" h="2159000">
                  <a:moveTo>
                    <a:pt x="68385" y="0"/>
                  </a:moveTo>
                  <a:lnTo>
                    <a:pt x="3233615" y="0"/>
                  </a:lnTo>
                  <a:cubicBezTo>
                    <a:pt x="3251752" y="0"/>
                    <a:pt x="3269146" y="7205"/>
                    <a:pt x="3281971" y="20029"/>
                  </a:cubicBezTo>
                  <a:cubicBezTo>
                    <a:pt x="3294795" y="32854"/>
                    <a:pt x="3302000" y="50248"/>
                    <a:pt x="3302000" y="68385"/>
                  </a:cubicBezTo>
                  <a:lnTo>
                    <a:pt x="3302000" y="2090615"/>
                  </a:lnTo>
                  <a:cubicBezTo>
                    <a:pt x="3302000" y="2108752"/>
                    <a:pt x="3294795" y="2126146"/>
                    <a:pt x="3281971" y="2138971"/>
                  </a:cubicBezTo>
                  <a:cubicBezTo>
                    <a:pt x="3269146" y="2151795"/>
                    <a:pt x="3251752" y="2159000"/>
                    <a:pt x="3233615" y="2159000"/>
                  </a:cubicBezTo>
                  <a:lnTo>
                    <a:pt x="68385" y="2159000"/>
                  </a:lnTo>
                  <a:cubicBezTo>
                    <a:pt x="50248" y="2159000"/>
                    <a:pt x="32854" y="2151795"/>
                    <a:pt x="20029" y="2138971"/>
                  </a:cubicBezTo>
                  <a:cubicBezTo>
                    <a:pt x="7205" y="2126146"/>
                    <a:pt x="0" y="2108752"/>
                    <a:pt x="0" y="2090615"/>
                  </a:cubicBezTo>
                  <a:lnTo>
                    <a:pt x="0" y="68385"/>
                  </a:lnTo>
                  <a:cubicBezTo>
                    <a:pt x="0" y="50248"/>
                    <a:pt x="7205" y="32854"/>
                    <a:pt x="20029" y="20029"/>
                  </a:cubicBezTo>
                  <a:cubicBezTo>
                    <a:pt x="32854" y="7205"/>
                    <a:pt x="50248" y="0"/>
                    <a:pt x="68385" y="0"/>
                  </a:cubicBezTo>
                  <a:close/>
                </a:path>
              </a:pathLst>
            </a:custGeom>
            <a:solidFill>
              <a:srgbClr val="12233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9525"/>
              <a:ext cx="3302000" cy="214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INTERNET</a:t>
              </a:r>
            </a:p>
          </p:txBody>
        </p:sp>
      </p:grpSp>
      <p:sp>
        <p:nvSpPr>
          <p:cNvPr id="8" name="AutoShape 8"/>
          <p:cNvSpPr/>
          <p:nvPr/>
        </p:nvSpPr>
        <p:spPr>
          <a:xfrm>
            <a:off x="3571875" y="4476750"/>
            <a:ext cx="571500" cy="0"/>
          </a:xfrm>
          <a:prstGeom prst="line">
            <a:avLst/>
          </a:prstGeom>
          <a:ln w="47625" cap="rnd">
            <a:solidFill>
              <a:srgbClr val="12233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4286250" y="3667125"/>
            <a:ext cx="2476500" cy="1619250"/>
            <a:chOff x="0" y="0"/>
            <a:chExt cx="3302000" cy="2159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302000" cy="2159000"/>
            </a:xfrm>
            <a:custGeom>
              <a:avLst/>
              <a:gdLst/>
              <a:ahLst/>
              <a:cxnLst/>
              <a:rect l="l" t="t" r="r" b="b"/>
              <a:pathLst>
                <a:path w="3302000" h="2159000">
                  <a:moveTo>
                    <a:pt x="68385" y="0"/>
                  </a:moveTo>
                  <a:lnTo>
                    <a:pt x="3233615" y="0"/>
                  </a:lnTo>
                  <a:cubicBezTo>
                    <a:pt x="3251752" y="0"/>
                    <a:pt x="3269146" y="7205"/>
                    <a:pt x="3281971" y="20029"/>
                  </a:cubicBezTo>
                  <a:cubicBezTo>
                    <a:pt x="3294795" y="32854"/>
                    <a:pt x="3302000" y="50248"/>
                    <a:pt x="3302000" y="68385"/>
                  </a:cubicBezTo>
                  <a:lnTo>
                    <a:pt x="3302000" y="2090615"/>
                  </a:lnTo>
                  <a:cubicBezTo>
                    <a:pt x="3302000" y="2108752"/>
                    <a:pt x="3294795" y="2126146"/>
                    <a:pt x="3281971" y="2138971"/>
                  </a:cubicBezTo>
                  <a:cubicBezTo>
                    <a:pt x="3269146" y="2151795"/>
                    <a:pt x="3251752" y="2159000"/>
                    <a:pt x="3233615" y="2159000"/>
                  </a:cubicBezTo>
                  <a:lnTo>
                    <a:pt x="68385" y="2159000"/>
                  </a:lnTo>
                  <a:cubicBezTo>
                    <a:pt x="50248" y="2159000"/>
                    <a:pt x="32854" y="2151795"/>
                    <a:pt x="20029" y="2138971"/>
                  </a:cubicBezTo>
                  <a:cubicBezTo>
                    <a:pt x="7205" y="2126146"/>
                    <a:pt x="0" y="2108752"/>
                    <a:pt x="0" y="2090615"/>
                  </a:cubicBezTo>
                  <a:lnTo>
                    <a:pt x="0" y="68385"/>
                  </a:lnTo>
                  <a:cubicBezTo>
                    <a:pt x="0" y="50248"/>
                    <a:pt x="7205" y="32854"/>
                    <a:pt x="20029" y="20029"/>
                  </a:cubicBezTo>
                  <a:cubicBezTo>
                    <a:pt x="32854" y="7205"/>
                    <a:pt x="50248" y="0"/>
                    <a:pt x="68385" y="0"/>
                  </a:cubicBezTo>
                  <a:close/>
                </a:path>
              </a:pathLst>
            </a:custGeom>
            <a:solidFill>
              <a:srgbClr val="18A99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3302000" cy="214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MILIARAN</a:t>
              </a:r>
            </a:p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HALAMAN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6905625" y="4476750"/>
            <a:ext cx="571500" cy="0"/>
          </a:xfrm>
          <a:prstGeom prst="line">
            <a:avLst/>
          </a:prstGeom>
          <a:ln w="47625" cap="rnd">
            <a:solidFill>
              <a:srgbClr val="12233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7620000" y="3667125"/>
            <a:ext cx="2476500" cy="1619250"/>
            <a:chOff x="0" y="0"/>
            <a:chExt cx="3302000" cy="2159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302000" cy="2159000"/>
            </a:xfrm>
            <a:custGeom>
              <a:avLst/>
              <a:gdLst/>
              <a:ahLst/>
              <a:cxnLst/>
              <a:rect l="l" t="t" r="r" b="b"/>
              <a:pathLst>
                <a:path w="3302000" h="2159000">
                  <a:moveTo>
                    <a:pt x="68385" y="0"/>
                  </a:moveTo>
                  <a:lnTo>
                    <a:pt x="3233615" y="0"/>
                  </a:lnTo>
                  <a:cubicBezTo>
                    <a:pt x="3251752" y="0"/>
                    <a:pt x="3269146" y="7205"/>
                    <a:pt x="3281971" y="20029"/>
                  </a:cubicBezTo>
                  <a:cubicBezTo>
                    <a:pt x="3294795" y="32854"/>
                    <a:pt x="3302000" y="50248"/>
                    <a:pt x="3302000" y="68385"/>
                  </a:cubicBezTo>
                  <a:lnTo>
                    <a:pt x="3302000" y="2090615"/>
                  </a:lnTo>
                  <a:cubicBezTo>
                    <a:pt x="3302000" y="2108752"/>
                    <a:pt x="3294795" y="2126146"/>
                    <a:pt x="3281971" y="2138971"/>
                  </a:cubicBezTo>
                  <a:cubicBezTo>
                    <a:pt x="3269146" y="2151795"/>
                    <a:pt x="3251752" y="2159000"/>
                    <a:pt x="3233615" y="2159000"/>
                  </a:cubicBezTo>
                  <a:lnTo>
                    <a:pt x="68385" y="2159000"/>
                  </a:lnTo>
                  <a:cubicBezTo>
                    <a:pt x="50248" y="2159000"/>
                    <a:pt x="32854" y="2151795"/>
                    <a:pt x="20029" y="2138971"/>
                  </a:cubicBezTo>
                  <a:cubicBezTo>
                    <a:pt x="7205" y="2126146"/>
                    <a:pt x="0" y="2108752"/>
                    <a:pt x="0" y="2090615"/>
                  </a:cubicBezTo>
                  <a:lnTo>
                    <a:pt x="0" y="68385"/>
                  </a:lnTo>
                  <a:cubicBezTo>
                    <a:pt x="0" y="50248"/>
                    <a:pt x="7205" y="32854"/>
                    <a:pt x="20029" y="20029"/>
                  </a:cubicBezTo>
                  <a:cubicBezTo>
                    <a:pt x="32854" y="7205"/>
                    <a:pt x="50248" y="0"/>
                    <a:pt x="68385" y="0"/>
                  </a:cubicBezTo>
                  <a:close/>
                </a:path>
              </a:pathLst>
            </a:custGeom>
            <a:solidFill>
              <a:srgbClr val="FFC85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525"/>
              <a:ext cx="3302000" cy="214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12233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MESIN</a:t>
              </a:r>
            </a:p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12233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PENCARI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10239375" y="4476750"/>
            <a:ext cx="571500" cy="0"/>
          </a:xfrm>
          <a:prstGeom prst="line">
            <a:avLst/>
          </a:prstGeom>
          <a:ln w="47625" cap="rnd">
            <a:solidFill>
              <a:srgbClr val="12233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0953750" y="3667125"/>
            <a:ext cx="2476500" cy="1619250"/>
            <a:chOff x="0" y="0"/>
            <a:chExt cx="3302000" cy="2159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302000" cy="2159000"/>
            </a:xfrm>
            <a:custGeom>
              <a:avLst/>
              <a:gdLst/>
              <a:ahLst/>
              <a:cxnLst/>
              <a:rect l="l" t="t" r="r" b="b"/>
              <a:pathLst>
                <a:path w="3302000" h="2159000">
                  <a:moveTo>
                    <a:pt x="68385" y="0"/>
                  </a:moveTo>
                  <a:lnTo>
                    <a:pt x="3233615" y="0"/>
                  </a:lnTo>
                  <a:cubicBezTo>
                    <a:pt x="3251752" y="0"/>
                    <a:pt x="3269146" y="7205"/>
                    <a:pt x="3281971" y="20029"/>
                  </a:cubicBezTo>
                  <a:cubicBezTo>
                    <a:pt x="3294795" y="32854"/>
                    <a:pt x="3302000" y="50248"/>
                    <a:pt x="3302000" y="68385"/>
                  </a:cubicBezTo>
                  <a:lnTo>
                    <a:pt x="3302000" y="2090615"/>
                  </a:lnTo>
                  <a:cubicBezTo>
                    <a:pt x="3302000" y="2108752"/>
                    <a:pt x="3294795" y="2126146"/>
                    <a:pt x="3281971" y="2138971"/>
                  </a:cubicBezTo>
                  <a:cubicBezTo>
                    <a:pt x="3269146" y="2151795"/>
                    <a:pt x="3251752" y="2159000"/>
                    <a:pt x="3233615" y="2159000"/>
                  </a:cubicBezTo>
                  <a:lnTo>
                    <a:pt x="68385" y="2159000"/>
                  </a:lnTo>
                  <a:cubicBezTo>
                    <a:pt x="50248" y="2159000"/>
                    <a:pt x="32854" y="2151795"/>
                    <a:pt x="20029" y="2138971"/>
                  </a:cubicBezTo>
                  <a:cubicBezTo>
                    <a:pt x="7205" y="2126146"/>
                    <a:pt x="0" y="2108752"/>
                    <a:pt x="0" y="2090615"/>
                  </a:cubicBezTo>
                  <a:lnTo>
                    <a:pt x="0" y="68385"/>
                  </a:lnTo>
                  <a:cubicBezTo>
                    <a:pt x="0" y="50248"/>
                    <a:pt x="7205" y="32854"/>
                    <a:pt x="20029" y="20029"/>
                  </a:cubicBezTo>
                  <a:cubicBezTo>
                    <a:pt x="32854" y="7205"/>
                    <a:pt x="50248" y="0"/>
                    <a:pt x="68385" y="0"/>
                  </a:cubicBezTo>
                  <a:close/>
                </a:path>
              </a:pathLst>
            </a:custGeom>
            <a:solidFill>
              <a:srgbClr val="18A99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9525"/>
              <a:ext cx="3302000" cy="214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INFORMASI</a:t>
              </a:r>
            </a:p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DITEMUKAN</a:t>
              </a:r>
            </a:p>
          </p:txBody>
        </p:sp>
      </p:grpSp>
      <p:sp>
        <p:nvSpPr>
          <p:cNvPr id="20" name="AutoShape 20"/>
          <p:cNvSpPr/>
          <p:nvPr/>
        </p:nvSpPr>
        <p:spPr>
          <a:xfrm>
            <a:off x="13573125" y="4476750"/>
            <a:ext cx="571500" cy="0"/>
          </a:xfrm>
          <a:prstGeom prst="line">
            <a:avLst/>
          </a:prstGeom>
          <a:ln w="47625" cap="rnd">
            <a:solidFill>
              <a:srgbClr val="12233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>
            <a:off x="14287500" y="3667125"/>
            <a:ext cx="2476500" cy="1619250"/>
            <a:chOff x="0" y="0"/>
            <a:chExt cx="3302000" cy="2159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302000" cy="2159000"/>
            </a:xfrm>
            <a:custGeom>
              <a:avLst/>
              <a:gdLst/>
              <a:ahLst/>
              <a:cxnLst/>
              <a:rect l="l" t="t" r="r" b="b"/>
              <a:pathLst>
                <a:path w="3302000" h="2159000">
                  <a:moveTo>
                    <a:pt x="68385" y="0"/>
                  </a:moveTo>
                  <a:lnTo>
                    <a:pt x="3233615" y="0"/>
                  </a:lnTo>
                  <a:cubicBezTo>
                    <a:pt x="3251752" y="0"/>
                    <a:pt x="3269146" y="7205"/>
                    <a:pt x="3281971" y="20029"/>
                  </a:cubicBezTo>
                  <a:cubicBezTo>
                    <a:pt x="3294795" y="32854"/>
                    <a:pt x="3302000" y="50248"/>
                    <a:pt x="3302000" y="68385"/>
                  </a:cubicBezTo>
                  <a:lnTo>
                    <a:pt x="3302000" y="2090615"/>
                  </a:lnTo>
                  <a:cubicBezTo>
                    <a:pt x="3302000" y="2108752"/>
                    <a:pt x="3294795" y="2126146"/>
                    <a:pt x="3281971" y="2138971"/>
                  </a:cubicBezTo>
                  <a:cubicBezTo>
                    <a:pt x="3269146" y="2151795"/>
                    <a:pt x="3251752" y="2159000"/>
                    <a:pt x="3233615" y="2159000"/>
                  </a:cubicBezTo>
                  <a:lnTo>
                    <a:pt x="68385" y="2159000"/>
                  </a:lnTo>
                  <a:cubicBezTo>
                    <a:pt x="50248" y="2159000"/>
                    <a:pt x="32854" y="2151795"/>
                    <a:pt x="20029" y="2138971"/>
                  </a:cubicBezTo>
                  <a:cubicBezTo>
                    <a:pt x="7205" y="2126146"/>
                    <a:pt x="0" y="2108752"/>
                    <a:pt x="0" y="2090615"/>
                  </a:cubicBezTo>
                  <a:lnTo>
                    <a:pt x="0" y="68385"/>
                  </a:lnTo>
                  <a:cubicBezTo>
                    <a:pt x="0" y="50248"/>
                    <a:pt x="7205" y="32854"/>
                    <a:pt x="20029" y="20029"/>
                  </a:cubicBezTo>
                  <a:cubicBezTo>
                    <a:pt x="32854" y="7205"/>
                    <a:pt x="50248" y="0"/>
                    <a:pt x="68385" y="0"/>
                  </a:cubicBezTo>
                  <a:close/>
                </a:path>
              </a:pathLst>
            </a:custGeom>
            <a:solidFill>
              <a:srgbClr val="EF6F6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9525"/>
              <a:ext cx="3302000" cy="214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BELUM TENTU</a:t>
              </a:r>
            </a:p>
            <a:p>
              <a:pPr algn="ctr">
                <a:lnSpc>
                  <a:spcPts val="1980"/>
                </a:lnSpc>
              </a:pPr>
              <a:r>
                <a:rPr lang="en-US" sz="1800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BENAR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476500" y="6505575"/>
            <a:ext cx="13335000" cy="109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</a:pPr>
            <a:r>
              <a:rPr lang="en-US" sz="315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Mesin pencari membantu kita menemukan informasi. Sikap kritis membantu kita menentukan kebenarannya.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Apa itu mesin pencari?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12096750" y="2381250"/>
            <a:ext cx="5238750" cy="5905500"/>
            <a:chOff x="0" y="0"/>
            <a:chExt cx="6985000" cy="7874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985000" cy="7874000"/>
            </a:xfrm>
            <a:custGeom>
              <a:avLst/>
              <a:gdLst/>
              <a:ahLst/>
              <a:cxnLst/>
              <a:rect l="l" t="t" r="r" b="b"/>
              <a:pathLst>
                <a:path w="6985000" h="7874000">
                  <a:moveTo>
                    <a:pt x="0" y="0"/>
                  </a:moveTo>
                  <a:lnTo>
                    <a:pt x="6985000" y="0"/>
                  </a:lnTo>
                  <a:lnTo>
                    <a:pt x="6985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12233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6985000" cy="791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33500" y="2771775"/>
            <a:ext cx="10001250" cy="1614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26"/>
              </a:lnSpc>
            </a:pPr>
            <a:r>
              <a:rPr lang="en-US" sz="3675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Sistem yang membantu kita menemukan informasi di internet berdasarkan kata kunci yang dimasukkan.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33500" y="5772150"/>
            <a:ext cx="9048750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5D6B7E"/>
                </a:solidFill>
                <a:latin typeface="DM Sans"/>
                <a:ea typeface="DM Sans"/>
                <a:cs typeface="DM Sans"/>
                <a:sym typeface="DM Sans"/>
              </a:rPr>
              <a:t>Kata kunci masuk  →  daftar halaman relevan keluar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763500" y="2752725"/>
            <a:ext cx="3810000" cy="2740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17"/>
              </a:lnSpc>
            </a:pPr>
            <a:r>
              <a:rPr lang="en-US" sz="285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Google</a:t>
            </a:r>
          </a:p>
          <a:p>
            <a:pPr algn="l">
              <a:lnSpc>
                <a:spcPts val="4417"/>
              </a:lnSpc>
            </a:pPr>
            <a:r>
              <a:rPr lang="en-US" sz="285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Bing</a:t>
            </a:r>
          </a:p>
          <a:p>
            <a:pPr algn="l">
              <a:lnSpc>
                <a:spcPts val="4417"/>
              </a:lnSpc>
            </a:pPr>
            <a:r>
              <a:rPr lang="en-US" sz="285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DuckDuckGo</a:t>
            </a:r>
          </a:p>
          <a:p>
            <a:pPr algn="l">
              <a:lnSpc>
                <a:spcPts val="4417"/>
              </a:lnSpc>
            </a:pPr>
            <a:r>
              <a:rPr lang="en-US" sz="285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Yahoo</a:t>
            </a:r>
          </a:p>
          <a:p>
            <a:pPr algn="l">
              <a:lnSpc>
                <a:spcPts val="4417"/>
              </a:lnSpc>
            </a:pPr>
            <a:r>
              <a:rPr lang="en-US" sz="285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Brave Search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07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Bagaimana mesin pencari bekerja?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28405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762000" y="3714750"/>
            <a:ext cx="2286000" cy="1714500"/>
            <a:chOff x="0" y="0"/>
            <a:chExt cx="3048000" cy="228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048000" cy="2286000"/>
            </a:xfrm>
            <a:custGeom>
              <a:avLst/>
              <a:gdLst/>
              <a:ahLst/>
              <a:cxnLst/>
              <a:rect l="l" t="t" r="r" b="b"/>
              <a:pathLst>
                <a:path w="3048000" h="2286000">
                  <a:moveTo>
                    <a:pt x="63500" y="0"/>
                  </a:moveTo>
                  <a:lnTo>
                    <a:pt x="2984500" y="0"/>
                  </a:lnTo>
                  <a:cubicBezTo>
                    <a:pt x="3019570" y="0"/>
                    <a:pt x="3048000" y="28430"/>
                    <a:pt x="3048000" y="63500"/>
                  </a:cubicBezTo>
                  <a:lnTo>
                    <a:pt x="3048000" y="2222500"/>
                  </a:lnTo>
                  <a:cubicBezTo>
                    <a:pt x="3048000" y="2257570"/>
                    <a:pt x="3019570" y="2286000"/>
                    <a:pt x="2984500" y="2286000"/>
                  </a:cubicBezTo>
                  <a:lnTo>
                    <a:pt x="63500" y="2286000"/>
                  </a:lnTo>
                  <a:cubicBezTo>
                    <a:pt x="28430" y="2286000"/>
                    <a:pt x="0" y="2257570"/>
                    <a:pt x="0" y="2222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8325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3048000" cy="22955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WEBSITE</a:t>
              </a:r>
            </a:p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Konten dibuat</a:t>
              </a:r>
            </a:p>
          </p:txBody>
        </p:sp>
      </p:grpSp>
      <p:sp>
        <p:nvSpPr>
          <p:cNvPr id="8" name="AutoShape 8"/>
          <p:cNvSpPr/>
          <p:nvPr/>
        </p:nvSpPr>
        <p:spPr>
          <a:xfrm>
            <a:off x="3095625" y="4572000"/>
            <a:ext cx="476250" cy="0"/>
          </a:xfrm>
          <a:prstGeom prst="line">
            <a:avLst/>
          </a:prstGeom>
          <a:ln w="38100" cap="rnd">
            <a:solidFill>
              <a:srgbClr val="FFC85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3667125" y="3714750"/>
            <a:ext cx="2286000" cy="1714500"/>
            <a:chOff x="0" y="0"/>
            <a:chExt cx="3048000" cy="2286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048000" cy="2286000"/>
            </a:xfrm>
            <a:custGeom>
              <a:avLst/>
              <a:gdLst/>
              <a:ahLst/>
              <a:cxnLst/>
              <a:rect l="l" t="t" r="r" b="b"/>
              <a:pathLst>
                <a:path w="3048000" h="2286000">
                  <a:moveTo>
                    <a:pt x="63500" y="0"/>
                  </a:moveTo>
                  <a:lnTo>
                    <a:pt x="2984500" y="0"/>
                  </a:lnTo>
                  <a:cubicBezTo>
                    <a:pt x="3019570" y="0"/>
                    <a:pt x="3048000" y="28430"/>
                    <a:pt x="3048000" y="63500"/>
                  </a:cubicBezTo>
                  <a:lnTo>
                    <a:pt x="3048000" y="2222500"/>
                  </a:lnTo>
                  <a:cubicBezTo>
                    <a:pt x="3048000" y="2257570"/>
                    <a:pt x="3019570" y="2286000"/>
                    <a:pt x="2984500" y="2286000"/>
                  </a:cubicBezTo>
                  <a:lnTo>
                    <a:pt x="63500" y="2286000"/>
                  </a:lnTo>
                  <a:cubicBezTo>
                    <a:pt x="28430" y="2286000"/>
                    <a:pt x="0" y="2257570"/>
                    <a:pt x="0" y="2222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8A99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3048000" cy="22955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CRAWLER</a:t>
              </a:r>
            </a:p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Menjelajah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6000750" y="4572000"/>
            <a:ext cx="476250" cy="0"/>
          </a:xfrm>
          <a:prstGeom prst="line">
            <a:avLst/>
          </a:prstGeom>
          <a:ln w="38100" cap="rnd">
            <a:solidFill>
              <a:srgbClr val="FFC85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6572250" y="3714750"/>
            <a:ext cx="2286000" cy="1714500"/>
            <a:chOff x="0" y="0"/>
            <a:chExt cx="3048000" cy="228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48000" cy="2286000"/>
            </a:xfrm>
            <a:custGeom>
              <a:avLst/>
              <a:gdLst/>
              <a:ahLst/>
              <a:cxnLst/>
              <a:rect l="l" t="t" r="r" b="b"/>
              <a:pathLst>
                <a:path w="3048000" h="2286000">
                  <a:moveTo>
                    <a:pt x="63500" y="0"/>
                  </a:moveTo>
                  <a:lnTo>
                    <a:pt x="2984500" y="0"/>
                  </a:lnTo>
                  <a:cubicBezTo>
                    <a:pt x="3019570" y="0"/>
                    <a:pt x="3048000" y="28430"/>
                    <a:pt x="3048000" y="63500"/>
                  </a:cubicBezTo>
                  <a:lnTo>
                    <a:pt x="3048000" y="2222500"/>
                  </a:lnTo>
                  <a:cubicBezTo>
                    <a:pt x="3048000" y="2257570"/>
                    <a:pt x="3019570" y="2286000"/>
                    <a:pt x="2984500" y="2286000"/>
                  </a:cubicBezTo>
                  <a:lnTo>
                    <a:pt x="63500" y="2286000"/>
                  </a:lnTo>
                  <a:cubicBezTo>
                    <a:pt x="28430" y="2286000"/>
                    <a:pt x="0" y="2257570"/>
                    <a:pt x="0" y="2222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8325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3048000" cy="22955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INDEX</a:t>
              </a:r>
            </a:p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Menyimpan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8905875" y="4572000"/>
            <a:ext cx="476250" cy="0"/>
          </a:xfrm>
          <a:prstGeom prst="line">
            <a:avLst/>
          </a:prstGeom>
          <a:ln w="38100" cap="rnd">
            <a:solidFill>
              <a:srgbClr val="FFC85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9477375" y="3714750"/>
            <a:ext cx="2286000" cy="1714500"/>
            <a:chOff x="0" y="0"/>
            <a:chExt cx="3048000" cy="2286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048000" cy="2286000"/>
            </a:xfrm>
            <a:custGeom>
              <a:avLst/>
              <a:gdLst/>
              <a:ahLst/>
              <a:cxnLst/>
              <a:rect l="l" t="t" r="r" b="b"/>
              <a:pathLst>
                <a:path w="3048000" h="2286000">
                  <a:moveTo>
                    <a:pt x="63500" y="0"/>
                  </a:moveTo>
                  <a:lnTo>
                    <a:pt x="2984500" y="0"/>
                  </a:lnTo>
                  <a:cubicBezTo>
                    <a:pt x="3019570" y="0"/>
                    <a:pt x="3048000" y="28430"/>
                    <a:pt x="3048000" y="63500"/>
                  </a:cubicBezTo>
                  <a:lnTo>
                    <a:pt x="3048000" y="2222500"/>
                  </a:lnTo>
                  <a:cubicBezTo>
                    <a:pt x="3048000" y="2257570"/>
                    <a:pt x="3019570" y="2286000"/>
                    <a:pt x="2984500" y="2286000"/>
                  </a:cubicBezTo>
                  <a:lnTo>
                    <a:pt x="63500" y="2286000"/>
                  </a:lnTo>
                  <a:cubicBezTo>
                    <a:pt x="28430" y="2286000"/>
                    <a:pt x="0" y="2257570"/>
                    <a:pt x="0" y="2222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8A99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3048000" cy="22955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SEARCH</a:t>
              </a:r>
            </a:p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Mencocokkan</a:t>
              </a:r>
            </a:p>
          </p:txBody>
        </p:sp>
      </p:grpSp>
      <p:sp>
        <p:nvSpPr>
          <p:cNvPr id="20" name="AutoShape 20"/>
          <p:cNvSpPr/>
          <p:nvPr/>
        </p:nvSpPr>
        <p:spPr>
          <a:xfrm>
            <a:off x="11811000" y="4572000"/>
            <a:ext cx="476250" cy="0"/>
          </a:xfrm>
          <a:prstGeom prst="line">
            <a:avLst/>
          </a:prstGeom>
          <a:ln w="38100" cap="rnd">
            <a:solidFill>
              <a:srgbClr val="FFC85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>
            <a:off x="12382500" y="3714750"/>
            <a:ext cx="2286000" cy="1714500"/>
            <a:chOff x="0" y="0"/>
            <a:chExt cx="3048000" cy="2286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048000" cy="2286000"/>
            </a:xfrm>
            <a:custGeom>
              <a:avLst/>
              <a:gdLst/>
              <a:ahLst/>
              <a:cxnLst/>
              <a:rect l="l" t="t" r="r" b="b"/>
              <a:pathLst>
                <a:path w="3048000" h="2286000">
                  <a:moveTo>
                    <a:pt x="63500" y="0"/>
                  </a:moveTo>
                  <a:lnTo>
                    <a:pt x="2984500" y="0"/>
                  </a:lnTo>
                  <a:cubicBezTo>
                    <a:pt x="3019570" y="0"/>
                    <a:pt x="3048000" y="28430"/>
                    <a:pt x="3048000" y="63500"/>
                  </a:cubicBezTo>
                  <a:lnTo>
                    <a:pt x="3048000" y="2222500"/>
                  </a:lnTo>
                  <a:cubicBezTo>
                    <a:pt x="3048000" y="2257570"/>
                    <a:pt x="3019570" y="2286000"/>
                    <a:pt x="2984500" y="2286000"/>
                  </a:cubicBezTo>
                  <a:lnTo>
                    <a:pt x="63500" y="2286000"/>
                  </a:lnTo>
                  <a:cubicBezTo>
                    <a:pt x="28430" y="2286000"/>
                    <a:pt x="0" y="2257570"/>
                    <a:pt x="0" y="2222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8325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3048000" cy="22955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RANKING</a:t>
              </a:r>
            </a:p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Mengurutkan</a:t>
              </a:r>
            </a:p>
          </p:txBody>
        </p:sp>
      </p:grpSp>
      <p:sp>
        <p:nvSpPr>
          <p:cNvPr id="24" name="AutoShape 24"/>
          <p:cNvSpPr/>
          <p:nvPr/>
        </p:nvSpPr>
        <p:spPr>
          <a:xfrm>
            <a:off x="14716125" y="4572000"/>
            <a:ext cx="476250" cy="0"/>
          </a:xfrm>
          <a:prstGeom prst="line">
            <a:avLst/>
          </a:prstGeom>
          <a:ln w="38100" cap="rnd">
            <a:solidFill>
              <a:srgbClr val="FFC85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5" name="Group 25"/>
          <p:cNvGrpSpPr/>
          <p:nvPr/>
        </p:nvGrpSpPr>
        <p:grpSpPr>
          <a:xfrm>
            <a:off x="15287625" y="3714750"/>
            <a:ext cx="2286000" cy="1714500"/>
            <a:chOff x="0" y="0"/>
            <a:chExt cx="3048000" cy="2286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3048000" cy="2286000"/>
            </a:xfrm>
            <a:custGeom>
              <a:avLst/>
              <a:gdLst/>
              <a:ahLst/>
              <a:cxnLst/>
              <a:rect l="l" t="t" r="r" b="b"/>
              <a:pathLst>
                <a:path w="3048000" h="2286000">
                  <a:moveTo>
                    <a:pt x="63500" y="0"/>
                  </a:moveTo>
                  <a:lnTo>
                    <a:pt x="2984500" y="0"/>
                  </a:lnTo>
                  <a:cubicBezTo>
                    <a:pt x="3019570" y="0"/>
                    <a:pt x="3048000" y="28430"/>
                    <a:pt x="3048000" y="63500"/>
                  </a:cubicBezTo>
                  <a:lnTo>
                    <a:pt x="3048000" y="2222500"/>
                  </a:lnTo>
                  <a:cubicBezTo>
                    <a:pt x="3048000" y="2257570"/>
                    <a:pt x="3019570" y="2286000"/>
                    <a:pt x="2984500" y="2286000"/>
                  </a:cubicBezTo>
                  <a:lnTo>
                    <a:pt x="63500" y="2286000"/>
                  </a:lnTo>
                  <a:cubicBezTo>
                    <a:pt x="28430" y="2286000"/>
                    <a:pt x="0" y="2257570"/>
                    <a:pt x="0" y="2222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FFC85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3048000" cy="22955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HASIL</a:t>
              </a:r>
            </a:p>
            <a:p>
              <a:pPr algn="ctr">
                <a:lnSpc>
                  <a:spcPts val="2242"/>
                </a:lnSpc>
              </a:pPr>
              <a:r>
                <a:rPr lang="en-US" sz="1725" b="1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Ditampilkan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2762250" y="6629400"/>
            <a:ext cx="12763500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Mesin pencari tidak ‘membaca’ seperti manusia—ia mencocokkan, menilai, lalu mengurutkan.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08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Kata kunci: dari luas ke tajam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952500" y="2857500"/>
            <a:ext cx="16383000" cy="1476375"/>
            <a:chOff x="0" y="0"/>
            <a:chExt cx="21844000" cy="19685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21844000" cy="1968500"/>
              <a:chOff x="0" y="0"/>
              <a:chExt cx="21844000" cy="19685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1844000" cy="19685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19685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1968500"/>
                    </a:lnTo>
                    <a:lnTo>
                      <a:pt x="0" y="1968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21844000" cy="2006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0"/>
              <a:ext cx="203200" cy="1968500"/>
              <a:chOff x="0" y="0"/>
              <a:chExt cx="203200" cy="19685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03200" cy="19685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968500">
                    <a:moveTo>
                      <a:pt x="0" y="0"/>
                    </a:moveTo>
                    <a:lnTo>
                      <a:pt x="203200" y="0"/>
                    </a:lnTo>
                    <a:lnTo>
                      <a:pt x="203200" y="1968500"/>
                    </a:lnTo>
                    <a:lnTo>
                      <a:pt x="0" y="1968500"/>
                    </a:lnTo>
                    <a:close/>
                  </a:path>
                </a:pathLst>
              </a:custGeom>
              <a:solidFill>
                <a:srgbClr val="EF6F6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203200" cy="2006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635000" y="307975"/>
              <a:ext cx="5461000" cy="395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15"/>
                </a:lnSpc>
              </a:pPr>
              <a:r>
                <a:rPr lang="en-US" sz="1725">
                  <a:solidFill>
                    <a:srgbClr val="EF6F6C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01  TERLALU LUAS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0" y="847725"/>
              <a:ext cx="18415000" cy="7626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830"/>
                </a:lnSpc>
              </a:pPr>
              <a:r>
                <a:rPr lang="en-US" sz="3450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AI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2500" y="4667250"/>
            <a:ext cx="16383000" cy="1476375"/>
            <a:chOff x="0" y="0"/>
            <a:chExt cx="21844000" cy="1968500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21844000" cy="1968500"/>
              <a:chOff x="0" y="0"/>
              <a:chExt cx="21844000" cy="19685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1844000" cy="19685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19685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1968500"/>
                    </a:lnTo>
                    <a:lnTo>
                      <a:pt x="0" y="1968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1844000" cy="2006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0" y="0"/>
              <a:ext cx="203200" cy="1968500"/>
              <a:chOff x="0" y="0"/>
              <a:chExt cx="203200" cy="1968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03200" cy="19685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968500">
                    <a:moveTo>
                      <a:pt x="0" y="0"/>
                    </a:moveTo>
                    <a:lnTo>
                      <a:pt x="203200" y="0"/>
                    </a:lnTo>
                    <a:lnTo>
                      <a:pt x="203200" y="1968500"/>
                    </a:lnTo>
                    <a:lnTo>
                      <a:pt x="0" y="19685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203200" cy="2006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635000" y="307975"/>
              <a:ext cx="5461000" cy="395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15"/>
                </a:lnSpc>
              </a:pPr>
              <a:r>
                <a:rPr lang="en-US" sz="1725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02  LEBIH BAIK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0" y="847725"/>
              <a:ext cx="18415000" cy="7626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830"/>
                </a:lnSpc>
              </a:pPr>
              <a:r>
                <a:rPr lang="en-US" sz="3450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pengertian AI untuk siswa SMK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2500" y="6477000"/>
            <a:ext cx="16366927" cy="1875116"/>
            <a:chOff x="0" y="0"/>
            <a:chExt cx="21822569" cy="250015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21822569" cy="2500155"/>
              <a:chOff x="0" y="0"/>
              <a:chExt cx="21822569" cy="250015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1822569" cy="2500155"/>
              </a:xfrm>
              <a:custGeom>
                <a:avLst/>
                <a:gdLst/>
                <a:ahLst/>
                <a:cxnLst/>
                <a:rect l="l" t="t" r="r" b="b"/>
                <a:pathLst>
                  <a:path w="21822569" h="2500155">
                    <a:moveTo>
                      <a:pt x="0" y="0"/>
                    </a:moveTo>
                    <a:lnTo>
                      <a:pt x="21822569" y="0"/>
                    </a:lnTo>
                    <a:lnTo>
                      <a:pt x="21822569" y="2500155"/>
                    </a:lnTo>
                    <a:lnTo>
                      <a:pt x="0" y="250015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21822569" cy="253825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0" y="0"/>
              <a:ext cx="201144" cy="2500155"/>
              <a:chOff x="0" y="0"/>
              <a:chExt cx="201144" cy="250015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201144" cy="2500155"/>
              </a:xfrm>
              <a:custGeom>
                <a:avLst/>
                <a:gdLst/>
                <a:ahLst/>
                <a:cxnLst/>
                <a:rect l="l" t="t" r="r" b="b"/>
                <a:pathLst>
                  <a:path w="201144" h="2500155">
                    <a:moveTo>
                      <a:pt x="0" y="0"/>
                    </a:moveTo>
                    <a:lnTo>
                      <a:pt x="201144" y="0"/>
                    </a:lnTo>
                    <a:lnTo>
                      <a:pt x="201144" y="2500155"/>
                    </a:lnTo>
                    <a:lnTo>
                      <a:pt x="0" y="2500155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201144" cy="253825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635000" y="307975"/>
              <a:ext cx="5461000" cy="395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15"/>
                </a:lnSpc>
              </a:pPr>
              <a:r>
                <a:rPr lang="en-US" sz="1725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03  SPESIFIK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5000" y="866775"/>
              <a:ext cx="18415000" cy="122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9"/>
                </a:lnSpc>
              </a:pPr>
              <a:r>
                <a:rPr lang="en-US" sz="2700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“Artificial Intelligence” site:kemdikbud.go.id</a:t>
              </a:r>
            </a:p>
            <a:p>
              <a:pPr algn="l">
                <a:lnSpc>
                  <a:spcPts val="3779"/>
                </a:lnSpc>
              </a:pPr>
              <a:r>
                <a:rPr lang="en-US" sz="2700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“Artificial Intelligence” file:pdf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09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Operator pencarian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28405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2001500" y="2790825"/>
            <a:ext cx="4953000" cy="588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lang="en-US" sz="3450" b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Cari lebih akurat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001500" y="4019550"/>
            <a:ext cx="4762500" cy="2021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“ ”  kalimat persis</a:t>
            </a:r>
          </a:p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site:  situs tertentu</a:t>
            </a:r>
          </a:p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filetype:  PDF / PPT</a:t>
            </a:r>
          </a:p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-  kecualikan kata</a:t>
            </a:r>
          </a:p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OR  salah satu kata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710856" y="8334375"/>
            <a:ext cx="6624644" cy="9312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93"/>
              </a:lnSpc>
            </a:pPr>
            <a:r>
              <a:rPr lang="en-US" sz="2709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COBA:  </a:t>
            </a:r>
          </a:p>
          <a:p>
            <a:pPr algn="l">
              <a:lnSpc>
                <a:spcPts val="3793"/>
              </a:lnSpc>
            </a:pPr>
            <a:r>
              <a:rPr lang="en-US" sz="2709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Karhutla site:bmkg.go.id filetype:pdf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09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00125" y="2619375"/>
            <a:ext cx="10287000" cy="5295900"/>
            <a:chOff x="0" y="0"/>
            <a:chExt cx="13716000" cy="706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716000" cy="7061200"/>
            </a:xfrm>
            <a:custGeom>
              <a:avLst/>
              <a:gdLst/>
              <a:ahLst/>
              <a:cxnLst/>
              <a:rect l="l" t="t" r="r" b="b"/>
              <a:pathLst>
                <a:path w="13716000" h="7061200">
                  <a:moveTo>
                    <a:pt x="152400" y="0"/>
                  </a:moveTo>
                  <a:lnTo>
                    <a:pt x="13563600" y="0"/>
                  </a:lnTo>
                  <a:cubicBezTo>
                    <a:pt x="13647769" y="0"/>
                    <a:pt x="13716000" y="68232"/>
                    <a:pt x="13716000" y="152400"/>
                  </a:cubicBezTo>
                  <a:lnTo>
                    <a:pt x="13716000" y="6908800"/>
                  </a:lnTo>
                  <a:cubicBezTo>
                    <a:pt x="13716000" y="6992969"/>
                    <a:pt x="13647769" y="7061200"/>
                    <a:pt x="13563600" y="7061200"/>
                  </a:cubicBezTo>
                  <a:lnTo>
                    <a:pt x="152400" y="7061200"/>
                  </a:lnTo>
                  <a:cubicBezTo>
                    <a:pt x="68232" y="7061200"/>
                    <a:pt x="0" y="6992969"/>
                    <a:pt x="0" y="69088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0B1930"/>
            </a:solidFill>
            <a:ln w="19050" cap="sq">
              <a:solidFill>
                <a:srgbClr val="18A99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3716000" cy="709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125" y="2619375"/>
            <a:ext cx="10287000" cy="781050"/>
            <a:chOff x="0" y="0"/>
            <a:chExt cx="13716000" cy="1041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3716000" cy="1041400"/>
            </a:xfrm>
            <a:custGeom>
              <a:avLst/>
              <a:gdLst/>
              <a:ahLst/>
              <a:cxnLst/>
              <a:rect l="l" t="t" r="r" b="b"/>
              <a:pathLst>
                <a:path w="13716000" h="1041400">
                  <a:moveTo>
                    <a:pt x="152400" y="0"/>
                  </a:moveTo>
                  <a:lnTo>
                    <a:pt x="13563600" y="0"/>
                  </a:lnTo>
                  <a:cubicBezTo>
                    <a:pt x="13647769" y="0"/>
                    <a:pt x="13716000" y="68232"/>
                    <a:pt x="13716000" y="152400"/>
                  </a:cubicBezTo>
                  <a:lnTo>
                    <a:pt x="13716000" y="889000"/>
                  </a:lnTo>
                  <a:cubicBezTo>
                    <a:pt x="13716000" y="973168"/>
                    <a:pt x="13647769" y="1041400"/>
                    <a:pt x="13563600" y="1041400"/>
                  </a:cubicBezTo>
                  <a:lnTo>
                    <a:pt x="152400" y="1041400"/>
                  </a:lnTo>
                  <a:cubicBezTo>
                    <a:pt x="68232" y="1041400"/>
                    <a:pt x="0" y="973168"/>
                    <a:pt x="0" y="8890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8A99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3716000" cy="1079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125" y="3286125"/>
            <a:ext cx="10287000" cy="114300"/>
            <a:chOff x="0" y="0"/>
            <a:chExt cx="13716000" cy="152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3716000" cy="152400"/>
            </a:xfrm>
            <a:custGeom>
              <a:avLst/>
              <a:gdLst/>
              <a:ahLst/>
              <a:cxnLst/>
              <a:rect l="l" t="t" r="r" b="b"/>
              <a:pathLst>
                <a:path w="13716000" h="152400">
                  <a:moveTo>
                    <a:pt x="0" y="0"/>
                  </a:moveTo>
                  <a:lnTo>
                    <a:pt x="13716000" y="0"/>
                  </a:lnTo>
                  <a:lnTo>
                    <a:pt x="13716000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18A99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3716000" cy="190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125" y="4303395"/>
            <a:ext cx="10287000" cy="902970"/>
            <a:chOff x="0" y="0"/>
            <a:chExt cx="13716000" cy="12039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3716000" cy="1203960"/>
            </a:xfrm>
            <a:custGeom>
              <a:avLst/>
              <a:gdLst/>
              <a:ahLst/>
              <a:cxnLst/>
              <a:rect l="l" t="t" r="r" b="b"/>
              <a:pathLst>
                <a:path w="13716000" h="1203960">
                  <a:moveTo>
                    <a:pt x="0" y="0"/>
                  </a:moveTo>
                  <a:lnTo>
                    <a:pt x="13716000" y="0"/>
                  </a:lnTo>
                  <a:lnTo>
                    <a:pt x="13716000" y="1203960"/>
                  </a:lnTo>
                  <a:lnTo>
                    <a:pt x="0" y="1203960"/>
                  </a:lnTo>
                  <a:close/>
                </a:path>
              </a:pathLst>
            </a:custGeom>
            <a:solidFill>
              <a:srgbClr val="12233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3716000" cy="12420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125" y="6109335"/>
            <a:ext cx="10287000" cy="902970"/>
            <a:chOff x="0" y="0"/>
            <a:chExt cx="13716000" cy="120396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3716000" cy="1203960"/>
            </a:xfrm>
            <a:custGeom>
              <a:avLst/>
              <a:gdLst/>
              <a:ahLst/>
              <a:cxnLst/>
              <a:rect l="l" t="t" r="r" b="b"/>
              <a:pathLst>
                <a:path w="13716000" h="1203960">
                  <a:moveTo>
                    <a:pt x="0" y="0"/>
                  </a:moveTo>
                  <a:lnTo>
                    <a:pt x="13716000" y="0"/>
                  </a:lnTo>
                  <a:lnTo>
                    <a:pt x="13716000" y="1203960"/>
                  </a:lnTo>
                  <a:lnTo>
                    <a:pt x="0" y="1203960"/>
                  </a:lnTo>
                  <a:close/>
                </a:path>
              </a:pathLst>
            </a:custGeom>
            <a:solidFill>
              <a:srgbClr val="12233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13716000" cy="12420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125" y="3400425"/>
            <a:ext cx="10287000" cy="19050"/>
            <a:chOff x="0" y="0"/>
            <a:chExt cx="13716000" cy="25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3716000" cy="25400"/>
            </a:xfrm>
            <a:custGeom>
              <a:avLst/>
              <a:gdLst/>
              <a:ahLst/>
              <a:cxnLst/>
              <a:rect l="l" t="t" r="r" b="b"/>
              <a:pathLst>
                <a:path w="13716000" h="25400">
                  <a:moveTo>
                    <a:pt x="0" y="0"/>
                  </a:moveTo>
                  <a:lnTo>
                    <a:pt x="13716000" y="0"/>
                  </a:lnTo>
                  <a:lnTo>
                    <a:pt x="1371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18A99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13716000" cy="63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048125" y="2619375"/>
            <a:ext cx="19050" cy="5295900"/>
            <a:chOff x="0" y="0"/>
            <a:chExt cx="25400" cy="7061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5400" cy="7061200"/>
            </a:xfrm>
            <a:custGeom>
              <a:avLst/>
              <a:gdLst/>
              <a:ahLst/>
              <a:cxnLst/>
              <a:rect l="l" t="t" r="r" b="b"/>
              <a:pathLst>
                <a:path w="25400" h="7061200">
                  <a:moveTo>
                    <a:pt x="0" y="0"/>
                  </a:moveTo>
                  <a:lnTo>
                    <a:pt x="25400" y="0"/>
                  </a:lnTo>
                  <a:lnTo>
                    <a:pt x="25400" y="7061200"/>
                  </a:lnTo>
                  <a:lnTo>
                    <a:pt x="0" y="7061200"/>
                  </a:lnTo>
                  <a:close/>
                </a:path>
              </a:pathLst>
            </a:custGeom>
            <a:solidFill>
              <a:srgbClr val="18A99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5400" cy="709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000125" y="4303395"/>
            <a:ext cx="10287000" cy="19050"/>
            <a:chOff x="0" y="0"/>
            <a:chExt cx="13716000" cy="25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3716000" cy="25400"/>
            </a:xfrm>
            <a:custGeom>
              <a:avLst/>
              <a:gdLst/>
              <a:ahLst/>
              <a:cxnLst/>
              <a:rect l="l" t="t" r="r" b="b"/>
              <a:pathLst>
                <a:path w="13716000" h="25400">
                  <a:moveTo>
                    <a:pt x="0" y="0"/>
                  </a:moveTo>
                  <a:lnTo>
                    <a:pt x="13716000" y="0"/>
                  </a:lnTo>
                  <a:lnTo>
                    <a:pt x="1371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28405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3716000" cy="63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0125" y="5206365"/>
            <a:ext cx="10287000" cy="19050"/>
            <a:chOff x="0" y="0"/>
            <a:chExt cx="13716000" cy="25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3716000" cy="25400"/>
            </a:xfrm>
            <a:custGeom>
              <a:avLst/>
              <a:gdLst/>
              <a:ahLst/>
              <a:cxnLst/>
              <a:rect l="l" t="t" r="r" b="b"/>
              <a:pathLst>
                <a:path w="13716000" h="25400">
                  <a:moveTo>
                    <a:pt x="0" y="0"/>
                  </a:moveTo>
                  <a:lnTo>
                    <a:pt x="13716000" y="0"/>
                  </a:lnTo>
                  <a:lnTo>
                    <a:pt x="1371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28405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3716000" cy="63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000125" y="6109335"/>
            <a:ext cx="10287000" cy="19050"/>
            <a:chOff x="0" y="0"/>
            <a:chExt cx="13716000" cy="254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3716000" cy="25400"/>
            </a:xfrm>
            <a:custGeom>
              <a:avLst/>
              <a:gdLst/>
              <a:ahLst/>
              <a:cxnLst/>
              <a:rect l="l" t="t" r="r" b="b"/>
              <a:pathLst>
                <a:path w="13716000" h="25400">
                  <a:moveTo>
                    <a:pt x="0" y="0"/>
                  </a:moveTo>
                  <a:lnTo>
                    <a:pt x="13716000" y="0"/>
                  </a:lnTo>
                  <a:lnTo>
                    <a:pt x="1371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28405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38100"/>
              <a:ext cx="13716000" cy="63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0125" y="7012305"/>
            <a:ext cx="10287000" cy="19050"/>
            <a:chOff x="0" y="0"/>
            <a:chExt cx="13716000" cy="254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3716000" cy="25400"/>
            </a:xfrm>
            <a:custGeom>
              <a:avLst/>
              <a:gdLst/>
              <a:ahLst/>
              <a:cxnLst/>
              <a:rect l="l" t="t" r="r" b="b"/>
              <a:pathLst>
                <a:path w="13716000" h="25400">
                  <a:moveTo>
                    <a:pt x="0" y="0"/>
                  </a:moveTo>
                  <a:lnTo>
                    <a:pt x="13716000" y="0"/>
                  </a:lnTo>
                  <a:lnTo>
                    <a:pt x="1371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28405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13716000" cy="63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266825" y="2819400"/>
            <a:ext cx="2514600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1">
                <a:solidFill>
                  <a:srgbClr val="0B193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Operator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314825" y="2819400"/>
            <a:ext cx="6705600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1">
                <a:solidFill>
                  <a:srgbClr val="0B193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Fungsi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66825" y="3656647"/>
            <a:ext cx="2514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" "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314825" y="3656647"/>
            <a:ext cx="6705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mencari kalimat persis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66825" y="4559617"/>
            <a:ext cx="2514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site: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314825" y="4559617"/>
            <a:ext cx="6705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situs tertentu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66825" y="5462587"/>
            <a:ext cx="2514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filetype: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314825" y="5462587"/>
            <a:ext cx="6705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PDF / PPT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66825" y="6365557"/>
            <a:ext cx="2514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-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314825" y="6365557"/>
            <a:ext cx="6705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mengecualikan kata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266825" y="7268528"/>
            <a:ext cx="2514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OR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314825" y="7268528"/>
            <a:ext cx="6705600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salah satu kata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AI Search vs Search Engine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2857500" y="8029575"/>
            <a:ext cx="12573000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</a:pPr>
            <a:r>
              <a:rPr lang="en-US" sz="315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AI membantu — tetapi tidak menggantikan berpikir kritis.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10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52500" y="2857500"/>
            <a:ext cx="16383000" cy="4743450"/>
            <a:chOff x="0" y="0"/>
            <a:chExt cx="21844000" cy="6324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844000" cy="6324600"/>
            </a:xfrm>
            <a:custGeom>
              <a:avLst/>
              <a:gdLst/>
              <a:ahLst/>
              <a:cxnLst/>
              <a:rect l="l" t="t" r="r" b="b"/>
              <a:pathLst>
                <a:path w="21844000" h="6324600">
                  <a:moveTo>
                    <a:pt x="0" y="0"/>
                  </a:moveTo>
                  <a:lnTo>
                    <a:pt x="21844000" y="0"/>
                  </a:lnTo>
                  <a:lnTo>
                    <a:pt x="21844000" y="6324600"/>
                  </a:lnTo>
                  <a:lnTo>
                    <a:pt x="0" y="6324600"/>
                  </a:lnTo>
                  <a:close/>
                </a:path>
              </a:pathLst>
            </a:custGeom>
            <a:solidFill>
              <a:srgbClr val="12233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1844000" cy="6372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2500" y="2857500"/>
            <a:ext cx="16383000" cy="781050"/>
            <a:chOff x="0" y="0"/>
            <a:chExt cx="21844000" cy="1041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844000" cy="1041400"/>
            </a:xfrm>
            <a:custGeom>
              <a:avLst/>
              <a:gdLst/>
              <a:ahLst/>
              <a:cxnLst/>
              <a:rect l="l" t="t" r="r" b="b"/>
              <a:pathLst>
                <a:path w="21844000" h="1041400">
                  <a:moveTo>
                    <a:pt x="0" y="0"/>
                  </a:moveTo>
                  <a:lnTo>
                    <a:pt x="21844000" y="0"/>
                  </a:lnTo>
                  <a:lnTo>
                    <a:pt x="21844000" y="1041400"/>
                  </a:lnTo>
                  <a:lnTo>
                    <a:pt x="0" y="1041400"/>
                  </a:lnTo>
                  <a:close/>
                </a:path>
              </a:pathLst>
            </a:custGeom>
            <a:solidFill>
              <a:srgbClr val="0B193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21844000" cy="1089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2500" y="3638550"/>
            <a:ext cx="16383000" cy="9525"/>
            <a:chOff x="0" y="0"/>
            <a:chExt cx="21844000" cy="127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844000" cy="12700"/>
            </a:xfrm>
            <a:custGeom>
              <a:avLst/>
              <a:gdLst/>
              <a:ahLst/>
              <a:cxnLst/>
              <a:rect l="l" t="t" r="r" b="b"/>
              <a:pathLst>
                <a:path w="21844000" h="12700">
                  <a:moveTo>
                    <a:pt x="0" y="0"/>
                  </a:moveTo>
                  <a:lnTo>
                    <a:pt x="21844000" y="0"/>
                  </a:lnTo>
                  <a:lnTo>
                    <a:pt x="21844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5D6B7E">
                <a:alpha val="8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1844000" cy="60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2500" y="4629150"/>
            <a:ext cx="16383000" cy="9525"/>
            <a:chOff x="0" y="0"/>
            <a:chExt cx="21844000" cy="127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844000" cy="12700"/>
            </a:xfrm>
            <a:custGeom>
              <a:avLst/>
              <a:gdLst/>
              <a:ahLst/>
              <a:cxnLst/>
              <a:rect l="l" t="t" r="r" b="b"/>
              <a:pathLst>
                <a:path w="21844000" h="12700">
                  <a:moveTo>
                    <a:pt x="0" y="0"/>
                  </a:moveTo>
                  <a:lnTo>
                    <a:pt x="21844000" y="0"/>
                  </a:lnTo>
                  <a:lnTo>
                    <a:pt x="21844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5D6B7E">
                <a:alpha val="8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1844000" cy="60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2500" y="5619750"/>
            <a:ext cx="16383000" cy="9525"/>
            <a:chOff x="0" y="0"/>
            <a:chExt cx="21844000" cy="127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844000" cy="12700"/>
            </a:xfrm>
            <a:custGeom>
              <a:avLst/>
              <a:gdLst/>
              <a:ahLst/>
              <a:cxnLst/>
              <a:rect l="l" t="t" r="r" b="b"/>
              <a:pathLst>
                <a:path w="21844000" h="12700">
                  <a:moveTo>
                    <a:pt x="0" y="0"/>
                  </a:moveTo>
                  <a:lnTo>
                    <a:pt x="21844000" y="0"/>
                  </a:lnTo>
                  <a:lnTo>
                    <a:pt x="21844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5D6B7E">
                <a:alpha val="8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1844000" cy="60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2500" y="6610350"/>
            <a:ext cx="16383000" cy="9525"/>
            <a:chOff x="0" y="0"/>
            <a:chExt cx="21844000" cy="127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1844000" cy="12700"/>
            </a:xfrm>
            <a:custGeom>
              <a:avLst/>
              <a:gdLst/>
              <a:ahLst/>
              <a:cxnLst/>
              <a:rect l="l" t="t" r="r" b="b"/>
              <a:pathLst>
                <a:path w="21844000" h="12700">
                  <a:moveTo>
                    <a:pt x="0" y="0"/>
                  </a:moveTo>
                  <a:lnTo>
                    <a:pt x="21844000" y="0"/>
                  </a:lnTo>
                  <a:lnTo>
                    <a:pt x="21844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5D6B7E">
                <a:alpha val="8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21844000" cy="60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409700" y="3064193"/>
            <a:ext cx="740092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Search Engine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477375" y="3064193"/>
            <a:ext cx="740092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AI Assistant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09700" y="39690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Menampilkan daftar halaman web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77375" y="39690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Memberikan jawaban atau penjelasan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09700" y="49596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Pengguna memilih sumber sendiri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477375" y="49596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AI merangkum informasi dari berbagai sumber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09700" y="59502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Cocok mencari referensi asli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77375" y="59502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Cocok memahami konsep atau brainstorming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09700" y="69408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Tetap perlu mengevaluasi sumber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477375" y="6940868"/>
            <a:ext cx="7400925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Tetap perlu memverifikasi jawaban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Apakah semua informasi benar?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1905000" y="4389120"/>
            <a:ext cx="2000250" cy="1238250"/>
            <a:chOff x="0" y="0"/>
            <a:chExt cx="2667000" cy="1651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67000" cy="1651000"/>
            </a:xfrm>
            <a:custGeom>
              <a:avLst/>
              <a:gdLst/>
              <a:ahLst/>
              <a:cxnLst/>
              <a:rect l="l" t="t" r="r" b="b"/>
              <a:pathLst>
                <a:path w="2667000" h="1651000">
                  <a:moveTo>
                    <a:pt x="72571" y="0"/>
                  </a:moveTo>
                  <a:lnTo>
                    <a:pt x="2594429" y="0"/>
                  </a:lnTo>
                  <a:cubicBezTo>
                    <a:pt x="2613676" y="0"/>
                    <a:pt x="2632134" y="7646"/>
                    <a:pt x="2645744" y="21256"/>
                  </a:cubicBezTo>
                  <a:cubicBezTo>
                    <a:pt x="2659354" y="34865"/>
                    <a:pt x="2667000" y="53324"/>
                    <a:pt x="2667000" y="72571"/>
                  </a:cubicBezTo>
                  <a:lnTo>
                    <a:pt x="2667000" y="1578429"/>
                  </a:lnTo>
                  <a:cubicBezTo>
                    <a:pt x="2667000" y="1597676"/>
                    <a:pt x="2659354" y="1616135"/>
                    <a:pt x="2645744" y="1629744"/>
                  </a:cubicBezTo>
                  <a:cubicBezTo>
                    <a:pt x="2632134" y="1643354"/>
                    <a:pt x="2613676" y="1651000"/>
                    <a:pt x="2594429" y="1651000"/>
                  </a:cubicBezTo>
                  <a:lnTo>
                    <a:pt x="72571" y="1651000"/>
                  </a:lnTo>
                  <a:cubicBezTo>
                    <a:pt x="53324" y="1651000"/>
                    <a:pt x="34865" y="1643354"/>
                    <a:pt x="21256" y="1629744"/>
                  </a:cubicBezTo>
                  <a:cubicBezTo>
                    <a:pt x="7646" y="1616135"/>
                    <a:pt x="0" y="1597676"/>
                    <a:pt x="0" y="1578429"/>
                  </a:cubicBezTo>
                  <a:lnTo>
                    <a:pt x="0" y="72571"/>
                  </a:lnTo>
                  <a:cubicBezTo>
                    <a:pt x="0" y="53324"/>
                    <a:pt x="7646" y="34865"/>
                    <a:pt x="21256" y="21256"/>
                  </a:cubicBezTo>
                  <a:cubicBezTo>
                    <a:pt x="34865" y="7646"/>
                    <a:pt x="53324" y="0"/>
                    <a:pt x="72571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2667000" cy="1679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5"/>
                </a:lnSpc>
              </a:pPr>
              <a:r>
                <a:rPr lang="en-US" sz="1725" b="1" dirty="0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Website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flipV="1">
            <a:off x="3905250" y="4246245"/>
            <a:ext cx="428625" cy="762000"/>
          </a:xfrm>
          <a:prstGeom prst="line">
            <a:avLst/>
          </a:prstGeom>
          <a:ln w="28575" cap="flat">
            <a:solidFill>
              <a:srgbClr val="5D6B7E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4381500" y="3627120"/>
            <a:ext cx="2000250" cy="1238250"/>
            <a:chOff x="0" y="0"/>
            <a:chExt cx="2667000" cy="1651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667000" cy="1651000"/>
            </a:xfrm>
            <a:custGeom>
              <a:avLst/>
              <a:gdLst/>
              <a:ahLst/>
              <a:cxnLst/>
              <a:rect l="l" t="t" r="r" b="b"/>
              <a:pathLst>
                <a:path w="2667000" h="1651000">
                  <a:moveTo>
                    <a:pt x="72571" y="0"/>
                  </a:moveTo>
                  <a:lnTo>
                    <a:pt x="2594429" y="0"/>
                  </a:lnTo>
                  <a:cubicBezTo>
                    <a:pt x="2613676" y="0"/>
                    <a:pt x="2632134" y="7646"/>
                    <a:pt x="2645744" y="21256"/>
                  </a:cubicBezTo>
                  <a:cubicBezTo>
                    <a:pt x="2659354" y="34865"/>
                    <a:pt x="2667000" y="53324"/>
                    <a:pt x="2667000" y="72571"/>
                  </a:cubicBezTo>
                  <a:lnTo>
                    <a:pt x="2667000" y="1578429"/>
                  </a:lnTo>
                  <a:cubicBezTo>
                    <a:pt x="2667000" y="1597676"/>
                    <a:pt x="2659354" y="1616135"/>
                    <a:pt x="2645744" y="1629744"/>
                  </a:cubicBezTo>
                  <a:cubicBezTo>
                    <a:pt x="2632134" y="1643354"/>
                    <a:pt x="2613676" y="1651000"/>
                    <a:pt x="2594429" y="1651000"/>
                  </a:cubicBezTo>
                  <a:lnTo>
                    <a:pt x="72571" y="1651000"/>
                  </a:lnTo>
                  <a:cubicBezTo>
                    <a:pt x="53324" y="1651000"/>
                    <a:pt x="34865" y="1643354"/>
                    <a:pt x="21256" y="1629744"/>
                  </a:cubicBezTo>
                  <a:cubicBezTo>
                    <a:pt x="7646" y="1616135"/>
                    <a:pt x="0" y="1597676"/>
                    <a:pt x="0" y="1578429"/>
                  </a:cubicBezTo>
                  <a:lnTo>
                    <a:pt x="0" y="72571"/>
                  </a:lnTo>
                  <a:cubicBezTo>
                    <a:pt x="0" y="53324"/>
                    <a:pt x="7646" y="34865"/>
                    <a:pt x="21256" y="21256"/>
                  </a:cubicBezTo>
                  <a:cubicBezTo>
                    <a:pt x="34865" y="7646"/>
                    <a:pt x="53324" y="0"/>
                    <a:pt x="72571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2667000" cy="1679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5"/>
                </a:lnSpc>
              </a:pPr>
              <a:r>
                <a:rPr lang="en-US" sz="1725" b="1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TikTok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6381750" y="4246245"/>
            <a:ext cx="428625" cy="762000"/>
          </a:xfrm>
          <a:prstGeom prst="line">
            <a:avLst/>
          </a:prstGeom>
          <a:ln w="28575" cap="flat">
            <a:solidFill>
              <a:srgbClr val="5D6B7E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6858000" y="4389120"/>
            <a:ext cx="2000250" cy="1238250"/>
            <a:chOff x="0" y="0"/>
            <a:chExt cx="2667000" cy="1651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667000" cy="1651000"/>
            </a:xfrm>
            <a:custGeom>
              <a:avLst/>
              <a:gdLst/>
              <a:ahLst/>
              <a:cxnLst/>
              <a:rect l="l" t="t" r="r" b="b"/>
              <a:pathLst>
                <a:path w="2667000" h="1651000">
                  <a:moveTo>
                    <a:pt x="72571" y="0"/>
                  </a:moveTo>
                  <a:lnTo>
                    <a:pt x="2594429" y="0"/>
                  </a:lnTo>
                  <a:cubicBezTo>
                    <a:pt x="2613676" y="0"/>
                    <a:pt x="2632134" y="7646"/>
                    <a:pt x="2645744" y="21256"/>
                  </a:cubicBezTo>
                  <a:cubicBezTo>
                    <a:pt x="2659354" y="34865"/>
                    <a:pt x="2667000" y="53324"/>
                    <a:pt x="2667000" y="72571"/>
                  </a:cubicBezTo>
                  <a:lnTo>
                    <a:pt x="2667000" y="1578429"/>
                  </a:lnTo>
                  <a:cubicBezTo>
                    <a:pt x="2667000" y="1597676"/>
                    <a:pt x="2659354" y="1616135"/>
                    <a:pt x="2645744" y="1629744"/>
                  </a:cubicBezTo>
                  <a:cubicBezTo>
                    <a:pt x="2632134" y="1643354"/>
                    <a:pt x="2613676" y="1651000"/>
                    <a:pt x="2594429" y="1651000"/>
                  </a:cubicBezTo>
                  <a:lnTo>
                    <a:pt x="72571" y="1651000"/>
                  </a:lnTo>
                  <a:cubicBezTo>
                    <a:pt x="53324" y="1651000"/>
                    <a:pt x="34865" y="1643354"/>
                    <a:pt x="21256" y="1629744"/>
                  </a:cubicBezTo>
                  <a:cubicBezTo>
                    <a:pt x="7646" y="1616135"/>
                    <a:pt x="0" y="1597676"/>
                    <a:pt x="0" y="1578429"/>
                  </a:cubicBezTo>
                  <a:lnTo>
                    <a:pt x="0" y="72571"/>
                  </a:lnTo>
                  <a:cubicBezTo>
                    <a:pt x="0" y="53324"/>
                    <a:pt x="7646" y="34865"/>
                    <a:pt x="21256" y="21256"/>
                  </a:cubicBezTo>
                  <a:cubicBezTo>
                    <a:pt x="34865" y="7646"/>
                    <a:pt x="53324" y="0"/>
                    <a:pt x="72571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2667000" cy="1679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5"/>
                </a:lnSpc>
              </a:pPr>
              <a:r>
                <a:rPr lang="en-US" sz="1725" b="1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Instagram</a:t>
              </a:r>
            </a:p>
          </p:txBody>
        </p:sp>
      </p:grpSp>
      <p:sp>
        <p:nvSpPr>
          <p:cNvPr id="20" name="AutoShape 20"/>
          <p:cNvSpPr/>
          <p:nvPr/>
        </p:nvSpPr>
        <p:spPr>
          <a:xfrm flipV="1">
            <a:off x="8858250" y="4246245"/>
            <a:ext cx="428625" cy="762000"/>
          </a:xfrm>
          <a:prstGeom prst="line">
            <a:avLst/>
          </a:prstGeom>
          <a:ln w="28575" cap="flat">
            <a:solidFill>
              <a:srgbClr val="5D6B7E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>
            <a:off x="9334500" y="3627120"/>
            <a:ext cx="2000250" cy="1238250"/>
            <a:chOff x="0" y="0"/>
            <a:chExt cx="2667000" cy="1651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667000" cy="1651000"/>
            </a:xfrm>
            <a:custGeom>
              <a:avLst/>
              <a:gdLst/>
              <a:ahLst/>
              <a:cxnLst/>
              <a:rect l="l" t="t" r="r" b="b"/>
              <a:pathLst>
                <a:path w="2667000" h="1651000">
                  <a:moveTo>
                    <a:pt x="72571" y="0"/>
                  </a:moveTo>
                  <a:lnTo>
                    <a:pt x="2594429" y="0"/>
                  </a:lnTo>
                  <a:cubicBezTo>
                    <a:pt x="2613676" y="0"/>
                    <a:pt x="2632134" y="7646"/>
                    <a:pt x="2645744" y="21256"/>
                  </a:cubicBezTo>
                  <a:cubicBezTo>
                    <a:pt x="2659354" y="34865"/>
                    <a:pt x="2667000" y="53324"/>
                    <a:pt x="2667000" y="72571"/>
                  </a:cubicBezTo>
                  <a:lnTo>
                    <a:pt x="2667000" y="1578429"/>
                  </a:lnTo>
                  <a:cubicBezTo>
                    <a:pt x="2667000" y="1597676"/>
                    <a:pt x="2659354" y="1616135"/>
                    <a:pt x="2645744" y="1629744"/>
                  </a:cubicBezTo>
                  <a:cubicBezTo>
                    <a:pt x="2632134" y="1643354"/>
                    <a:pt x="2613676" y="1651000"/>
                    <a:pt x="2594429" y="1651000"/>
                  </a:cubicBezTo>
                  <a:lnTo>
                    <a:pt x="72571" y="1651000"/>
                  </a:lnTo>
                  <a:cubicBezTo>
                    <a:pt x="53324" y="1651000"/>
                    <a:pt x="34865" y="1643354"/>
                    <a:pt x="21256" y="1629744"/>
                  </a:cubicBezTo>
                  <a:cubicBezTo>
                    <a:pt x="7646" y="1616135"/>
                    <a:pt x="0" y="1597676"/>
                    <a:pt x="0" y="1578429"/>
                  </a:cubicBezTo>
                  <a:lnTo>
                    <a:pt x="0" y="72571"/>
                  </a:lnTo>
                  <a:cubicBezTo>
                    <a:pt x="0" y="53324"/>
                    <a:pt x="7646" y="34865"/>
                    <a:pt x="21256" y="21256"/>
                  </a:cubicBezTo>
                  <a:cubicBezTo>
                    <a:pt x="34865" y="7646"/>
                    <a:pt x="53324" y="0"/>
                    <a:pt x="72571" y="0"/>
                  </a:cubicBezTo>
                  <a:close/>
                </a:path>
              </a:pathLst>
            </a:custGeom>
            <a:solidFill>
              <a:srgbClr val="FFC85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2667000" cy="1679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5"/>
                </a:lnSpc>
              </a:pPr>
              <a:r>
                <a:rPr lang="en-US" sz="1725" b="1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ChatGPT</a:t>
              </a:r>
            </a:p>
          </p:txBody>
        </p:sp>
      </p:grpSp>
      <p:sp>
        <p:nvSpPr>
          <p:cNvPr id="24" name="AutoShape 24"/>
          <p:cNvSpPr/>
          <p:nvPr/>
        </p:nvSpPr>
        <p:spPr>
          <a:xfrm>
            <a:off x="11334750" y="4246245"/>
            <a:ext cx="428625" cy="762000"/>
          </a:xfrm>
          <a:prstGeom prst="line">
            <a:avLst/>
          </a:prstGeom>
          <a:ln w="28575" cap="flat">
            <a:solidFill>
              <a:srgbClr val="5D6B7E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5" name="Group 25"/>
          <p:cNvGrpSpPr/>
          <p:nvPr/>
        </p:nvGrpSpPr>
        <p:grpSpPr>
          <a:xfrm>
            <a:off x="11811000" y="4389120"/>
            <a:ext cx="2000250" cy="1238250"/>
            <a:chOff x="0" y="0"/>
            <a:chExt cx="2667000" cy="1651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667000" cy="1651000"/>
            </a:xfrm>
            <a:custGeom>
              <a:avLst/>
              <a:gdLst/>
              <a:ahLst/>
              <a:cxnLst/>
              <a:rect l="l" t="t" r="r" b="b"/>
              <a:pathLst>
                <a:path w="2667000" h="1651000">
                  <a:moveTo>
                    <a:pt x="72571" y="0"/>
                  </a:moveTo>
                  <a:lnTo>
                    <a:pt x="2594429" y="0"/>
                  </a:lnTo>
                  <a:cubicBezTo>
                    <a:pt x="2613676" y="0"/>
                    <a:pt x="2632134" y="7646"/>
                    <a:pt x="2645744" y="21256"/>
                  </a:cubicBezTo>
                  <a:cubicBezTo>
                    <a:pt x="2659354" y="34865"/>
                    <a:pt x="2667000" y="53324"/>
                    <a:pt x="2667000" y="72571"/>
                  </a:cubicBezTo>
                  <a:lnTo>
                    <a:pt x="2667000" y="1578429"/>
                  </a:lnTo>
                  <a:cubicBezTo>
                    <a:pt x="2667000" y="1597676"/>
                    <a:pt x="2659354" y="1616135"/>
                    <a:pt x="2645744" y="1629744"/>
                  </a:cubicBezTo>
                  <a:cubicBezTo>
                    <a:pt x="2632134" y="1643354"/>
                    <a:pt x="2613676" y="1651000"/>
                    <a:pt x="2594429" y="1651000"/>
                  </a:cubicBezTo>
                  <a:lnTo>
                    <a:pt x="72571" y="1651000"/>
                  </a:lnTo>
                  <a:cubicBezTo>
                    <a:pt x="53324" y="1651000"/>
                    <a:pt x="34865" y="1643354"/>
                    <a:pt x="21256" y="1629744"/>
                  </a:cubicBezTo>
                  <a:cubicBezTo>
                    <a:pt x="7646" y="1616135"/>
                    <a:pt x="0" y="1597676"/>
                    <a:pt x="0" y="1578429"/>
                  </a:cubicBezTo>
                  <a:lnTo>
                    <a:pt x="0" y="72571"/>
                  </a:lnTo>
                  <a:cubicBezTo>
                    <a:pt x="0" y="53324"/>
                    <a:pt x="7646" y="34865"/>
                    <a:pt x="21256" y="21256"/>
                  </a:cubicBezTo>
                  <a:cubicBezTo>
                    <a:pt x="34865" y="7646"/>
                    <a:pt x="53324" y="0"/>
                    <a:pt x="72571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28575"/>
              <a:ext cx="2667000" cy="1679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5"/>
                </a:lnSpc>
              </a:pPr>
              <a:r>
                <a:rPr lang="en-US" sz="1725" b="1">
                  <a:solidFill>
                    <a:srgbClr val="12233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Blog</a:t>
              </a: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13811250" y="4246245"/>
            <a:ext cx="428625" cy="762000"/>
          </a:xfrm>
          <a:prstGeom prst="line">
            <a:avLst/>
          </a:prstGeom>
          <a:ln w="28575" cap="flat">
            <a:solidFill>
              <a:srgbClr val="5D6B7E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9" name="Group 29"/>
          <p:cNvGrpSpPr/>
          <p:nvPr/>
        </p:nvGrpSpPr>
        <p:grpSpPr>
          <a:xfrm>
            <a:off x="14287500" y="3627120"/>
            <a:ext cx="2000250" cy="1238250"/>
            <a:chOff x="0" y="0"/>
            <a:chExt cx="2667000" cy="1651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667000" cy="1651000"/>
            </a:xfrm>
            <a:custGeom>
              <a:avLst/>
              <a:gdLst/>
              <a:ahLst/>
              <a:cxnLst/>
              <a:rect l="l" t="t" r="r" b="b"/>
              <a:pathLst>
                <a:path w="2667000" h="1651000">
                  <a:moveTo>
                    <a:pt x="72571" y="0"/>
                  </a:moveTo>
                  <a:lnTo>
                    <a:pt x="2594429" y="0"/>
                  </a:lnTo>
                  <a:cubicBezTo>
                    <a:pt x="2613676" y="0"/>
                    <a:pt x="2632134" y="7646"/>
                    <a:pt x="2645744" y="21256"/>
                  </a:cubicBezTo>
                  <a:cubicBezTo>
                    <a:pt x="2659354" y="34865"/>
                    <a:pt x="2667000" y="53324"/>
                    <a:pt x="2667000" y="72571"/>
                  </a:cubicBezTo>
                  <a:lnTo>
                    <a:pt x="2667000" y="1578429"/>
                  </a:lnTo>
                  <a:cubicBezTo>
                    <a:pt x="2667000" y="1597676"/>
                    <a:pt x="2659354" y="1616135"/>
                    <a:pt x="2645744" y="1629744"/>
                  </a:cubicBezTo>
                  <a:cubicBezTo>
                    <a:pt x="2632134" y="1643354"/>
                    <a:pt x="2613676" y="1651000"/>
                    <a:pt x="2594429" y="1651000"/>
                  </a:cubicBezTo>
                  <a:lnTo>
                    <a:pt x="72571" y="1651000"/>
                  </a:lnTo>
                  <a:cubicBezTo>
                    <a:pt x="53324" y="1651000"/>
                    <a:pt x="34865" y="1643354"/>
                    <a:pt x="21256" y="1629744"/>
                  </a:cubicBezTo>
                  <a:cubicBezTo>
                    <a:pt x="7646" y="1616135"/>
                    <a:pt x="0" y="1597676"/>
                    <a:pt x="0" y="1578429"/>
                  </a:cubicBezTo>
                  <a:lnTo>
                    <a:pt x="0" y="72571"/>
                  </a:lnTo>
                  <a:cubicBezTo>
                    <a:pt x="0" y="53324"/>
                    <a:pt x="7646" y="34865"/>
                    <a:pt x="21256" y="21256"/>
                  </a:cubicBezTo>
                  <a:cubicBezTo>
                    <a:pt x="34865" y="7646"/>
                    <a:pt x="53324" y="0"/>
                    <a:pt x="72571" y="0"/>
                  </a:cubicBezTo>
                  <a:close/>
                </a:path>
              </a:pathLst>
            </a:custGeom>
            <a:solidFill>
              <a:srgbClr val="18A99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2667000" cy="1679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5"/>
                </a:lnSpc>
              </a:pPr>
              <a:r>
                <a:rPr lang="en-US" sz="1725" b="1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Jurnal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3429000" y="6591300"/>
            <a:ext cx="11430000" cy="662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sz="39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Mana yang paling dapat dipercaya?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429000" y="7486650"/>
            <a:ext cx="11430000" cy="702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Jenis media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tidak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otomatis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menentukan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kredibilitas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Periksa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isi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pembuat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bukti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, dan </a:t>
            </a:r>
            <a:r>
              <a:rPr lang="en-US" sz="2100" dirty="0" err="1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konteksnya</a:t>
            </a:r>
            <a:r>
              <a:rPr lang="en-US" sz="2100" dirty="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186E9-6C6A-E09A-0036-684163786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7D7460E9-27BA-E6DB-F9C1-1D3923DCBFF8}"/>
              </a:ext>
            </a:extLst>
          </p:cNvPr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11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5968025-DC81-BE79-3B9F-E94F2EF03C9F}"/>
              </a:ext>
            </a:extLst>
          </p:cNvPr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Lihat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ini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…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F4DBECF8-5004-CCBA-8A5C-AE81DF946A5D}"/>
              </a:ext>
            </a:extLst>
          </p:cNvPr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954C9D9-1D1E-6D98-96B2-EC694A8DCF62}"/>
              </a:ext>
            </a:extLst>
          </p:cNvPr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3E3A6BA1-0C04-444D-E811-099C22CC0104}"/>
              </a:ext>
            </a:extLst>
          </p:cNvPr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11</a:t>
            </a:r>
          </a:p>
        </p:txBody>
      </p:sp>
      <p:pic>
        <p:nvPicPr>
          <p:cNvPr id="5" name="Picture 4" descr="Kata Istana hingga Kemendikti soal Makalah MBG Catut Nama Prabowo untuk  Dapat Nobel">
            <a:extLst>
              <a:ext uri="{FF2B5EF4-FFF2-40B4-BE49-F238E27FC236}">
                <a16:creationId xmlns:a16="http://schemas.microsoft.com/office/drawing/2014/main" id="{6C6B6198-C81F-18E1-84C2-6BFE11866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025014"/>
            <a:ext cx="9525000" cy="714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1889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Evaluasi sumber dengan metode 5C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28405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762000" y="2762250"/>
            <a:ext cx="3143250" cy="3905250"/>
            <a:chOff x="0" y="0"/>
            <a:chExt cx="4191000" cy="52070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4191000" cy="5207000"/>
              <a:chOff x="0" y="0"/>
              <a:chExt cx="4191000" cy="5207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191000" cy="5207000"/>
              </a:xfrm>
              <a:custGeom>
                <a:avLst/>
                <a:gdLst/>
                <a:ahLst/>
                <a:cxnLst/>
                <a:rect l="l" t="t" r="r" b="b"/>
                <a:pathLst>
                  <a:path w="4191000" h="5207000">
                    <a:moveTo>
                      <a:pt x="0" y="0"/>
                    </a:moveTo>
                    <a:lnTo>
                      <a:pt x="4191000" y="0"/>
                    </a:lnTo>
                    <a:lnTo>
                      <a:pt x="4191000" y="5207000"/>
                    </a:lnTo>
                    <a:lnTo>
                      <a:pt x="0" y="5207000"/>
                    </a:lnTo>
                    <a:close/>
                  </a:path>
                </a:pathLst>
              </a:custGeom>
              <a:solidFill>
                <a:srgbClr val="183252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4191000" cy="524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381000" y="422275"/>
              <a:ext cx="1270000" cy="847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50"/>
                </a:lnSpc>
              </a:pPr>
              <a:r>
                <a:rPr lang="en-US" sz="3750" dirty="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C1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1000" y="2047875"/>
              <a:ext cx="3556000" cy="5149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54"/>
                </a:lnSpc>
              </a:pPr>
              <a:r>
                <a:rPr lang="en-US" sz="2325" b="1">
                  <a:solidFill>
                    <a:srgbClr val="FFFFF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Currency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1000" y="2955925"/>
              <a:ext cx="3556000" cy="3892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C8D4E2"/>
                  </a:solidFill>
                  <a:latin typeface="DM Sans"/>
                  <a:ea typeface="DM Sans"/>
                  <a:cs typeface="DM Sans"/>
                  <a:sym typeface="DM Sans"/>
                </a:rPr>
                <a:t>Apakah masih terbaru?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238625" y="2762250"/>
            <a:ext cx="3143250" cy="3905250"/>
            <a:chOff x="0" y="0"/>
            <a:chExt cx="4191000" cy="520700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4191000" cy="5207000"/>
              <a:chOff x="0" y="0"/>
              <a:chExt cx="4191000" cy="5207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4191000" cy="5207000"/>
              </a:xfrm>
              <a:custGeom>
                <a:avLst/>
                <a:gdLst/>
                <a:ahLst/>
                <a:cxnLst/>
                <a:rect l="l" t="t" r="r" b="b"/>
                <a:pathLst>
                  <a:path w="4191000" h="5207000">
                    <a:moveTo>
                      <a:pt x="0" y="0"/>
                    </a:moveTo>
                    <a:lnTo>
                      <a:pt x="4191000" y="0"/>
                    </a:lnTo>
                    <a:lnTo>
                      <a:pt x="4191000" y="5207000"/>
                    </a:lnTo>
                    <a:lnTo>
                      <a:pt x="0" y="5207000"/>
                    </a:lnTo>
                    <a:close/>
                  </a:path>
                </a:pathLst>
              </a:custGeom>
              <a:solidFill>
                <a:srgbClr val="183252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4191000" cy="524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381000" y="422275"/>
              <a:ext cx="1270000" cy="847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50"/>
                </a:lnSpc>
              </a:pPr>
              <a:r>
                <a:rPr lang="en-US" sz="375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C2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1000" y="2047875"/>
              <a:ext cx="3556000" cy="5149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54"/>
                </a:lnSpc>
              </a:pPr>
              <a:r>
                <a:rPr lang="en-US" sz="2325" b="1">
                  <a:solidFill>
                    <a:srgbClr val="FFFFF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Credibility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1000" y="2955925"/>
              <a:ext cx="3556000" cy="3892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C8D4E2"/>
                  </a:solidFill>
                  <a:latin typeface="DM Sans"/>
                  <a:ea typeface="DM Sans"/>
                  <a:cs typeface="DM Sans"/>
                  <a:sym typeface="DM Sans"/>
                </a:rPr>
                <a:t>Siapa penulisnya?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715250" y="2762250"/>
            <a:ext cx="3143250" cy="3905250"/>
            <a:chOff x="0" y="0"/>
            <a:chExt cx="4191000" cy="5207000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4191000" cy="5207000"/>
              <a:chOff x="0" y="0"/>
              <a:chExt cx="4191000" cy="52070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4191000" cy="5207000"/>
              </a:xfrm>
              <a:custGeom>
                <a:avLst/>
                <a:gdLst/>
                <a:ahLst/>
                <a:cxnLst/>
                <a:rect l="l" t="t" r="r" b="b"/>
                <a:pathLst>
                  <a:path w="4191000" h="5207000">
                    <a:moveTo>
                      <a:pt x="0" y="0"/>
                    </a:moveTo>
                    <a:lnTo>
                      <a:pt x="4191000" y="0"/>
                    </a:lnTo>
                    <a:lnTo>
                      <a:pt x="4191000" y="5207000"/>
                    </a:lnTo>
                    <a:lnTo>
                      <a:pt x="0" y="5207000"/>
                    </a:lnTo>
                    <a:close/>
                  </a:path>
                </a:pathLst>
              </a:custGeom>
              <a:solidFill>
                <a:srgbClr val="183252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4191000" cy="524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381000" y="422275"/>
              <a:ext cx="1270000" cy="847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50"/>
                </a:lnSpc>
              </a:pPr>
              <a:r>
                <a:rPr lang="en-US" sz="375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C3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1000" y="2047875"/>
              <a:ext cx="3556000" cy="5149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54"/>
                </a:lnSpc>
              </a:pPr>
              <a:r>
                <a:rPr lang="en-US" sz="2325" b="1">
                  <a:solidFill>
                    <a:srgbClr val="FFFFF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Correctness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1000" y="2955925"/>
              <a:ext cx="3556000" cy="3892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C8D4E2"/>
                  </a:solidFill>
                  <a:latin typeface="DM Sans"/>
                  <a:ea typeface="DM Sans"/>
                  <a:cs typeface="DM Sans"/>
                  <a:sym typeface="DM Sans"/>
                </a:rPr>
                <a:t>Ada bukti pendukung?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191875" y="2762250"/>
            <a:ext cx="3143250" cy="3905250"/>
            <a:chOff x="0" y="0"/>
            <a:chExt cx="4191000" cy="5207000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4191000" cy="5207000"/>
              <a:chOff x="0" y="0"/>
              <a:chExt cx="4191000" cy="52070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4191000" cy="5207000"/>
              </a:xfrm>
              <a:custGeom>
                <a:avLst/>
                <a:gdLst/>
                <a:ahLst/>
                <a:cxnLst/>
                <a:rect l="l" t="t" r="r" b="b"/>
                <a:pathLst>
                  <a:path w="4191000" h="5207000">
                    <a:moveTo>
                      <a:pt x="0" y="0"/>
                    </a:moveTo>
                    <a:lnTo>
                      <a:pt x="4191000" y="0"/>
                    </a:lnTo>
                    <a:lnTo>
                      <a:pt x="4191000" y="5207000"/>
                    </a:lnTo>
                    <a:lnTo>
                      <a:pt x="0" y="5207000"/>
                    </a:lnTo>
                    <a:close/>
                  </a:path>
                </a:pathLst>
              </a:custGeom>
              <a:solidFill>
                <a:srgbClr val="183252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4191000" cy="524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381000" y="422275"/>
              <a:ext cx="1270000" cy="847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50"/>
                </a:lnSpc>
              </a:pPr>
              <a:r>
                <a:rPr lang="en-US" sz="375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C4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81000" y="2047875"/>
              <a:ext cx="3556000" cy="5149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54"/>
                </a:lnSpc>
              </a:pPr>
              <a:r>
                <a:rPr lang="en-US" sz="2325" b="1">
                  <a:solidFill>
                    <a:srgbClr val="FFFFF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Coverage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81000" y="2955925"/>
              <a:ext cx="3556000" cy="3892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C8D4E2"/>
                  </a:solidFill>
                  <a:latin typeface="DM Sans"/>
                  <a:ea typeface="DM Sans"/>
                  <a:cs typeface="DM Sans"/>
                  <a:sym typeface="DM Sans"/>
                </a:rPr>
                <a:t>Cukup lengkap?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4668500" y="2762250"/>
            <a:ext cx="3143250" cy="3905250"/>
            <a:chOff x="0" y="0"/>
            <a:chExt cx="4191000" cy="5207000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4191000" cy="5207000"/>
              <a:chOff x="0" y="0"/>
              <a:chExt cx="4191000" cy="52070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4191000" cy="5207000"/>
              </a:xfrm>
              <a:custGeom>
                <a:avLst/>
                <a:gdLst/>
                <a:ahLst/>
                <a:cxnLst/>
                <a:rect l="l" t="t" r="r" b="b"/>
                <a:pathLst>
                  <a:path w="4191000" h="5207000">
                    <a:moveTo>
                      <a:pt x="0" y="0"/>
                    </a:moveTo>
                    <a:lnTo>
                      <a:pt x="4191000" y="0"/>
                    </a:lnTo>
                    <a:lnTo>
                      <a:pt x="4191000" y="5207000"/>
                    </a:lnTo>
                    <a:lnTo>
                      <a:pt x="0" y="5207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4191000" cy="524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81000" y="422275"/>
              <a:ext cx="1270000" cy="847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50"/>
                </a:lnSpc>
              </a:pPr>
              <a:r>
                <a:rPr lang="en-US" sz="3750">
                  <a:solidFill>
                    <a:srgbClr val="12233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C5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81000" y="2047875"/>
              <a:ext cx="3556000" cy="5149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54"/>
                </a:lnSpc>
              </a:pPr>
              <a:r>
                <a:rPr lang="en-US" sz="2325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Citation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81000" y="2955925"/>
              <a:ext cx="3556000" cy="3892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Rujukannya jelas?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7AD9F5B-556F-2650-0EFE-1B7469BE2BE0}"/>
              </a:ext>
            </a:extLst>
          </p:cNvPr>
          <p:cNvSpPr/>
          <p:nvPr/>
        </p:nvSpPr>
        <p:spPr>
          <a:xfrm>
            <a:off x="1537855" y="3389351"/>
            <a:ext cx="4191000" cy="160020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825"/>
              </a:lnSpc>
            </a:pP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MISINFORMASI</a:t>
            </a:r>
          </a:p>
          <a:p>
            <a:pPr>
              <a:lnSpc>
                <a:spcPts val="3825"/>
              </a:lnSpc>
            </a:pPr>
            <a:r>
              <a:rPr lang="en-US" sz="2400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Salah </a:t>
            </a:r>
            <a:r>
              <a:rPr lang="en-US" sz="2400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tanpa</a:t>
            </a:r>
            <a:r>
              <a:rPr lang="en-US" sz="2400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niat</a:t>
            </a:r>
            <a:r>
              <a:rPr lang="en-US" sz="2400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menipu</a:t>
            </a:r>
            <a:endParaRPr lang="en-US" sz="2400" dirty="0">
              <a:solidFill>
                <a:srgbClr val="12233F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 dirty="0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Tidak </a:t>
            </a: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semua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informasi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salah </a:t>
            </a: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sama</a:t>
            </a:r>
            <a:endParaRPr lang="en-US" sz="4800" b="1" dirty="0">
              <a:solidFill>
                <a:srgbClr val="12233F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13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70F17FE-A20C-13CC-9F90-16C0DE26D5E1}"/>
              </a:ext>
            </a:extLst>
          </p:cNvPr>
          <p:cNvSpPr/>
          <p:nvPr/>
        </p:nvSpPr>
        <p:spPr>
          <a:xfrm>
            <a:off x="6459682" y="3316616"/>
            <a:ext cx="4191000" cy="16002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825"/>
              </a:lnSpc>
            </a:pPr>
            <a:r>
              <a:rPr lang="en-US" sz="2400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DISINFORMASI</a:t>
            </a:r>
          </a:p>
          <a:p>
            <a:pPr>
              <a:lnSpc>
                <a:spcPts val="3825"/>
              </a:lnSpc>
            </a:pP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Salah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dengan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niat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menipu</a:t>
            </a:r>
            <a:endParaRPr lang="en-US" sz="2400" b="1" dirty="0">
              <a:solidFill>
                <a:srgbClr val="12233F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98434F4-7BD0-9CE1-FE06-D14322560A44}"/>
              </a:ext>
            </a:extLst>
          </p:cNvPr>
          <p:cNvSpPr/>
          <p:nvPr/>
        </p:nvSpPr>
        <p:spPr>
          <a:xfrm>
            <a:off x="11381509" y="3221457"/>
            <a:ext cx="4191000" cy="16002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825"/>
              </a:lnSpc>
            </a:pP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MALINFORMASI</a:t>
            </a:r>
          </a:p>
          <a:p>
            <a:pPr>
              <a:lnSpc>
                <a:spcPts val="3825"/>
              </a:lnSpc>
            </a:pP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Benar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tetapi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disebar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untuk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Merugikan</a:t>
            </a:r>
            <a:endParaRPr lang="en-US" sz="2400" b="1" dirty="0">
              <a:solidFill>
                <a:srgbClr val="12233F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A6C6709-C34D-6829-0076-A3E7641C16DA}"/>
              </a:ext>
            </a:extLst>
          </p:cNvPr>
          <p:cNvSpPr/>
          <p:nvPr/>
        </p:nvSpPr>
        <p:spPr>
          <a:xfrm>
            <a:off x="3870614" y="5945150"/>
            <a:ext cx="4191000" cy="160020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825"/>
              </a:lnSpc>
            </a:pP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HOAKS</a:t>
            </a:r>
          </a:p>
          <a:p>
            <a:pPr>
              <a:lnSpc>
                <a:spcPts val="3825"/>
              </a:lnSpc>
            </a:pP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Berita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bohong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yang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direkayasa</a:t>
            </a:r>
            <a:endParaRPr lang="en-US" sz="2400" b="1" dirty="0">
              <a:solidFill>
                <a:srgbClr val="12233F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1CFFAEB-488A-70E2-8A22-6ADD3ABCFBC0}"/>
              </a:ext>
            </a:extLst>
          </p:cNvPr>
          <p:cNvSpPr/>
          <p:nvPr/>
        </p:nvSpPr>
        <p:spPr>
          <a:xfrm>
            <a:off x="9144000" y="5945150"/>
            <a:ext cx="4191000" cy="1600200"/>
          </a:xfrm>
          <a:prstGeom prst="roundRect">
            <a:avLst/>
          </a:prstGeom>
          <a:solidFill>
            <a:srgbClr val="EAFF7C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825"/>
              </a:lnSpc>
            </a:pP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CLICKBAIT</a:t>
            </a:r>
          </a:p>
          <a:p>
            <a:pPr>
              <a:lnSpc>
                <a:spcPts val="3825"/>
              </a:lnSpc>
            </a:pP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Judul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sensasional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yang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tak</a:t>
            </a:r>
            <a:r>
              <a:rPr lang="en-US" sz="2400" b="1" dirty="0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2400" b="1" dirty="0" err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sesuai</a:t>
            </a:r>
            <a:endParaRPr lang="en-US" sz="2400" b="1" dirty="0">
              <a:solidFill>
                <a:srgbClr val="12233F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74CCD2-D0F9-0249-4E24-4837AB9E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A64C13C-4C19-4C2D-5F6A-58548A7BD0AD}"/>
              </a:ext>
            </a:extLst>
          </p:cNvPr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 dirty="0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13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913D64F0-2AC9-97F1-1152-219F623520CA}"/>
              </a:ext>
            </a:extLst>
          </p:cNvPr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Mengenali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informasi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salah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AB2E064-95D1-87A0-7611-9250C534637C}"/>
              </a:ext>
            </a:extLst>
          </p:cNvPr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9F00B741-5ADA-8EFA-ED2D-464F769B6423}"/>
              </a:ext>
            </a:extLst>
          </p:cNvPr>
          <p:cNvGrpSpPr/>
          <p:nvPr/>
        </p:nvGrpSpPr>
        <p:grpSpPr>
          <a:xfrm>
            <a:off x="762000" y="2476500"/>
            <a:ext cx="10858500" cy="3905250"/>
            <a:chOff x="0" y="0"/>
            <a:chExt cx="14478000" cy="52070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6E84B07-20A1-79A3-4A17-FD941296A33D}"/>
                </a:ext>
              </a:extLst>
            </p:cNvPr>
            <p:cNvSpPr/>
            <p:nvPr/>
          </p:nvSpPr>
          <p:spPr>
            <a:xfrm>
              <a:off x="0" y="0"/>
              <a:ext cx="14478000" cy="5207000"/>
            </a:xfrm>
            <a:custGeom>
              <a:avLst/>
              <a:gdLst/>
              <a:ahLst/>
              <a:cxnLst/>
              <a:rect l="l" t="t" r="r" b="b"/>
              <a:pathLst>
                <a:path w="14478000" h="5207000">
                  <a:moveTo>
                    <a:pt x="0" y="0"/>
                  </a:moveTo>
                  <a:lnTo>
                    <a:pt x="14478000" y="0"/>
                  </a:lnTo>
                  <a:lnTo>
                    <a:pt x="14478000" y="5207000"/>
                  </a:lnTo>
                  <a:lnTo>
                    <a:pt x="0" y="5207000"/>
                  </a:lnTo>
                  <a:close/>
                </a:path>
              </a:pathLst>
            </a:custGeom>
            <a:solidFill>
              <a:srgbClr val="EF6F6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3A01FF22-3EE8-C50D-0E2A-7F2BC2BF4B46}"/>
                </a:ext>
              </a:extLst>
            </p:cNvPr>
            <p:cNvSpPr txBox="1"/>
            <p:nvPr/>
          </p:nvSpPr>
          <p:spPr>
            <a:xfrm>
              <a:off x="0" y="-38100"/>
              <a:ext cx="14478000" cy="524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7A7055E4-975A-3F62-7FA5-6D9E5BBBAFEB}"/>
              </a:ext>
            </a:extLst>
          </p:cNvPr>
          <p:cNvGrpSpPr/>
          <p:nvPr/>
        </p:nvGrpSpPr>
        <p:grpSpPr>
          <a:xfrm>
            <a:off x="12001500" y="2476500"/>
            <a:ext cx="5334000" cy="3905250"/>
            <a:chOff x="0" y="0"/>
            <a:chExt cx="7112000" cy="52070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EE1D8CB2-7E53-7DF9-4C70-864B4E9A6BB3}"/>
                </a:ext>
              </a:extLst>
            </p:cNvPr>
            <p:cNvSpPr/>
            <p:nvPr/>
          </p:nvSpPr>
          <p:spPr>
            <a:xfrm>
              <a:off x="0" y="0"/>
              <a:ext cx="7112000" cy="5207000"/>
            </a:xfrm>
            <a:custGeom>
              <a:avLst/>
              <a:gdLst/>
              <a:ahLst/>
              <a:cxnLst/>
              <a:rect l="l" t="t" r="r" b="b"/>
              <a:pathLst>
                <a:path w="7112000" h="5207000">
                  <a:moveTo>
                    <a:pt x="0" y="0"/>
                  </a:moveTo>
                  <a:lnTo>
                    <a:pt x="7112000" y="0"/>
                  </a:lnTo>
                  <a:lnTo>
                    <a:pt x="7112000" y="5207000"/>
                  </a:lnTo>
                  <a:lnTo>
                    <a:pt x="0" y="520700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CE4991D-A6C6-2E62-C843-88B118B9E0D1}"/>
                </a:ext>
              </a:extLst>
            </p:cNvPr>
            <p:cNvSpPr txBox="1"/>
            <p:nvPr/>
          </p:nvSpPr>
          <p:spPr>
            <a:xfrm>
              <a:off x="0" y="-38100"/>
              <a:ext cx="7112000" cy="524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AFCB66D-41EE-D630-1CCE-33C922E3C3FD}"/>
              </a:ext>
            </a:extLst>
          </p:cNvPr>
          <p:cNvSpPr txBox="1"/>
          <p:nvPr/>
        </p:nvSpPr>
        <p:spPr>
          <a:xfrm>
            <a:off x="1028700" y="2838450"/>
            <a:ext cx="10453093" cy="1668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8"/>
              </a:lnSpc>
            </a:pP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Pada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pidato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Pimpinan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Negara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mengatakan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</a:p>
          <a:p>
            <a:pPr algn="l">
              <a:lnSpc>
                <a:spcPts val="4368"/>
              </a:lnSpc>
            </a:pP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“Bu Susana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mendapatkan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upah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Rp700.000/kg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dari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mengupas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9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bawang</a:t>
            </a:r>
            <a:r>
              <a:rPr lang="en-US" sz="39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”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F018E0D-53E9-70D2-3279-4C11A94F598B}"/>
              </a:ext>
            </a:extLst>
          </p:cNvPr>
          <p:cNvSpPr txBox="1"/>
          <p:nvPr/>
        </p:nvSpPr>
        <p:spPr>
          <a:xfrm>
            <a:off x="1143000" y="5429250"/>
            <a:ext cx="9829800" cy="7507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44"/>
              </a:lnSpc>
            </a:pP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JUDUL MENGEJUTKAN ≠ HOAKS (</a:t>
            </a: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Ucapan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 </a:t>
            </a: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Keliru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/</a:t>
            </a: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Misinformasi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)</a:t>
            </a:r>
          </a:p>
          <a:p>
            <a:pPr algn="l">
              <a:lnSpc>
                <a:spcPts val="3044"/>
              </a:lnSpc>
            </a:pP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Kekeliruan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 </a:t>
            </a: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tanpa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 </a:t>
            </a: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adanya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 </a:t>
            </a:r>
            <a:r>
              <a:rPr lang="en-US" sz="2174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klarifikasi</a:t>
            </a:r>
            <a:r>
              <a:rPr lang="en-US" sz="2174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 = DISINFORMASI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219FD5B-546A-D912-3662-4C2AEB507BD4}"/>
              </a:ext>
            </a:extLst>
          </p:cNvPr>
          <p:cNvSpPr txBox="1"/>
          <p:nvPr/>
        </p:nvSpPr>
        <p:spPr>
          <a:xfrm>
            <a:off x="12382500" y="2933700"/>
            <a:ext cx="4286250" cy="1914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25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1  Cek sumber</a:t>
            </a:r>
          </a:p>
          <a:p>
            <a:pPr algn="l">
              <a:lnSpc>
                <a:spcPts val="3825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2  Cek tanggal</a:t>
            </a:r>
          </a:p>
          <a:p>
            <a:pPr algn="l">
              <a:lnSpc>
                <a:spcPts val="3825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3  Cari media pembanding</a:t>
            </a:r>
          </a:p>
          <a:p>
            <a:pPr algn="l">
              <a:lnSpc>
                <a:spcPts val="3825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4  Periksa bukti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1071333-6A4A-8C90-0882-0BC4085AE36F}"/>
              </a:ext>
            </a:extLst>
          </p:cNvPr>
          <p:cNvSpPr txBox="1"/>
          <p:nvPr/>
        </p:nvSpPr>
        <p:spPr>
          <a:xfrm>
            <a:off x="1143000" y="8372475"/>
            <a:ext cx="15240000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100">
                <a:solidFill>
                  <a:srgbClr val="12233F"/>
                </a:solidFill>
                <a:latin typeface="DM Sans"/>
                <a:ea typeface="DM Sans"/>
                <a:cs typeface="DM Sans"/>
                <a:sym typeface="DM Sans"/>
              </a:rPr>
              <a:t>Hubungkan dengan Ekosistem Periksa Fakta di buku Informatika.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69E5E59-66C0-19CE-8B5C-23FC42C313A5}"/>
              </a:ext>
            </a:extLst>
          </p:cNvPr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2293BFD-5F7A-657B-4B9F-4D06076095E6}"/>
              </a:ext>
            </a:extLst>
          </p:cNvPr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BD7F76E-76DC-8697-16AA-F5100A607535}"/>
              </a:ext>
            </a:extLst>
          </p:cNvPr>
          <p:cNvSpPr txBox="1"/>
          <p:nvPr/>
        </p:nvSpPr>
        <p:spPr>
          <a:xfrm>
            <a:off x="1028700" y="6838950"/>
            <a:ext cx="1059180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Berita asli pendapatan bu susana:</a:t>
            </a:r>
          </a:p>
          <a:p>
            <a:pPr algn="l">
              <a:lnSpc>
                <a:spcPts val="3359"/>
              </a:lnSpc>
            </a:pPr>
            <a:r>
              <a:rPr lang="en-US" sz="2400" u="sng">
                <a:solidFill>
                  <a:srgbClr val="5170FF"/>
                </a:solidFill>
                <a:latin typeface="Archivo Black"/>
                <a:ea typeface="Archivo Black"/>
                <a:cs typeface="Archivo Black"/>
                <a:sym typeface="Archivo Black"/>
                <a:hlinkClick r:id="rId2" tooltip="https://www.youtube.com/watch?v=tLaIdEedoU4"/>
              </a:rPr>
              <a:t>Youtube Badan Komunikasi Pemerintah RI</a:t>
            </a:r>
          </a:p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(2:33)</a:t>
            </a:r>
          </a:p>
        </p:txBody>
      </p:sp>
    </p:spTree>
    <p:extLst>
      <p:ext uri="{BB962C8B-B14F-4D97-AF65-F5344CB8AC3E}">
        <p14:creationId xmlns:p14="http://schemas.microsoft.com/office/powerpoint/2010/main" val="6904073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Studi </a:t>
            </a:r>
            <a:r>
              <a:rPr lang="en-US" sz="48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kasus</a:t>
            </a:r>
            <a:r>
              <a:rPr lang="en-US" sz="48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berbasis</a:t>
            </a:r>
            <a:r>
              <a:rPr lang="en-US" sz="4800" b="1" dirty="0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kelompok</a:t>
            </a:r>
            <a:endParaRPr lang="en-US" sz="4800" b="1" dirty="0">
              <a:solidFill>
                <a:srgbClr val="FFFFFF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28405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238250" y="2388746"/>
            <a:ext cx="15811500" cy="2215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“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Mulai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tahun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depan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semua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pekerjaan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administrasi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akan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digantikan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AI.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Lulusan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SMK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sudah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tidak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diperlukan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 dirty="0" err="1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lagi</a:t>
            </a:r>
            <a:r>
              <a:rPr lang="en-US" sz="4800" b="1" dirty="0">
                <a:solidFill>
                  <a:srgbClr val="FFC857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500" y="5816957"/>
            <a:ext cx="3810000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 dirty="0">
                <a:solidFill>
                  <a:srgbClr val="18A999"/>
                </a:solidFill>
                <a:latin typeface="Archivo Black"/>
                <a:ea typeface="Archivo Black"/>
                <a:cs typeface="Archivo Black"/>
                <a:sym typeface="Archivo Black"/>
              </a:rPr>
              <a:t>TUGAS KELOMPOK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95325" y="6813668"/>
            <a:ext cx="16897350" cy="4740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84"/>
              </a:lnSpc>
            </a:pPr>
            <a:r>
              <a:rPr lang="en-US" sz="2775" dirty="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PAHAMI  →  STRATEGI  →  BUKTI  →  ANALISIS 5C  →  BANDINGKAN → KESIMPULAN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990850" y="8946963"/>
            <a:ext cx="12573000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Latihan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berpikir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kritis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: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jangan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menerima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klaim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besar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tanpa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memeriksa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dasar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buktinya</a:t>
            </a:r>
            <a:r>
              <a:rPr lang="en-US" sz="210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Aktivitas investigasi berkelompok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952500" y="2333625"/>
            <a:ext cx="7239000" cy="6191250"/>
          </a:xfrm>
          <a:custGeom>
            <a:avLst/>
            <a:gdLst/>
            <a:ahLst/>
            <a:cxnLst/>
            <a:rect l="l" t="t" r="r" b="b"/>
            <a:pathLst>
              <a:path w="7239000" h="6191250">
                <a:moveTo>
                  <a:pt x="0" y="0"/>
                </a:moveTo>
                <a:lnTo>
                  <a:pt x="7239000" y="0"/>
                </a:lnTo>
                <a:lnTo>
                  <a:pt x="7239000" y="6191250"/>
                </a:lnTo>
                <a:lnTo>
                  <a:pt x="0" y="61912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023" r="-26023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9334500" y="2638425"/>
            <a:ext cx="57150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TOPIK CONTOH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34500" y="3114675"/>
            <a:ext cx="7239000" cy="662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9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Apakah AI berbahaya?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34500" y="4476750"/>
            <a:ext cx="4762500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6F6C"/>
                </a:solidFill>
                <a:latin typeface="Archivo Black"/>
                <a:ea typeface="Archivo Black"/>
                <a:cs typeface="Archivo Black"/>
                <a:sym typeface="Archivo Black"/>
              </a:rPr>
              <a:t>TEMUKAN MINIMAL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34500" y="5019675"/>
            <a:ext cx="6667500" cy="1728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7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01  Artikel berita</a:t>
            </a:r>
          </a:p>
          <a:p>
            <a:pPr algn="l">
              <a:lnSpc>
                <a:spcPts val="3487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02  Jurnal</a:t>
            </a:r>
          </a:p>
          <a:p>
            <a:pPr algn="l">
              <a:lnSpc>
                <a:spcPts val="3487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03  Website pemerintah</a:t>
            </a:r>
          </a:p>
          <a:p>
            <a:pPr algn="l">
              <a:lnSpc>
                <a:spcPts val="3487"/>
              </a:lnSpc>
            </a:pPr>
            <a:r>
              <a:rPr lang="en-US" sz="2250" b="1">
                <a:solidFill>
                  <a:srgbClr val="12233F"/>
                </a:solidFill>
                <a:latin typeface="DM Sans Bold"/>
                <a:ea typeface="DM Sans Bold"/>
                <a:cs typeface="DM Sans Bold"/>
                <a:sym typeface="DM Sans Bold"/>
              </a:rPr>
              <a:t>04  Hasil AI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334500" y="7762875"/>
            <a:ext cx="6667500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8A999"/>
                </a:solidFill>
                <a:latin typeface="Archivo Black"/>
                <a:ea typeface="Archivo Black"/>
                <a:cs typeface="Archivo Black"/>
                <a:sym typeface="Archivo Black"/>
              </a:rPr>
              <a:t>Bandingkan • Diskusikan • Simpulkan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Diskusi kelas: buktikan pilihanmu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952500" y="2667000"/>
            <a:ext cx="5095875" cy="4095750"/>
            <a:chOff x="0" y="0"/>
            <a:chExt cx="6794500" cy="54610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6794500" cy="5461000"/>
              <a:chOff x="0" y="0"/>
              <a:chExt cx="6794500" cy="5461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7945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6794500" h="5461000">
                    <a:moveTo>
                      <a:pt x="0" y="0"/>
                    </a:moveTo>
                    <a:lnTo>
                      <a:pt x="6794500" y="0"/>
                    </a:lnTo>
                    <a:lnTo>
                      <a:pt x="67945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67945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444500" y="431800"/>
              <a:ext cx="1270000" cy="858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59"/>
                </a:lnSpc>
              </a:pPr>
              <a:r>
                <a:rPr lang="en-US" sz="390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44500" y="2111375"/>
              <a:ext cx="6096000" cy="405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SUMBER TERKUAT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4500" y="3019425"/>
              <a:ext cx="6096000" cy="8915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Sumber paling kredibel yang ditemukan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524625" y="2667000"/>
            <a:ext cx="5095875" cy="4095750"/>
            <a:chOff x="0" y="0"/>
            <a:chExt cx="6794500" cy="546100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6794500" cy="5461000"/>
              <a:chOff x="0" y="0"/>
              <a:chExt cx="6794500" cy="5461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7945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6794500" h="5461000">
                    <a:moveTo>
                      <a:pt x="0" y="0"/>
                    </a:moveTo>
                    <a:lnTo>
                      <a:pt x="6794500" y="0"/>
                    </a:lnTo>
                    <a:lnTo>
                      <a:pt x="67945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67945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444500" y="431800"/>
              <a:ext cx="1270000" cy="858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59"/>
                </a:lnSpc>
              </a:pPr>
              <a:r>
                <a:rPr lang="en-US" sz="390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4500" y="2111375"/>
              <a:ext cx="6096000" cy="405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ALASAN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4500" y="3019425"/>
              <a:ext cx="6096000" cy="4343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Mengapa sumber itu layak dipercaya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096750" y="2667000"/>
            <a:ext cx="5095875" cy="4095750"/>
            <a:chOff x="0" y="0"/>
            <a:chExt cx="6794500" cy="5461000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6794500" cy="5461000"/>
              <a:chOff x="0" y="0"/>
              <a:chExt cx="6794500" cy="54610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7945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6794500" h="5461000">
                    <a:moveTo>
                      <a:pt x="0" y="0"/>
                    </a:moveTo>
                    <a:lnTo>
                      <a:pt x="6794500" y="0"/>
                    </a:lnTo>
                    <a:lnTo>
                      <a:pt x="67945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67945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444500" y="431800"/>
              <a:ext cx="1270000" cy="858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59"/>
                </a:lnSpc>
              </a:pPr>
              <a:r>
                <a:rPr lang="en-US" sz="3900">
                  <a:solidFill>
                    <a:srgbClr val="FFC8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44500" y="2111375"/>
              <a:ext cx="6096000" cy="405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>
                  <a:solidFill>
                    <a:srgbClr val="18A999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PERBEDAAN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4500" y="3019425"/>
              <a:ext cx="6096000" cy="4343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12233F"/>
                  </a:solidFill>
                  <a:latin typeface="DM Sans"/>
                  <a:ea typeface="DM Sans"/>
                  <a:cs typeface="DM Sans"/>
                  <a:sym typeface="DM Sans"/>
                </a:rPr>
                <a:t>Apa yang berbeda antar sumber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3333750" y="7753350"/>
            <a:ext cx="11620500" cy="489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Guru memfasilitasi pertanyaan, bukan memberi jawaban instan.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B1930">
                <a:alpha val="71765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47750" y="828675"/>
            <a:ext cx="809625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FFC857"/>
                </a:solidFill>
                <a:latin typeface="DM Sans Bold"/>
                <a:ea typeface="DM Sans Bold"/>
                <a:cs typeface="DM Sans Bold"/>
                <a:sym typeface="DM Sans Bold"/>
              </a:rPr>
              <a:t>ETIKA MENGGUNAKAN INFORMASI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7750" y="1638300"/>
            <a:ext cx="9525000" cy="1403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33"/>
              </a:lnSpc>
            </a:pPr>
            <a:r>
              <a:rPr lang="en-US" sz="5175" b="1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Gunakan informasi dengan integritas.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7750" y="4400550"/>
            <a:ext cx="8572500" cy="207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1"/>
              </a:lnSpc>
            </a:pPr>
            <a:r>
              <a:rPr lang="en-US" sz="217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Cantumkan sumber dengan benar</a:t>
            </a:r>
          </a:p>
          <a:p>
            <a:pPr algn="l">
              <a:lnSpc>
                <a:spcPts val="3371"/>
              </a:lnSpc>
            </a:pPr>
            <a:r>
              <a:rPr lang="en-US" sz="217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Hindari plagiarisme</a:t>
            </a:r>
          </a:p>
          <a:p>
            <a:pPr algn="l">
              <a:lnSpc>
                <a:spcPts val="3371"/>
              </a:lnSpc>
            </a:pPr>
            <a:r>
              <a:rPr lang="en-US" sz="217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Jangan menyebarkan hoaks</a:t>
            </a:r>
          </a:p>
          <a:p>
            <a:pPr algn="l">
              <a:lnSpc>
                <a:spcPts val="3371"/>
              </a:lnSpc>
            </a:pPr>
            <a:r>
              <a:rPr lang="en-US" sz="217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Verifikasi sebelum membagikan</a:t>
            </a:r>
          </a:p>
          <a:p>
            <a:pPr algn="l">
              <a:lnSpc>
                <a:spcPts val="3371"/>
              </a:lnSpc>
            </a:pPr>
            <a:r>
              <a:rPr lang="en-US" sz="217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Gunakan AI sebagai alat bantu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47750" y="7943850"/>
            <a:ext cx="9525000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C857"/>
                </a:solidFill>
                <a:latin typeface="Archivo Black"/>
                <a:ea typeface="Archivo Black"/>
                <a:cs typeface="Archivo Black"/>
                <a:sym typeface="Archivo Black"/>
              </a:rPr>
              <a:t>AI bukan pengganti berpikir kritis.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8BA0BB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18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Refleksi pembelajaran</a:t>
            </a:r>
          </a:p>
        </p:txBody>
      </p:sp>
      <p:sp>
        <p:nvSpPr>
          <p:cNvPr id="4" name="AutoShape 4"/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952500" y="2714625"/>
            <a:ext cx="7810500" cy="1809750"/>
            <a:chOff x="0" y="0"/>
            <a:chExt cx="10414000" cy="24130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44500" y="409575"/>
              <a:ext cx="9525000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49"/>
                </a:lnSpc>
              </a:pPr>
              <a:r>
                <a:rPr lang="en-US" sz="2250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Hari ini saya belajar…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144000" y="2714625"/>
            <a:ext cx="7810500" cy="1809750"/>
            <a:chOff x="0" y="0"/>
            <a:chExt cx="10414000" cy="241300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444500" y="409575"/>
              <a:ext cx="9525000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49"/>
                </a:lnSpc>
              </a:pP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Hal </a:t>
              </a: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baru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yang </a:t>
              </a: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saya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</a:t>
              </a: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ketahui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…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52500" y="5048250"/>
            <a:ext cx="7810500" cy="1809750"/>
            <a:chOff x="0" y="0"/>
            <a:chExt cx="10414000" cy="24130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444500" y="409575"/>
              <a:ext cx="9525000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49"/>
                </a:lnSpc>
              </a:pPr>
              <a:r>
                <a:rPr lang="en-US" sz="2250" b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Hal yang masih membingungkan…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144000" y="5048250"/>
            <a:ext cx="7810500" cy="1809750"/>
            <a:chOff x="0" y="0"/>
            <a:chExt cx="10414000" cy="2413000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444500" y="409575"/>
              <a:ext cx="9525000" cy="501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49"/>
                </a:lnSpc>
              </a:pP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Mulai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</a:t>
              </a: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sekarang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</a:t>
              </a: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saya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</a:t>
              </a:r>
              <a:r>
                <a:rPr lang="en-US" sz="2250" b="1" dirty="0" err="1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akan</a:t>
              </a:r>
              <a:r>
                <a:rPr lang="en-US" sz="2250" b="1" dirty="0">
                  <a:solidFill>
                    <a:srgbClr val="12233F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…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714500" y="7791450"/>
            <a:ext cx="14859000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</a:pPr>
            <a:r>
              <a:rPr lang="en-US" sz="315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Terima kasih — terus belajar, bertanya, dan memeriksa.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3BD5C7-F6EB-F6F7-942F-E2A2C9BFB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67213BC-B50C-BCBD-2C90-7728B5860E4D}"/>
              </a:ext>
            </a:extLst>
          </p:cNvPr>
          <p:cNvSpPr txBox="1"/>
          <p:nvPr/>
        </p:nvSpPr>
        <p:spPr>
          <a:xfrm>
            <a:off x="952500" y="504825"/>
            <a:ext cx="8572500" cy="272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 spc="198">
                <a:solidFill>
                  <a:srgbClr val="18A999"/>
                </a:solidFill>
                <a:latin typeface="DM Sans Bold"/>
                <a:ea typeface="DM Sans Bold"/>
                <a:cs typeface="DM Sans Bold"/>
                <a:sym typeface="DM Sans Bold"/>
              </a:rPr>
              <a:t>MODUL INFORMASI DIGITAL  •  18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06394D4-C615-D917-C6E6-74D7FBD18E3E}"/>
              </a:ext>
            </a:extLst>
          </p:cNvPr>
          <p:cNvSpPr txBox="1"/>
          <p:nvPr/>
        </p:nvSpPr>
        <p:spPr>
          <a:xfrm>
            <a:off x="952500" y="1028700"/>
            <a:ext cx="14287500" cy="672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1" dirty="0" err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Pembagian</a:t>
            </a:r>
            <a:r>
              <a:rPr lang="en-US" sz="4800" b="1" dirty="0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800" b="1">
                <a:solidFill>
                  <a:srgbClr val="12233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Kelompok</a:t>
            </a:r>
            <a:endParaRPr lang="en-US" sz="4800" b="1" dirty="0">
              <a:solidFill>
                <a:srgbClr val="12233F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FA972678-7D77-20BE-3B00-BB57CA8EFC8C}"/>
              </a:ext>
            </a:extLst>
          </p:cNvPr>
          <p:cNvSpPr/>
          <p:nvPr/>
        </p:nvSpPr>
        <p:spPr>
          <a:xfrm>
            <a:off x="952500" y="1962150"/>
            <a:ext cx="16383000" cy="0"/>
          </a:xfrm>
          <a:prstGeom prst="line">
            <a:avLst/>
          </a:prstGeom>
          <a:ln w="19050" cap="flat">
            <a:solidFill>
              <a:srgbClr val="D9D1C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DD8C0369-7D22-F5CB-47F1-5ACBC05CE962}"/>
              </a:ext>
            </a:extLst>
          </p:cNvPr>
          <p:cNvGrpSpPr/>
          <p:nvPr/>
        </p:nvGrpSpPr>
        <p:grpSpPr>
          <a:xfrm>
            <a:off x="2057400" y="2354276"/>
            <a:ext cx="4191000" cy="1809749"/>
            <a:chOff x="0" y="0"/>
            <a:chExt cx="10414000" cy="2413000"/>
          </a:xfrm>
        </p:grpSpPr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DE3A681-D44C-F0FF-B754-31F330F325D4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C06B0766-5B0F-A93A-39B3-8B0202C4B608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748A9FA9-B3ED-B435-B6C5-59E2A900751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CFE8134-673C-0421-C870-96A0BF365079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537F1A5-E7AF-8E33-2DD6-99935562A70C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BE97E90-E6ED-1C79-2578-A6AAEA824C0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D0ED8210-E6DF-C1DD-54A4-9492B8027C5C}"/>
                </a:ext>
              </a:extLst>
            </p:cNvPr>
            <p:cNvSpPr txBox="1"/>
            <p:nvPr/>
          </p:nvSpPr>
          <p:spPr>
            <a:xfrm>
              <a:off x="444500" y="218151"/>
              <a:ext cx="9525001" cy="19697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57200" lvl="0" indent="-457200">
                <a:buFont typeface="Arial" panose="020B0604020202020204" pitchFamily="34" charset="0"/>
                <a:buChar char="•"/>
              </a:pPr>
              <a:r>
                <a:rPr lang="en-ID" sz="2400" dirty="0"/>
                <a:t>Affan Dua </a:t>
              </a:r>
              <a:r>
                <a:rPr lang="en-ID" sz="2400" dirty="0" err="1"/>
                <a:t>Nurwiyan</a:t>
              </a:r>
              <a:r>
                <a:rPr lang="en-ID" sz="2400" dirty="0"/>
                <a:t> </a:t>
              </a:r>
            </a:p>
            <a:p>
              <a:pPr marL="457200" lvl="0" indent="-457200">
                <a:buFont typeface="Arial" panose="020B0604020202020204" pitchFamily="34" charset="0"/>
                <a:buChar char="•"/>
              </a:pPr>
              <a:r>
                <a:rPr lang="en-ID" sz="2400" dirty="0"/>
                <a:t>Abdul Hakim Elvino</a:t>
              </a:r>
            </a:p>
            <a:p>
              <a:pPr marL="457200" lvl="0" indent="-457200">
                <a:buFont typeface="Arial" panose="020B0604020202020204" pitchFamily="34" charset="0"/>
                <a:buChar char="•"/>
              </a:pPr>
              <a:r>
                <a:rPr lang="en-ID" sz="2400" dirty="0"/>
                <a:t>Dwi Ahmad Nur Sholeh 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ID" sz="2400" dirty="0"/>
                <a:t>Lintang Saka </a:t>
              </a:r>
              <a:r>
                <a:rPr lang="en-ID" sz="2400" dirty="0" err="1"/>
                <a:t>Senggani</a:t>
              </a:r>
              <a:r>
                <a:rPr lang="en-ID" sz="2400" dirty="0"/>
                <a:t> </a:t>
              </a:r>
              <a:endParaRPr lang="en-US" sz="2400" dirty="0">
                <a:sym typeface="Bricolage Grotesque Bold"/>
              </a:endParaRP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652F7B05-7E9C-C28B-6B29-D931D5B68484}"/>
              </a:ext>
            </a:extLst>
          </p:cNvPr>
          <p:cNvGrpSpPr/>
          <p:nvPr/>
        </p:nvGrpSpPr>
        <p:grpSpPr>
          <a:xfrm>
            <a:off x="6875563" y="2354276"/>
            <a:ext cx="4279028" cy="1809750"/>
            <a:chOff x="0" y="0"/>
            <a:chExt cx="10414000" cy="2413000"/>
          </a:xfrm>
        </p:grpSpPr>
        <p:grpSp>
          <p:nvGrpSpPr>
            <p:cNvPr id="14" name="Group 14">
              <a:extLst>
                <a:ext uri="{FF2B5EF4-FFF2-40B4-BE49-F238E27FC236}">
                  <a16:creationId xmlns:a16="http://schemas.microsoft.com/office/drawing/2014/main" id="{BD5A5297-C9B3-5162-195B-152D6A93207B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15" name="Freeform 15">
                <a:extLst>
                  <a:ext uri="{FF2B5EF4-FFF2-40B4-BE49-F238E27FC236}">
                    <a16:creationId xmlns:a16="http://schemas.microsoft.com/office/drawing/2014/main" id="{F62B9D27-4FC6-8FD8-0758-BD68422BE5D4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16" name="TextBox 16">
                <a:extLst>
                  <a:ext uri="{FF2B5EF4-FFF2-40B4-BE49-F238E27FC236}">
                    <a16:creationId xmlns:a16="http://schemas.microsoft.com/office/drawing/2014/main" id="{344E6E6B-46A1-8559-E89C-63B948DA233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C385A9C0-EE43-AEBA-7B05-66D81DC38412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18" name="Freeform 18">
                <a:extLst>
                  <a:ext uri="{FF2B5EF4-FFF2-40B4-BE49-F238E27FC236}">
                    <a16:creationId xmlns:a16="http://schemas.microsoft.com/office/drawing/2014/main" id="{9D694F28-BACD-9A7B-E03D-45D28B97BDE0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19" name="TextBox 19">
                <a:extLst>
                  <a:ext uri="{FF2B5EF4-FFF2-40B4-BE49-F238E27FC236}">
                    <a16:creationId xmlns:a16="http://schemas.microsoft.com/office/drawing/2014/main" id="{8E0C19B3-567B-6CEE-5236-A9E341B557E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924E7E9A-8052-B140-9A69-1D3D47CF3E0E}"/>
                </a:ext>
              </a:extLst>
            </p:cNvPr>
            <p:cNvSpPr txBox="1"/>
            <p:nvPr/>
          </p:nvSpPr>
          <p:spPr>
            <a:xfrm>
              <a:off x="417781" y="247485"/>
              <a:ext cx="9525000" cy="19697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8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/>
                <a:t>Andra </a:t>
              </a:r>
              <a:r>
                <a:rPr lang="en-ID" sz="2400" dirty="0" err="1"/>
                <a:t>Qabl</a:t>
              </a:r>
              <a:r>
                <a:rPr lang="en-ID" sz="2400" dirty="0"/>
                <a:t> Ramadhan,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 err="1"/>
                <a:t>Afrizal</a:t>
              </a:r>
              <a:r>
                <a:rPr lang="en-ID" sz="2400" dirty="0"/>
                <a:t> Nur </a:t>
              </a:r>
              <a:r>
                <a:rPr lang="en-ID" sz="2400" dirty="0" err="1"/>
                <a:t>Setyabudi</a:t>
              </a:r>
              <a:r>
                <a:rPr lang="en-ID" sz="2400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/>
                <a:t>Gusta Laksana,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/>
                <a:t>Naufal Zaki </a:t>
              </a:r>
              <a:r>
                <a:rPr lang="en-ID" sz="2400" dirty="0" err="1"/>
                <a:t>Nazura</a:t>
              </a:r>
              <a:r>
                <a:rPr lang="en-ID" sz="2400" dirty="0"/>
                <a:t> </a:t>
              </a:r>
              <a:endParaRPr lang="en-US" sz="2400" dirty="0">
                <a:sym typeface="Bricolage Grotesque Bold"/>
              </a:endParaRPr>
            </a:p>
          </p:txBody>
        </p:sp>
      </p:grpSp>
      <p:grpSp>
        <p:nvGrpSpPr>
          <p:cNvPr id="21" name="Group 21">
            <a:extLst>
              <a:ext uri="{FF2B5EF4-FFF2-40B4-BE49-F238E27FC236}">
                <a16:creationId xmlns:a16="http://schemas.microsoft.com/office/drawing/2014/main" id="{A46CC21A-72E1-7C22-2957-CD8B971D5FE0}"/>
              </a:ext>
            </a:extLst>
          </p:cNvPr>
          <p:cNvGrpSpPr/>
          <p:nvPr/>
        </p:nvGrpSpPr>
        <p:grpSpPr>
          <a:xfrm>
            <a:off x="2057400" y="4684004"/>
            <a:ext cx="4191000" cy="1809750"/>
            <a:chOff x="0" y="0"/>
            <a:chExt cx="10414000" cy="2413000"/>
          </a:xfrm>
        </p:grpSpPr>
        <p:grpSp>
          <p:nvGrpSpPr>
            <p:cNvPr id="22" name="Group 22">
              <a:extLst>
                <a:ext uri="{FF2B5EF4-FFF2-40B4-BE49-F238E27FC236}">
                  <a16:creationId xmlns:a16="http://schemas.microsoft.com/office/drawing/2014/main" id="{2271D221-9A1E-3DFB-9DAF-B1DE3A265504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23" name="Freeform 23">
                <a:extLst>
                  <a:ext uri="{FF2B5EF4-FFF2-40B4-BE49-F238E27FC236}">
                    <a16:creationId xmlns:a16="http://schemas.microsoft.com/office/drawing/2014/main" id="{0238DE31-AC52-4296-37A1-A62E99D50212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24" name="TextBox 24">
                <a:extLst>
                  <a:ext uri="{FF2B5EF4-FFF2-40B4-BE49-F238E27FC236}">
                    <a16:creationId xmlns:a16="http://schemas.microsoft.com/office/drawing/2014/main" id="{61358235-6E0E-7F46-4BF4-53D68C06B7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25" name="Group 25">
              <a:extLst>
                <a:ext uri="{FF2B5EF4-FFF2-40B4-BE49-F238E27FC236}">
                  <a16:creationId xmlns:a16="http://schemas.microsoft.com/office/drawing/2014/main" id="{65158A13-ED10-1361-4153-CBD75B4F848A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26" name="Freeform 26">
                <a:extLst>
                  <a:ext uri="{FF2B5EF4-FFF2-40B4-BE49-F238E27FC236}">
                    <a16:creationId xmlns:a16="http://schemas.microsoft.com/office/drawing/2014/main" id="{4D1784BB-A490-67B5-D06A-7A0A9FC69E92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27" name="TextBox 27">
                <a:extLst>
                  <a:ext uri="{FF2B5EF4-FFF2-40B4-BE49-F238E27FC236}">
                    <a16:creationId xmlns:a16="http://schemas.microsoft.com/office/drawing/2014/main" id="{2BA61417-8B2F-730E-9C33-D79443E340A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0CB51A4D-3C0D-C0B0-1319-F23C79C94F6B}"/>
                </a:ext>
              </a:extLst>
            </p:cNvPr>
            <p:cNvSpPr txBox="1"/>
            <p:nvPr/>
          </p:nvSpPr>
          <p:spPr>
            <a:xfrm>
              <a:off x="468165" y="269044"/>
              <a:ext cx="9525001" cy="19697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4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Herjuno</a:t>
              </a:r>
              <a:r>
                <a:rPr lang="en-ID" dirty="0"/>
                <a:t> </a:t>
              </a:r>
              <a:r>
                <a:rPr lang="en-ID" dirty="0" err="1"/>
                <a:t>Sinatrio</a:t>
              </a:r>
              <a:r>
                <a:rPr lang="en-ID" dirty="0"/>
                <a:t> Jati,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Alif </a:t>
              </a:r>
              <a:r>
                <a:rPr lang="en-ID" dirty="0" err="1"/>
                <a:t>Alviansyah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Bagas Eka </a:t>
              </a:r>
              <a:r>
                <a:rPr lang="en-ID" dirty="0" err="1"/>
                <a:t>Nugraha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Zain </a:t>
              </a:r>
              <a:r>
                <a:rPr lang="en-ID" dirty="0" err="1"/>
                <a:t>Pazano</a:t>
              </a:r>
              <a:r>
                <a:rPr lang="en-ID" dirty="0"/>
                <a:t> </a:t>
              </a:r>
              <a:r>
                <a:rPr lang="en-ID" dirty="0" err="1"/>
                <a:t>Setya</a:t>
              </a:r>
              <a:r>
                <a:rPr lang="en-ID" dirty="0"/>
                <a:t> </a:t>
              </a:r>
              <a:endParaRPr lang="en-US" dirty="0">
                <a:sym typeface="Bricolage Grotesque Bold"/>
              </a:endParaRP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FB05C360-A112-CB53-404A-F5624D5BD5B5}"/>
              </a:ext>
            </a:extLst>
          </p:cNvPr>
          <p:cNvGrpSpPr/>
          <p:nvPr/>
        </p:nvGrpSpPr>
        <p:grpSpPr>
          <a:xfrm>
            <a:off x="6936895" y="4638543"/>
            <a:ext cx="4191000" cy="1809750"/>
            <a:chOff x="0" y="0"/>
            <a:chExt cx="10414000" cy="2413000"/>
          </a:xfrm>
        </p:grpSpPr>
        <p:grpSp>
          <p:nvGrpSpPr>
            <p:cNvPr id="30" name="Group 30">
              <a:extLst>
                <a:ext uri="{FF2B5EF4-FFF2-40B4-BE49-F238E27FC236}">
                  <a16:creationId xmlns:a16="http://schemas.microsoft.com/office/drawing/2014/main" id="{7355841D-1C60-88BC-3D6E-8B003E0E70C3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31" name="Freeform 31">
                <a:extLst>
                  <a:ext uri="{FF2B5EF4-FFF2-40B4-BE49-F238E27FC236}">
                    <a16:creationId xmlns:a16="http://schemas.microsoft.com/office/drawing/2014/main" id="{8FDC5D20-F8FB-DDEE-479A-9AD3EFC78143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32" name="TextBox 32">
                <a:extLst>
                  <a:ext uri="{FF2B5EF4-FFF2-40B4-BE49-F238E27FC236}">
                    <a16:creationId xmlns:a16="http://schemas.microsoft.com/office/drawing/2014/main" id="{F188816C-8684-14B6-6829-E84F4F6AA0D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33" name="Group 33">
              <a:extLst>
                <a:ext uri="{FF2B5EF4-FFF2-40B4-BE49-F238E27FC236}">
                  <a16:creationId xmlns:a16="http://schemas.microsoft.com/office/drawing/2014/main" id="{37BB5302-5F34-1697-C76F-C9D2652807D9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34" name="Freeform 34">
                <a:extLst>
                  <a:ext uri="{FF2B5EF4-FFF2-40B4-BE49-F238E27FC236}">
                    <a16:creationId xmlns:a16="http://schemas.microsoft.com/office/drawing/2014/main" id="{7619A44E-E69A-1FF2-4849-887EFC8BAED2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35" name="TextBox 35">
                <a:extLst>
                  <a:ext uri="{FF2B5EF4-FFF2-40B4-BE49-F238E27FC236}">
                    <a16:creationId xmlns:a16="http://schemas.microsoft.com/office/drawing/2014/main" id="{98B2C759-747C-E383-065D-60B625EE5E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32C0EA74-F2A9-3B94-E691-E608CE1EB016}"/>
                </a:ext>
              </a:extLst>
            </p:cNvPr>
            <p:cNvSpPr txBox="1"/>
            <p:nvPr/>
          </p:nvSpPr>
          <p:spPr>
            <a:xfrm>
              <a:off x="401467" y="254520"/>
              <a:ext cx="9525001" cy="19697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4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Zakaria Rizky Latif,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Dedek Bara Samudra,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Hafiyyan</a:t>
              </a:r>
              <a:r>
                <a:rPr lang="en-ID" dirty="0"/>
                <a:t> Ghani,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Ramadhan Bagus Maulana </a:t>
              </a:r>
              <a:endParaRPr lang="en-US" dirty="0">
                <a:sym typeface="Bricolage Grotesque Bold"/>
              </a:endParaRPr>
            </a:p>
          </p:txBody>
        </p:sp>
      </p:grpSp>
      <p:sp>
        <p:nvSpPr>
          <p:cNvPr id="38" name="TextBox 38">
            <a:extLst>
              <a:ext uri="{FF2B5EF4-FFF2-40B4-BE49-F238E27FC236}">
                <a16:creationId xmlns:a16="http://schemas.microsoft.com/office/drawing/2014/main" id="{4484D7A7-8DAB-AF71-3DEB-3C6F61352D5E}"/>
              </a:ext>
            </a:extLst>
          </p:cNvPr>
          <p:cNvSpPr txBox="1"/>
          <p:nvPr/>
        </p:nvSpPr>
        <p:spPr>
          <a:xfrm>
            <a:off x="952500" y="9772650"/>
            <a:ext cx="9525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108">
                <a:solidFill>
                  <a:srgbClr val="5D6B7E"/>
                </a:solidFill>
                <a:latin typeface="DM Sans Bold"/>
                <a:ea typeface="DM Sans Bold"/>
                <a:cs typeface="DM Sans Bold"/>
                <a:sym typeface="DM Sans Bold"/>
              </a:rPr>
              <a:t>BERPIKIR KRITIS  •  VERIFIKASI  •  BERTANGGUNG JAWAB</a:t>
            </a:r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B537714E-BF32-CD99-1C6E-8D14EF10F141}"/>
              </a:ext>
            </a:extLst>
          </p:cNvPr>
          <p:cNvSpPr txBox="1"/>
          <p:nvPr/>
        </p:nvSpPr>
        <p:spPr>
          <a:xfrm>
            <a:off x="16383000" y="9753600"/>
            <a:ext cx="952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>
                <a:solidFill>
                  <a:srgbClr val="12233F"/>
                </a:solidFill>
                <a:latin typeface="Archivo Black"/>
                <a:ea typeface="Archivo Black"/>
                <a:cs typeface="Archivo Black"/>
                <a:sym typeface="Archivo Black"/>
              </a:rPr>
              <a:t>18</a:t>
            </a:r>
          </a:p>
        </p:txBody>
      </p:sp>
      <p:grpSp>
        <p:nvGrpSpPr>
          <p:cNvPr id="48" name="Group 13">
            <a:extLst>
              <a:ext uri="{FF2B5EF4-FFF2-40B4-BE49-F238E27FC236}">
                <a16:creationId xmlns:a16="http://schemas.microsoft.com/office/drawing/2014/main" id="{698D1A1F-002B-33AC-1A62-65E99370A0A3}"/>
              </a:ext>
            </a:extLst>
          </p:cNvPr>
          <p:cNvGrpSpPr/>
          <p:nvPr/>
        </p:nvGrpSpPr>
        <p:grpSpPr>
          <a:xfrm>
            <a:off x="11759797" y="2351678"/>
            <a:ext cx="4340360" cy="1809750"/>
            <a:chOff x="0" y="0"/>
            <a:chExt cx="10563266" cy="2413000"/>
          </a:xfrm>
        </p:grpSpPr>
        <p:grpSp>
          <p:nvGrpSpPr>
            <p:cNvPr id="49" name="Group 14">
              <a:extLst>
                <a:ext uri="{FF2B5EF4-FFF2-40B4-BE49-F238E27FC236}">
                  <a16:creationId xmlns:a16="http://schemas.microsoft.com/office/drawing/2014/main" id="{01E7AA1E-EA87-B959-BB57-8E869C9AA1DE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54" name="Freeform 15">
                <a:extLst>
                  <a:ext uri="{FF2B5EF4-FFF2-40B4-BE49-F238E27FC236}">
                    <a16:creationId xmlns:a16="http://schemas.microsoft.com/office/drawing/2014/main" id="{25231F14-3C8E-DE84-3E5B-BB4903082843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55" name="TextBox 16">
                <a:extLst>
                  <a:ext uri="{FF2B5EF4-FFF2-40B4-BE49-F238E27FC236}">
                    <a16:creationId xmlns:a16="http://schemas.microsoft.com/office/drawing/2014/main" id="{11DC4C3D-91D5-9064-03DB-D93508EF42D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50" name="Group 17">
              <a:extLst>
                <a:ext uri="{FF2B5EF4-FFF2-40B4-BE49-F238E27FC236}">
                  <a16:creationId xmlns:a16="http://schemas.microsoft.com/office/drawing/2014/main" id="{AA9D567C-C420-7755-0BB8-D0D40F9E39AB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52" name="Freeform 18">
                <a:extLst>
                  <a:ext uri="{FF2B5EF4-FFF2-40B4-BE49-F238E27FC236}">
                    <a16:creationId xmlns:a16="http://schemas.microsoft.com/office/drawing/2014/main" id="{0C9C20F3-5F63-C246-3BC2-173FEDE97341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18A99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53" name="TextBox 19">
                <a:extLst>
                  <a:ext uri="{FF2B5EF4-FFF2-40B4-BE49-F238E27FC236}">
                    <a16:creationId xmlns:a16="http://schemas.microsoft.com/office/drawing/2014/main" id="{93C7A3D7-4542-BEE8-1B78-867A9500DE6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51" name="TextBox 20">
              <a:extLst>
                <a:ext uri="{FF2B5EF4-FFF2-40B4-BE49-F238E27FC236}">
                  <a16:creationId xmlns:a16="http://schemas.microsoft.com/office/drawing/2014/main" id="{C9EB08BA-963B-8B69-7DDA-4DF7D407A49D}"/>
                </a:ext>
              </a:extLst>
            </p:cNvPr>
            <p:cNvSpPr txBox="1"/>
            <p:nvPr/>
          </p:nvSpPr>
          <p:spPr>
            <a:xfrm>
              <a:off x="363502" y="221615"/>
              <a:ext cx="10199764" cy="196977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8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 err="1"/>
                <a:t>Islamulloh</a:t>
              </a:r>
              <a:r>
                <a:rPr lang="en-ID" sz="2400" dirty="0"/>
                <a:t> Nur Muhammad,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/>
                <a:t>Ahmat Galih Pratama,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 err="1"/>
                <a:t>Arga</a:t>
              </a:r>
              <a:r>
                <a:rPr lang="en-ID" sz="2400" dirty="0"/>
                <a:t> Galih Adha,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sz="2400" dirty="0"/>
                <a:t>Raka </a:t>
              </a:r>
              <a:r>
                <a:rPr lang="en-ID" sz="2400" dirty="0" err="1"/>
                <a:t>Arbima</a:t>
              </a:r>
              <a:r>
                <a:rPr lang="en-ID" sz="2400" dirty="0"/>
                <a:t> Putra </a:t>
              </a:r>
              <a:endParaRPr lang="en-US" sz="2400" dirty="0">
                <a:sym typeface="Bricolage Grotesque Bold"/>
              </a:endParaRPr>
            </a:p>
          </p:txBody>
        </p:sp>
      </p:grpSp>
      <p:grpSp>
        <p:nvGrpSpPr>
          <p:cNvPr id="56" name="Group 29">
            <a:extLst>
              <a:ext uri="{FF2B5EF4-FFF2-40B4-BE49-F238E27FC236}">
                <a16:creationId xmlns:a16="http://schemas.microsoft.com/office/drawing/2014/main" id="{ED91C3CB-AD27-7C5D-F307-36D641784D4D}"/>
              </a:ext>
            </a:extLst>
          </p:cNvPr>
          <p:cNvGrpSpPr/>
          <p:nvPr/>
        </p:nvGrpSpPr>
        <p:grpSpPr>
          <a:xfrm>
            <a:off x="11821129" y="4635945"/>
            <a:ext cx="4191000" cy="1809750"/>
            <a:chOff x="0" y="0"/>
            <a:chExt cx="10414000" cy="2413000"/>
          </a:xfrm>
        </p:grpSpPr>
        <p:grpSp>
          <p:nvGrpSpPr>
            <p:cNvPr id="57" name="Group 30">
              <a:extLst>
                <a:ext uri="{FF2B5EF4-FFF2-40B4-BE49-F238E27FC236}">
                  <a16:creationId xmlns:a16="http://schemas.microsoft.com/office/drawing/2014/main" id="{59A225B3-FB68-00E8-F81E-185CE3C93B0E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62" name="Freeform 31">
                <a:extLst>
                  <a:ext uri="{FF2B5EF4-FFF2-40B4-BE49-F238E27FC236}">
                    <a16:creationId xmlns:a16="http://schemas.microsoft.com/office/drawing/2014/main" id="{FCC6332B-651D-E368-D4F7-134A2486C22F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63" name="TextBox 32">
                <a:extLst>
                  <a:ext uri="{FF2B5EF4-FFF2-40B4-BE49-F238E27FC236}">
                    <a16:creationId xmlns:a16="http://schemas.microsoft.com/office/drawing/2014/main" id="{B04B5BE7-E90A-F862-9E88-DB51528704B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58" name="Group 33">
              <a:extLst>
                <a:ext uri="{FF2B5EF4-FFF2-40B4-BE49-F238E27FC236}">
                  <a16:creationId xmlns:a16="http://schemas.microsoft.com/office/drawing/2014/main" id="{13657C13-F893-DFC6-1C64-0D52ACA70E43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60" name="Freeform 34">
                <a:extLst>
                  <a:ext uri="{FF2B5EF4-FFF2-40B4-BE49-F238E27FC236}">
                    <a16:creationId xmlns:a16="http://schemas.microsoft.com/office/drawing/2014/main" id="{C15621D1-A435-69B7-44A7-316D9848851A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61" name="TextBox 35">
                <a:extLst>
                  <a:ext uri="{FF2B5EF4-FFF2-40B4-BE49-F238E27FC236}">
                    <a16:creationId xmlns:a16="http://schemas.microsoft.com/office/drawing/2014/main" id="{C820DACD-8202-B083-5453-3AF63F400C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59" name="TextBox 36">
              <a:extLst>
                <a:ext uri="{FF2B5EF4-FFF2-40B4-BE49-F238E27FC236}">
                  <a16:creationId xmlns:a16="http://schemas.microsoft.com/office/drawing/2014/main" id="{E4408107-818B-5293-EDCE-E3E5486CD955}"/>
                </a:ext>
              </a:extLst>
            </p:cNvPr>
            <p:cNvSpPr txBox="1"/>
            <p:nvPr/>
          </p:nvSpPr>
          <p:spPr>
            <a:xfrm>
              <a:off x="401467" y="268288"/>
              <a:ext cx="9525001" cy="19697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4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Arnoldus Anjar </a:t>
              </a:r>
              <a:r>
                <a:rPr lang="en-ID" dirty="0" err="1"/>
                <a:t>Prakoso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Chenia Wahyu </a:t>
              </a:r>
              <a:r>
                <a:rPr lang="en-ID" dirty="0" err="1"/>
                <a:t>Indahsari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Ligar</a:t>
              </a:r>
              <a:r>
                <a:rPr lang="en-ID" dirty="0"/>
                <a:t> Aji Pratama,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Zaki </a:t>
              </a:r>
              <a:r>
                <a:rPr lang="en-ID" dirty="0" err="1"/>
                <a:t>Yuantama</a:t>
              </a:r>
              <a:r>
                <a:rPr lang="en-ID" dirty="0"/>
                <a:t> Putra </a:t>
              </a:r>
              <a:endParaRPr lang="en-US" dirty="0">
                <a:sym typeface="Bricolage Grotesque Bold"/>
              </a:endParaRPr>
            </a:p>
          </p:txBody>
        </p:sp>
      </p:grpSp>
      <p:grpSp>
        <p:nvGrpSpPr>
          <p:cNvPr id="64" name="Group 21">
            <a:extLst>
              <a:ext uri="{FF2B5EF4-FFF2-40B4-BE49-F238E27FC236}">
                <a16:creationId xmlns:a16="http://schemas.microsoft.com/office/drawing/2014/main" id="{70BF1702-0838-97D0-E308-461FE8DA5ABC}"/>
              </a:ext>
            </a:extLst>
          </p:cNvPr>
          <p:cNvGrpSpPr/>
          <p:nvPr/>
        </p:nvGrpSpPr>
        <p:grpSpPr>
          <a:xfrm>
            <a:off x="2084096" y="7046204"/>
            <a:ext cx="4191000" cy="1809750"/>
            <a:chOff x="0" y="0"/>
            <a:chExt cx="10414000" cy="2413000"/>
          </a:xfrm>
        </p:grpSpPr>
        <p:grpSp>
          <p:nvGrpSpPr>
            <p:cNvPr id="65" name="Group 22">
              <a:extLst>
                <a:ext uri="{FF2B5EF4-FFF2-40B4-BE49-F238E27FC236}">
                  <a16:creationId xmlns:a16="http://schemas.microsoft.com/office/drawing/2014/main" id="{49403C47-02F2-AB91-9A7B-E4E73D520F0F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70" name="Freeform 23">
                <a:extLst>
                  <a:ext uri="{FF2B5EF4-FFF2-40B4-BE49-F238E27FC236}">
                    <a16:creationId xmlns:a16="http://schemas.microsoft.com/office/drawing/2014/main" id="{5DD31EAF-7C50-F27B-59BD-742ADB99ECC9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71" name="TextBox 24">
                <a:extLst>
                  <a:ext uri="{FF2B5EF4-FFF2-40B4-BE49-F238E27FC236}">
                    <a16:creationId xmlns:a16="http://schemas.microsoft.com/office/drawing/2014/main" id="{1238D425-38E5-5B29-C7AE-52AD6FB5952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66" name="Group 25">
              <a:extLst>
                <a:ext uri="{FF2B5EF4-FFF2-40B4-BE49-F238E27FC236}">
                  <a16:creationId xmlns:a16="http://schemas.microsoft.com/office/drawing/2014/main" id="{96DD4403-2C6A-E745-C831-DFF41BECB7AB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68" name="Freeform 26">
                <a:extLst>
                  <a:ext uri="{FF2B5EF4-FFF2-40B4-BE49-F238E27FC236}">
                    <a16:creationId xmlns:a16="http://schemas.microsoft.com/office/drawing/2014/main" id="{5F91EE0F-BC05-6918-A5C8-FD9B1E7013FD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69" name="TextBox 27">
                <a:extLst>
                  <a:ext uri="{FF2B5EF4-FFF2-40B4-BE49-F238E27FC236}">
                    <a16:creationId xmlns:a16="http://schemas.microsoft.com/office/drawing/2014/main" id="{045229B6-3255-EDE8-E994-39C55F6BFB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67" name="TextBox 28">
              <a:extLst>
                <a:ext uri="{FF2B5EF4-FFF2-40B4-BE49-F238E27FC236}">
                  <a16:creationId xmlns:a16="http://schemas.microsoft.com/office/drawing/2014/main" id="{96284D83-5F42-93E6-E33F-38F6DFB65226}"/>
                </a:ext>
              </a:extLst>
            </p:cNvPr>
            <p:cNvSpPr txBox="1"/>
            <p:nvPr/>
          </p:nvSpPr>
          <p:spPr>
            <a:xfrm>
              <a:off x="444500" y="221613"/>
              <a:ext cx="9525001" cy="196977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4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Mahatva</a:t>
              </a:r>
              <a:r>
                <a:rPr lang="en-ID" dirty="0"/>
                <a:t> </a:t>
              </a:r>
              <a:r>
                <a:rPr lang="en-ID" dirty="0" err="1"/>
                <a:t>Yudha</a:t>
              </a:r>
              <a:r>
                <a:rPr lang="en-ID" dirty="0"/>
                <a:t> Satria,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Apolinaris Morel </a:t>
              </a:r>
              <a:r>
                <a:rPr lang="en-ID" dirty="0" err="1"/>
                <a:t>Radhitya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Fathan </a:t>
              </a:r>
              <a:r>
                <a:rPr lang="en-ID" dirty="0" err="1"/>
                <a:t>Fakhrizal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Relygiano</a:t>
              </a:r>
              <a:r>
                <a:rPr lang="en-ID" dirty="0"/>
                <a:t> </a:t>
              </a:r>
              <a:r>
                <a:rPr lang="en-ID" dirty="0" err="1"/>
                <a:t>Dwibhima</a:t>
              </a:r>
              <a:r>
                <a:rPr lang="en-ID" dirty="0"/>
                <a:t> </a:t>
              </a:r>
              <a:endParaRPr lang="en-US" dirty="0">
                <a:sym typeface="Bricolage Grotesque Bold"/>
              </a:endParaRPr>
            </a:p>
          </p:txBody>
        </p:sp>
      </p:grpSp>
      <p:grpSp>
        <p:nvGrpSpPr>
          <p:cNvPr id="72" name="Group 29">
            <a:extLst>
              <a:ext uri="{FF2B5EF4-FFF2-40B4-BE49-F238E27FC236}">
                <a16:creationId xmlns:a16="http://schemas.microsoft.com/office/drawing/2014/main" id="{54F11444-0D2B-2757-C6E6-4D942B8D2A64}"/>
              </a:ext>
            </a:extLst>
          </p:cNvPr>
          <p:cNvGrpSpPr/>
          <p:nvPr/>
        </p:nvGrpSpPr>
        <p:grpSpPr>
          <a:xfrm>
            <a:off x="6963591" y="7000743"/>
            <a:ext cx="4191000" cy="1873665"/>
            <a:chOff x="0" y="0"/>
            <a:chExt cx="10414000" cy="2498220"/>
          </a:xfrm>
        </p:grpSpPr>
        <p:grpSp>
          <p:nvGrpSpPr>
            <p:cNvPr id="73" name="Group 30">
              <a:extLst>
                <a:ext uri="{FF2B5EF4-FFF2-40B4-BE49-F238E27FC236}">
                  <a16:creationId xmlns:a16="http://schemas.microsoft.com/office/drawing/2014/main" id="{ACFAB819-C6E3-8DE7-46BA-7C2F0B65B886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78" name="Freeform 31">
                <a:extLst>
                  <a:ext uri="{FF2B5EF4-FFF2-40B4-BE49-F238E27FC236}">
                    <a16:creationId xmlns:a16="http://schemas.microsoft.com/office/drawing/2014/main" id="{1A15EC12-0D44-0318-0EFC-8F2EB7C2AA81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79" name="TextBox 32">
                <a:extLst>
                  <a:ext uri="{FF2B5EF4-FFF2-40B4-BE49-F238E27FC236}">
                    <a16:creationId xmlns:a16="http://schemas.microsoft.com/office/drawing/2014/main" id="{F3C0819C-B960-A747-328B-E89E88A9208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74" name="Group 33">
              <a:extLst>
                <a:ext uri="{FF2B5EF4-FFF2-40B4-BE49-F238E27FC236}">
                  <a16:creationId xmlns:a16="http://schemas.microsoft.com/office/drawing/2014/main" id="{9879C848-D716-A4CF-709C-43818C890C71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76" name="Freeform 34">
                <a:extLst>
                  <a:ext uri="{FF2B5EF4-FFF2-40B4-BE49-F238E27FC236}">
                    <a16:creationId xmlns:a16="http://schemas.microsoft.com/office/drawing/2014/main" id="{04DCEFFA-A152-867A-FF99-F59DFDB59617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77" name="TextBox 35">
                <a:extLst>
                  <a:ext uri="{FF2B5EF4-FFF2-40B4-BE49-F238E27FC236}">
                    <a16:creationId xmlns:a16="http://schemas.microsoft.com/office/drawing/2014/main" id="{38681DC2-1603-3EC3-D6EF-C97BCFA6AB3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75" name="TextBox 36">
              <a:extLst>
                <a:ext uri="{FF2B5EF4-FFF2-40B4-BE49-F238E27FC236}">
                  <a16:creationId xmlns:a16="http://schemas.microsoft.com/office/drawing/2014/main" id="{9B586BDF-A435-E093-2CCD-AD6C39A2CA64}"/>
                </a:ext>
              </a:extLst>
            </p:cNvPr>
            <p:cNvSpPr txBox="1"/>
            <p:nvPr/>
          </p:nvSpPr>
          <p:spPr>
            <a:xfrm>
              <a:off x="444500" y="36008"/>
              <a:ext cx="9525001" cy="246221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4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Muhammad </a:t>
              </a:r>
              <a:r>
                <a:rPr lang="en-ID" dirty="0" err="1"/>
                <a:t>Fachri</a:t>
              </a:r>
              <a:r>
                <a:rPr lang="en-ID" dirty="0"/>
                <a:t> </a:t>
              </a:r>
              <a:r>
                <a:rPr lang="en-ID" dirty="0" err="1"/>
                <a:t>Setya</a:t>
              </a:r>
              <a:r>
                <a:rPr lang="en-ID" dirty="0"/>
                <a:t> </a:t>
              </a:r>
              <a:r>
                <a:rPr lang="en-ID" dirty="0" err="1"/>
                <a:t>Bagaskara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Arkana Ilham Naufal,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Faadhilah</a:t>
              </a:r>
              <a:r>
                <a:rPr lang="en-ID" dirty="0"/>
                <a:t> Reno </a:t>
              </a:r>
              <a:r>
                <a:rPr lang="en-ID" dirty="0" err="1"/>
                <a:t>Wahyudha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 err="1"/>
                <a:t>Zudan</a:t>
              </a:r>
              <a:r>
                <a:rPr lang="en-ID" dirty="0"/>
                <a:t> Candra Kahana </a:t>
              </a:r>
              <a:endParaRPr lang="en-US" dirty="0">
                <a:sym typeface="Bricolage Grotesque Bold"/>
              </a:endParaRPr>
            </a:p>
          </p:txBody>
        </p:sp>
      </p:grpSp>
      <p:grpSp>
        <p:nvGrpSpPr>
          <p:cNvPr id="80" name="Group 29">
            <a:extLst>
              <a:ext uri="{FF2B5EF4-FFF2-40B4-BE49-F238E27FC236}">
                <a16:creationId xmlns:a16="http://schemas.microsoft.com/office/drawing/2014/main" id="{FB3C08E5-1B7F-5177-D647-7A48F22AEC3C}"/>
              </a:ext>
            </a:extLst>
          </p:cNvPr>
          <p:cNvGrpSpPr/>
          <p:nvPr/>
        </p:nvGrpSpPr>
        <p:grpSpPr>
          <a:xfrm>
            <a:off x="11847825" y="6998145"/>
            <a:ext cx="4191000" cy="1809750"/>
            <a:chOff x="0" y="0"/>
            <a:chExt cx="10414000" cy="2413000"/>
          </a:xfrm>
        </p:grpSpPr>
        <p:grpSp>
          <p:nvGrpSpPr>
            <p:cNvPr id="81" name="Group 30">
              <a:extLst>
                <a:ext uri="{FF2B5EF4-FFF2-40B4-BE49-F238E27FC236}">
                  <a16:creationId xmlns:a16="http://schemas.microsoft.com/office/drawing/2014/main" id="{DE87A617-4CD2-04D8-ACF4-CC0213F711A8}"/>
                </a:ext>
              </a:extLst>
            </p:cNvPr>
            <p:cNvGrpSpPr/>
            <p:nvPr/>
          </p:nvGrpSpPr>
          <p:grpSpPr>
            <a:xfrm>
              <a:off x="0" y="0"/>
              <a:ext cx="10414000" cy="2413000"/>
              <a:chOff x="0" y="0"/>
              <a:chExt cx="10414000" cy="2413000"/>
            </a:xfrm>
          </p:grpSpPr>
          <p:sp>
            <p:nvSpPr>
              <p:cNvPr id="86" name="Freeform 31">
                <a:extLst>
                  <a:ext uri="{FF2B5EF4-FFF2-40B4-BE49-F238E27FC236}">
                    <a16:creationId xmlns:a16="http://schemas.microsoft.com/office/drawing/2014/main" id="{7352E2CE-C2EB-7A5D-6BD2-D772C3240CA0}"/>
                  </a:ext>
                </a:extLst>
              </p:cNvPr>
              <p:cNvSpPr/>
              <p:nvPr/>
            </p:nvSpPr>
            <p:spPr>
              <a:xfrm>
                <a:off x="0" y="0"/>
                <a:ext cx="104140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0414000" h="2413000">
                    <a:moveTo>
                      <a:pt x="0" y="0"/>
                    </a:moveTo>
                    <a:lnTo>
                      <a:pt x="10414000" y="0"/>
                    </a:lnTo>
                    <a:lnTo>
                      <a:pt x="104140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87" name="TextBox 32">
                <a:extLst>
                  <a:ext uri="{FF2B5EF4-FFF2-40B4-BE49-F238E27FC236}">
                    <a16:creationId xmlns:a16="http://schemas.microsoft.com/office/drawing/2014/main" id="{912643A4-2AF2-6C4F-7FDC-B9EE177140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04140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grpSp>
          <p:nvGrpSpPr>
            <p:cNvPr id="82" name="Group 33">
              <a:extLst>
                <a:ext uri="{FF2B5EF4-FFF2-40B4-BE49-F238E27FC236}">
                  <a16:creationId xmlns:a16="http://schemas.microsoft.com/office/drawing/2014/main" id="{06D72199-CEB5-859F-F886-D00882170977}"/>
                </a:ext>
              </a:extLst>
            </p:cNvPr>
            <p:cNvGrpSpPr/>
            <p:nvPr/>
          </p:nvGrpSpPr>
          <p:grpSpPr>
            <a:xfrm>
              <a:off x="0" y="0"/>
              <a:ext cx="152400" cy="2413000"/>
              <a:chOff x="0" y="0"/>
              <a:chExt cx="152400" cy="2413000"/>
            </a:xfrm>
          </p:grpSpPr>
          <p:sp>
            <p:nvSpPr>
              <p:cNvPr id="84" name="Freeform 34">
                <a:extLst>
                  <a:ext uri="{FF2B5EF4-FFF2-40B4-BE49-F238E27FC236}">
                    <a16:creationId xmlns:a16="http://schemas.microsoft.com/office/drawing/2014/main" id="{2D919227-6595-388D-F90C-40D4A5E74F94}"/>
                  </a:ext>
                </a:extLst>
              </p:cNvPr>
              <p:cNvSpPr/>
              <p:nvPr/>
            </p:nvSpPr>
            <p:spPr>
              <a:xfrm>
                <a:off x="0" y="0"/>
                <a:ext cx="1524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413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C857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/>
              </a:p>
            </p:txBody>
          </p:sp>
          <p:sp>
            <p:nvSpPr>
              <p:cNvPr id="85" name="TextBox 35">
                <a:extLst>
                  <a:ext uri="{FF2B5EF4-FFF2-40B4-BE49-F238E27FC236}">
                    <a16:creationId xmlns:a16="http://schemas.microsoft.com/office/drawing/2014/main" id="{069C70A2-1E52-F396-5B97-9D1FAE3A45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524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285750" indent="-285750" algn="l">
                  <a:lnSpc>
                    <a:spcPts val="1679"/>
                  </a:lnSpc>
                  <a:buFont typeface="Arial" panose="020B0604020202020204" pitchFamily="34" charset="0"/>
                  <a:buChar char="•"/>
                </a:pPr>
                <a:endParaRPr/>
              </a:p>
            </p:txBody>
          </p:sp>
        </p:grpSp>
        <p:sp>
          <p:nvSpPr>
            <p:cNvPr id="83" name="TextBox 36">
              <a:extLst>
                <a:ext uri="{FF2B5EF4-FFF2-40B4-BE49-F238E27FC236}">
                  <a16:creationId xmlns:a16="http://schemas.microsoft.com/office/drawing/2014/main" id="{FC515377-ADB3-FD05-235A-4C74A28C8D08}"/>
                </a:ext>
              </a:extLst>
            </p:cNvPr>
            <p:cNvSpPr txBox="1"/>
            <p:nvPr/>
          </p:nvSpPr>
          <p:spPr>
            <a:xfrm>
              <a:off x="380537" y="202564"/>
              <a:ext cx="9805324" cy="196977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>
              <a:defPPr>
                <a:defRPr lang="en-US"/>
              </a:defPPr>
              <a:lvl1pPr marL="457200" lvl="0" indent="-457200">
                <a:buFont typeface="+mj-lt"/>
                <a:buAutoNum type="arabicPeriod"/>
                <a:defRPr sz="2400"/>
              </a:lvl1pPr>
            </a:lstStyle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Indra Saputra,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Muhamad Dirham Al Abrar,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Fakhri </a:t>
              </a:r>
              <a:r>
                <a:rPr lang="en-ID" dirty="0" err="1"/>
                <a:t>Syarif</a:t>
              </a:r>
              <a:r>
                <a:rPr lang="en-ID" dirty="0"/>
                <a:t> </a:t>
              </a:r>
              <a:r>
                <a:rPr lang="en-ID" dirty="0" err="1"/>
                <a:t>Arrozaq</a:t>
              </a:r>
              <a:r>
                <a:rPr lang="en-ID" dirty="0"/>
                <a:t>, 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lang="en-ID" dirty="0"/>
                <a:t>Nur Ahsan Fadila </a:t>
              </a:r>
              <a:endParaRPr lang="en-US" dirty="0">
                <a:sym typeface="Bricolage Grotesque Bold"/>
              </a:endParaRPr>
            </a:p>
          </p:txBody>
        </p:sp>
      </p:grpSp>
      <p:sp>
        <p:nvSpPr>
          <p:cNvPr id="88" name="TextBox 9">
            <a:extLst>
              <a:ext uri="{FF2B5EF4-FFF2-40B4-BE49-F238E27FC236}">
                <a16:creationId xmlns:a16="http://schemas.microsoft.com/office/drawing/2014/main" id="{E181E6DC-4429-5919-4783-78C32DF20958}"/>
              </a:ext>
            </a:extLst>
          </p:cNvPr>
          <p:cNvSpPr txBox="1"/>
          <p:nvPr/>
        </p:nvSpPr>
        <p:spPr>
          <a:xfrm>
            <a:off x="1555295" y="2819232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</a:p>
        </p:txBody>
      </p:sp>
      <p:sp>
        <p:nvSpPr>
          <p:cNvPr id="89" name="TextBox 9">
            <a:extLst>
              <a:ext uri="{FF2B5EF4-FFF2-40B4-BE49-F238E27FC236}">
                <a16:creationId xmlns:a16="http://schemas.microsoft.com/office/drawing/2014/main" id="{FFCCB56E-961F-7FC3-32F5-3BE90F0EF917}"/>
              </a:ext>
            </a:extLst>
          </p:cNvPr>
          <p:cNvSpPr txBox="1"/>
          <p:nvPr/>
        </p:nvSpPr>
        <p:spPr>
          <a:xfrm>
            <a:off x="6494908" y="2815902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2</a:t>
            </a:r>
          </a:p>
        </p:txBody>
      </p:sp>
      <p:sp>
        <p:nvSpPr>
          <p:cNvPr id="90" name="TextBox 9">
            <a:extLst>
              <a:ext uri="{FF2B5EF4-FFF2-40B4-BE49-F238E27FC236}">
                <a16:creationId xmlns:a16="http://schemas.microsoft.com/office/drawing/2014/main" id="{46A2C148-BD12-10BC-F8B7-D6F04D4ABEB1}"/>
              </a:ext>
            </a:extLst>
          </p:cNvPr>
          <p:cNvSpPr txBox="1"/>
          <p:nvPr/>
        </p:nvSpPr>
        <p:spPr>
          <a:xfrm>
            <a:off x="11418855" y="2815902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3</a:t>
            </a:r>
          </a:p>
        </p:txBody>
      </p:sp>
      <p:sp>
        <p:nvSpPr>
          <p:cNvPr id="91" name="TextBox 9">
            <a:extLst>
              <a:ext uri="{FF2B5EF4-FFF2-40B4-BE49-F238E27FC236}">
                <a16:creationId xmlns:a16="http://schemas.microsoft.com/office/drawing/2014/main" id="{CB2BC0B6-E26B-40B9-5C6B-12CCA37F765E}"/>
              </a:ext>
            </a:extLst>
          </p:cNvPr>
          <p:cNvSpPr txBox="1"/>
          <p:nvPr/>
        </p:nvSpPr>
        <p:spPr>
          <a:xfrm>
            <a:off x="1680746" y="5144037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4</a:t>
            </a:r>
          </a:p>
        </p:txBody>
      </p:sp>
      <p:sp>
        <p:nvSpPr>
          <p:cNvPr id="92" name="TextBox 9">
            <a:extLst>
              <a:ext uri="{FF2B5EF4-FFF2-40B4-BE49-F238E27FC236}">
                <a16:creationId xmlns:a16="http://schemas.microsoft.com/office/drawing/2014/main" id="{55E71DCA-6E35-ACE2-25F9-CF90747DEEEF}"/>
              </a:ext>
            </a:extLst>
          </p:cNvPr>
          <p:cNvSpPr txBox="1"/>
          <p:nvPr/>
        </p:nvSpPr>
        <p:spPr>
          <a:xfrm>
            <a:off x="6546143" y="5144574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5</a:t>
            </a:r>
          </a:p>
        </p:txBody>
      </p:sp>
      <p:sp>
        <p:nvSpPr>
          <p:cNvPr id="93" name="TextBox 9">
            <a:extLst>
              <a:ext uri="{FF2B5EF4-FFF2-40B4-BE49-F238E27FC236}">
                <a16:creationId xmlns:a16="http://schemas.microsoft.com/office/drawing/2014/main" id="{4BF301B8-2EE2-02DD-33A6-2AED89F0CADE}"/>
              </a:ext>
            </a:extLst>
          </p:cNvPr>
          <p:cNvSpPr txBox="1"/>
          <p:nvPr/>
        </p:nvSpPr>
        <p:spPr>
          <a:xfrm>
            <a:off x="11428233" y="5143500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6</a:t>
            </a:r>
          </a:p>
        </p:txBody>
      </p:sp>
      <p:sp>
        <p:nvSpPr>
          <p:cNvPr id="94" name="TextBox 9">
            <a:extLst>
              <a:ext uri="{FF2B5EF4-FFF2-40B4-BE49-F238E27FC236}">
                <a16:creationId xmlns:a16="http://schemas.microsoft.com/office/drawing/2014/main" id="{D7F7604E-F565-A7B3-829D-97192AD6082A}"/>
              </a:ext>
            </a:extLst>
          </p:cNvPr>
          <p:cNvSpPr txBox="1"/>
          <p:nvPr/>
        </p:nvSpPr>
        <p:spPr>
          <a:xfrm>
            <a:off x="1675620" y="7581297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7</a:t>
            </a:r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7B8007DE-61E2-F742-25EB-270F49E684EF}"/>
              </a:ext>
            </a:extLst>
          </p:cNvPr>
          <p:cNvSpPr txBox="1"/>
          <p:nvPr/>
        </p:nvSpPr>
        <p:spPr>
          <a:xfrm>
            <a:off x="6546143" y="7505210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8</a:t>
            </a:r>
          </a:p>
        </p:txBody>
      </p:sp>
      <p:sp>
        <p:nvSpPr>
          <p:cNvPr id="96" name="TextBox 9">
            <a:extLst>
              <a:ext uri="{FF2B5EF4-FFF2-40B4-BE49-F238E27FC236}">
                <a16:creationId xmlns:a16="http://schemas.microsoft.com/office/drawing/2014/main" id="{48E82AC3-632E-79DF-C0E2-E4C0D6DF1D26}"/>
              </a:ext>
            </a:extLst>
          </p:cNvPr>
          <p:cNvSpPr txBox="1"/>
          <p:nvPr/>
        </p:nvSpPr>
        <p:spPr>
          <a:xfrm>
            <a:off x="11450490" y="7505210"/>
            <a:ext cx="552318" cy="643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750" dirty="0">
                <a:latin typeface="Archivo Black"/>
                <a:ea typeface="Archivo Black"/>
                <a:cs typeface="Archivo Black"/>
                <a:sym typeface="Archivo Black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01607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6618</TotalTime>
  <Words>1160</Words>
  <Application>Microsoft Macintosh PowerPoint</Application>
  <PresentationFormat>Custom</PresentationFormat>
  <Paragraphs>299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DM Sans Bold</vt:lpstr>
      <vt:lpstr>Arial</vt:lpstr>
      <vt:lpstr>Bricolage Grotesque Bold</vt:lpstr>
      <vt:lpstr>Calibri</vt:lpstr>
      <vt:lpstr>Archivo Black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PRODUK</dc:title>
  <cp:lastModifiedBy>ibnu allika prabo warasto</cp:lastModifiedBy>
  <cp:revision>5</cp:revision>
  <dcterms:created xsi:type="dcterms:W3CDTF">2006-08-16T00:00:00Z</dcterms:created>
  <dcterms:modified xsi:type="dcterms:W3CDTF">2026-09-08T01:39:39Z</dcterms:modified>
  <dc:identifier>DAHUDXsm2HM</dc:identifier>
</cp:coreProperties>
</file>