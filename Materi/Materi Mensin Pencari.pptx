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chivo Black" panose="020B0A03020202020B04" pitchFamily="34" charset="77"/>
      <p:regular r:id="rId20"/>
    </p:embeddedFont>
    <p:embeddedFont>
      <p:font typeface="Bricolage Grotesque Bold" panose="020B0605040402000204" pitchFamily="34" charset="0"/>
      <p:regular r:id="rId21"/>
      <p:bold r:id="rId22"/>
    </p:embeddedFont>
    <p:embeddedFont>
      <p:font typeface="DM Sans" pitchFamily="2" charset="77"/>
      <p:regular r:id="rId23"/>
    </p:embeddedFont>
    <p:embeddedFont>
      <p:font typeface="DM Sans Bold" pitchFamily="2" charset="77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 autoAdjust="0"/>
    <p:restoredTop sz="94596" autoAdjust="0"/>
  </p:normalViewPr>
  <p:slideViewPr>
    <p:cSldViewPr>
      <p:cViewPr varScale="1">
        <p:scale>
          <a:sx n="93" d="100"/>
          <a:sy n="93" d="100"/>
        </p:scale>
        <p:origin x="4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LaIdEedoU4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930">
                <a:alpha val="5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500" y="1428750"/>
            <a:ext cx="152400" cy="6667500"/>
            <a:chOff x="0" y="0"/>
            <a:chExt cx="203200" cy="889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200" cy="8890000"/>
            </a:xfrm>
            <a:custGeom>
              <a:avLst/>
              <a:gdLst/>
              <a:ahLst/>
              <a:cxnLst/>
              <a:rect l="l" t="t" r="r" b="b"/>
              <a:pathLst>
                <a:path w="203200" h="8890000">
                  <a:moveTo>
                    <a:pt x="0" y="0"/>
                  </a:moveTo>
                  <a:lnTo>
                    <a:pt x="203200" y="0"/>
                  </a:lnTo>
                  <a:lnTo>
                    <a:pt x="203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3200" cy="892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8750" y="1495425"/>
            <a:ext cx="6667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SELAMAT DATANG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50" y="2343150"/>
            <a:ext cx="10915650" cy="2591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Memahami</a:t>
            </a:r>
            <a:r>
              <a:rPr lang="en-US" sz="66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Mesin</a:t>
            </a:r>
            <a:r>
              <a:rPr lang="en-US" sz="66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Pencari</a:t>
            </a:r>
            <a:r>
              <a:rPr lang="en-US" sz="66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, AI, dan </a:t>
            </a: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Mengevaluasi</a:t>
            </a:r>
            <a:r>
              <a:rPr lang="en-US" sz="66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Sumber</a:t>
            </a:r>
            <a:r>
              <a:rPr lang="en-US" sz="66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Informasi</a:t>
            </a:r>
            <a:endParaRPr lang="en-US" sz="6600" b="1" dirty="0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28750" y="5391150"/>
            <a:ext cx="752475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Belajar mencari, memeriksa, dan menggunakan informasi secara bertanggung jawab.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8750" y="7496175"/>
            <a:ext cx="9906000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TUJUAN HARI INI  →  bukan sekadar menemukan jawaban, tetapi menilai apakah jawaban itu layak dipercaya.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Praktik pedagogis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2686050"/>
            <a:ext cx="16383000" cy="1190625"/>
            <a:chOff x="0" y="0"/>
            <a:chExt cx="21844000" cy="15875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1844000" cy="1587500"/>
              <a:chOff x="0" y="0"/>
              <a:chExt cx="21844000" cy="1587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8440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15875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18440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71500" y="434975"/>
              <a:ext cx="39370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MODEL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34000" y="298450"/>
              <a:ext cx="14732000" cy="610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4"/>
                </a:lnSpc>
              </a:pPr>
              <a:r>
                <a:rPr lang="en-US" sz="2775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Case Based Learning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500" y="4162425"/>
            <a:ext cx="16383000" cy="1676400"/>
            <a:chOff x="0" y="0"/>
            <a:chExt cx="21844000" cy="22352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1844000" cy="2235200"/>
              <a:chOff x="0" y="0"/>
              <a:chExt cx="21844000" cy="2235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844000" cy="22352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22352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2235200"/>
                    </a:lnTo>
                    <a:lnTo>
                      <a:pt x="0" y="2235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844000" cy="227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71500" y="434975"/>
              <a:ext cx="39370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PENDEKATAN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34000" y="298450"/>
              <a:ext cx="14732000" cy="1258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4"/>
                </a:lnSpc>
              </a:pPr>
              <a:r>
                <a:rPr lang="en-US" sz="2775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Deep Learning berpusat pada murid (Student-Centered Learning).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5638800"/>
            <a:ext cx="16383000" cy="1190625"/>
            <a:chOff x="0" y="0"/>
            <a:chExt cx="21844000" cy="15875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21844000" cy="1587500"/>
              <a:chOff x="0" y="0"/>
              <a:chExt cx="21844000" cy="1587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8440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15875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8440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71500" y="434975"/>
              <a:ext cx="39370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STRATEGI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4000" y="298450"/>
              <a:ext cx="14732000" cy="610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4"/>
                </a:lnSpc>
              </a:pPr>
              <a:r>
                <a:rPr lang="en-US" sz="2775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Guiding Question • Investigasi • Diskusi • Refleksi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7115175"/>
            <a:ext cx="16383000" cy="1190625"/>
            <a:chOff x="0" y="0"/>
            <a:chExt cx="21844000" cy="15875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21844000" cy="1587500"/>
              <a:chOff x="0" y="0"/>
              <a:chExt cx="21844000" cy="1587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18440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15875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12233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218440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71500" y="434975"/>
              <a:ext cx="39370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PRODUK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34000" y="298450"/>
              <a:ext cx="14732000" cy="610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4"/>
                </a:lnSpc>
              </a:pPr>
              <a:r>
                <a:rPr lang="en-US" sz="2775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Analisis Kredibilitas Informasi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Tujuan pembelajaran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2571750"/>
            <a:ext cx="5238750" cy="6274197"/>
            <a:chOff x="0" y="0"/>
            <a:chExt cx="6985000" cy="836559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985000" cy="8365596"/>
              <a:chOff x="0" y="0"/>
              <a:chExt cx="6985000" cy="836559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985000" cy="8365596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8365596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8365596"/>
                    </a:lnTo>
                    <a:lnTo>
                      <a:pt x="0" y="836559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985000" cy="84036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6985000" cy="177800"/>
              <a:chOff x="0" y="0"/>
              <a:chExt cx="6985000" cy="177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9850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1778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985000" cy="215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57200" y="460375"/>
              <a:ext cx="635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KOGNITIF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00" y="1447800"/>
              <a:ext cx="6350000" cy="2006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Bedakan fakta, opini &amp; informasi (C2)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Terapkan kata kunci &amp; operator (C3)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Analisis kredibilitas sumber (C4)</a:t>
              </a:r>
            </a:p>
            <a:p>
              <a:pPr algn="l">
                <a:lnSpc>
                  <a:spcPts val="2906"/>
                </a:lnSpc>
              </a:pPr>
              <a:endParaRPr lang="en-US" sz="2000">
                <a:solidFill>
                  <a:srgbClr val="12233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24625" y="2571750"/>
            <a:ext cx="5238750" cy="6271419"/>
            <a:chOff x="0" y="0"/>
            <a:chExt cx="6985000" cy="836189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985000" cy="8361892"/>
              <a:chOff x="0" y="0"/>
              <a:chExt cx="6985000" cy="836189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985000" cy="8361891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8361891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8361891"/>
                    </a:lnTo>
                    <a:lnTo>
                      <a:pt x="0" y="836189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985000" cy="83999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6985000" cy="177800"/>
              <a:chOff x="0" y="0"/>
              <a:chExt cx="6985000" cy="177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9850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1778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985000" cy="215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57200" y="460375"/>
              <a:ext cx="635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PSIKOMOTOR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7200" y="1447800"/>
              <a:ext cx="6350000" cy="151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Gunakan operator pencarian (P3)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Kumpulkan beragam sumber digital (P3)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Bandingkan tingkat kredibilitas (P3)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96750" y="2571750"/>
            <a:ext cx="5238750" cy="6271419"/>
            <a:chOff x="0" y="0"/>
            <a:chExt cx="6985000" cy="8361892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985000" cy="8361892"/>
              <a:chOff x="0" y="0"/>
              <a:chExt cx="6985000" cy="836189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985000" cy="8361891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8361891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8361891"/>
                    </a:lnTo>
                    <a:lnTo>
                      <a:pt x="0" y="836189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985000" cy="83999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6985000" cy="177800"/>
              <a:chOff x="0" y="0"/>
              <a:chExt cx="6985000" cy="177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9850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1778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EF6F6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985000" cy="215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57200" y="460375"/>
              <a:ext cx="635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AFEKTIF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200" y="1447800"/>
              <a:ext cx="6350000" cy="151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Bertanggung jawab saat berbagi (A3)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Kritis sebelum percaya (A3)</a:t>
              </a:r>
            </a:p>
            <a:p>
              <a:pPr algn="l">
                <a:lnSpc>
                  <a:spcPts val="3100"/>
                </a:lnSpc>
              </a:pPr>
              <a:r>
                <a:rPr lang="en-US" sz="20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Jujur mencantumkan sumber (A3)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930">
                <a:alpha val="8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1019175"/>
            <a:ext cx="6667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PERTANYAAN PEMANTIK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2162175"/>
            <a:ext cx="11906250" cy="150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55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Ketika sebuah berita viral muncul di linimasa…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5467350"/>
            <a:ext cx="14287500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4950">
                <a:solidFill>
                  <a:srgbClr val="FFC857"/>
                </a:solidFill>
                <a:latin typeface="Archivo Black"/>
                <a:ea typeface="Archivo Black"/>
                <a:cs typeface="Archivo Black"/>
                <a:sym typeface="Archivo Black"/>
              </a:rPr>
              <a:t>APA YANG MEMBUATMU PERCAYA?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6819900"/>
            <a:ext cx="9525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Berhenti • Periksa sumber • Cari bukti pembanding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Mengapa kita perlu mesin pencari?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3667125"/>
            <a:ext cx="2476500" cy="1619250"/>
            <a:chOff x="0" y="0"/>
            <a:chExt cx="3302000" cy="215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223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INTERNET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3571875" y="4476750"/>
            <a:ext cx="571500" cy="0"/>
          </a:xfrm>
          <a:prstGeom prst="line">
            <a:avLst/>
          </a:prstGeom>
          <a:ln w="47625" cap="rnd">
            <a:solidFill>
              <a:srgbClr val="1223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286250" y="3667125"/>
            <a:ext cx="2476500" cy="1619250"/>
            <a:chOff x="0" y="0"/>
            <a:chExt cx="3302000" cy="2159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MILIARAN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HALAMAN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905625" y="4476750"/>
            <a:ext cx="571500" cy="0"/>
          </a:xfrm>
          <a:prstGeom prst="line">
            <a:avLst/>
          </a:prstGeom>
          <a:ln w="47625" cap="rnd">
            <a:solidFill>
              <a:srgbClr val="1223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620000" y="3667125"/>
            <a:ext cx="2476500" cy="1619250"/>
            <a:chOff x="0" y="0"/>
            <a:chExt cx="3302000" cy="2159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MESIN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PENCARI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239375" y="4476750"/>
            <a:ext cx="571500" cy="0"/>
          </a:xfrm>
          <a:prstGeom prst="line">
            <a:avLst/>
          </a:prstGeom>
          <a:ln w="47625" cap="rnd">
            <a:solidFill>
              <a:srgbClr val="1223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953750" y="3667125"/>
            <a:ext cx="2476500" cy="1619250"/>
            <a:chOff x="0" y="0"/>
            <a:chExt cx="3302000" cy="2159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INFORMASI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DITEMUKAN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3573125" y="4476750"/>
            <a:ext cx="571500" cy="0"/>
          </a:xfrm>
          <a:prstGeom prst="line">
            <a:avLst/>
          </a:prstGeom>
          <a:ln w="47625" cap="rnd">
            <a:solidFill>
              <a:srgbClr val="12233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4287500" y="3667125"/>
            <a:ext cx="2476500" cy="1619250"/>
            <a:chOff x="0" y="0"/>
            <a:chExt cx="3302000" cy="2159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EF6F6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BELUM TENTU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BENAR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76500" y="6505575"/>
            <a:ext cx="13335000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Mesin pencari membantu kita menemukan informasi. Sikap kritis membantu kita menentukan kebenarannya.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Apa itu mesin pencari?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096750" y="2381250"/>
            <a:ext cx="5238750" cy="5905500"/>
            <a:chOff x="0" y="0"/>
            <a:chExt cx="6985000" cy="787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0" cy="7874000"/>
            </a:xfrm>
            <a:custGeom>
              <a:avLst/>
              <a:gdLst/>
              <a:ahLst/>
              <a:cxnLst/>
              <a:rect l="l" t="t" r="r" b="b"/>
              <a:pathLst>
                <a:path w="6985000" h="7874000">
                  <a:moveTo>
                    <a:pt x="0" y="0"/>
                  </a:moveTo>
                  <a:lnTo>
                    <a:pt x="6985000" y="0"/>
                  </a:lnTo>
                  <a:lnTo>
                    <a:pt x="6985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1223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985000" cy="791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33500" y="2771775"/>
            <a:ext cx="10001250" cy="161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675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Sistem yang membantu kita menemukan informasi di internet berdasarkan kata kunci yang dimasukkan.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500" y="5772150"/>
            <a:ext cx="90487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D6B7E"/>
                </a:solidFill>
                <a:latin typeface="DM Sans"/>
                <a:ea typeface="DM Sans"/>
                <a:cs typeface="DM Sans"/>
                <a:sym typeface="DM Sans"/>
              </a:rPr>
              <a:t>Kata kunci masuk  →  daftar halaman relevan keluar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63500" y="2752725"/>
            <a:ext cx="3810000" cy="274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Google</a:t>
            </a:r>
          </a:p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Bing</a:t>
            </a:r>
          </a:p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DuckDuckGo</a:t>
            </a:r>
          </a:p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Yahoo</a:t>
            </a:r>
          </a:p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Brave 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Bagaimana mesin pencari bekerja?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2840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62000" y="3714750"/>
            <a:ext cx="2286000" cy="1714500"/>
            <a:chOff x="0" y="0"/>
            <a:chExt cx="30480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325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WEBSITE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Konten dibuat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3095625" y="4572000"/>
            <a:ext cx="476250" cy="0"/>
          </a:xfrm>
          <a:prstGeom prst="line">
            <a:avLst/>
          </a:prstGeom>
          <a:ln w="38100" cap="rnd">
            <a:solidFill>
              <a:srgbClr val="FFC8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667125" y="3714750"/>
            <a:ext cx="2286000" cy="1714500"/>
            <a:chOff x="0" y="0"/>
            <a:chExt cx="3048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CRAWLER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Menjelajah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000750" y="4572000"/>
            <a:ext cx="476250" cy="0"/>
          </a:xfrm>
          <a:prstGeom prst="line">
            <a:avLst/>
          </a:prstGeom>
          <a:ln w="38100" cap="rnd">
            <a:solidFill>
              <a:srgbClr val="FFC8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6572250" y="3714750"/>
            <a:ext cx="2286000" cy="1714500"/>
            <a:chOff x="0" y="0"/>
            <a:chExt cx="3048000" cy="228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325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INDEX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Menyimpan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905875" y="4572000"/>
            <a:ext cx="476250" cy="0"/>
          </a:xfrm>
          <a:prstGeom prst="line">
            <a:avLst/>
          </a:prstGeom>
          <a:ln w="38100" cap="rnd">
            <a:solidFill>
              <a:srgbClr val="FFC8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477375" y="3714750"/>
            <a:ext cx="2286000" cy="1714500"/>
            <a:chOff x="0" y="0"/>
            <a:chExt cx="3048000" cy="228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SEARCH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Mencocokkan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1811000" y="4572000"/>
            <a:ext cx="476250" cy="0"/>
          </a:xfrm>
          <a:prstGeom prst="line">
            <a:avLst/>
          </a:prstGeom>
          <a:ln w="38100" cap="rnd">
            <a:solidFill>
              <a:srgbClr val="FFC8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382500" y="3714750"/>
            <a:ext cx="2286000" cy="1714500"/>
            <a:chOff x="0" y="0"/>
            <a:chExt cx="3048000" cy="2286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325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RANKING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Mengurutkan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716125" y="4572000"/>
            <a:ext cx="476250" cy="0"/>
          </a:xfrm>
          <a:prstGeom prst="line">
            <a:avLst/>
          </a:prstGeom>
          <a:ln w="38100" cap="rnd">
            <a:solidFill>
              <a:srgbClr val="FFC8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5287625" y="3714750"/>
            <a:ext cx="2286000" cy="1714500"/>
            <a:chOff x="0" y="0"/>
            <a:chExt cx="3048000" cy="2286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2222500"/>
                  </a:lnTo>
                  <a:cubicBezTo>
                    <a:pt x="3048000" y="2257570"/>
                    <a:pt x="3019570" y="2286000"/>
                    <a:pt x="2984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3048000" cy="229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HASIL</a:t>
              </a:r>
            </a:p>
            <a:p>
              <a:pPr algn="ctr">
                <a:lnSpc>
                  <a:spcPts val="2242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Ditampilkan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762250" y="6629400"/>
            <a:ext cx="12763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Mesin pencari tidak ‘membaca’ seperti manusia—ia mencocokkan, menilai, lalu mengurutkan.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Kata kunci: dari luas ke tajam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2857500"/>
            <a:ext cx="16383000" cy="1476375"/>
            <a:chOff x="0" y="0"/>
            <a:chExt cx="21844000" cy="19685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1844000" cy="1968500"/>
              <a:chOff x="0" y="0"/>
              <a:chExt cx="21844000" cy="1968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84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19685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184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03200" cy="1968500"/>
              <a:chOff x="0" y="0"/>
              <a:chExt cx="203200" cy="1968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32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9685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EF6F6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032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35000" y="307975"/>
              <a:ext cx="5461000" cy="395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EF6F6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  TERLALU LUAS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0" y="847725"/>
              <a:ext cx="18415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4667250"/>
            <a:ext cx="16383000" cy="1476375"/>
            <a:chOff x="0" y="0"/>
            <a:chExt cx="21844000" cy="19685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1844000" cy="1968500"/>
              <a:chOff x="0" y="0"/>
              <a:chExt cx="21844000" cy="1968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184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19685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184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03200" cy="1968500"/>
              <a:chOff x="0" y="0"/>
              <a:chExt cx="203200" cy="1968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032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9685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032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35000" y="307975"/>
              <a:ext cx="5461000" cy="395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  LEBIH BAIK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000" y="847725"/>
              <a:ext cx="18415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pengertian AI untuk siswa SMK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6477000"/>
            <a:ext cx="16366927" cy="1875116"/>
            <a:chOff x="0" y="0"/>
            <a:chExt cx="21822569" cy="250015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21822569" cy="2500155"/>
              <a:chOff x="0" y="0"/>
              <a:chExt cx="21822569" cy="250015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1822569" cy="2500155"/>
              </a:xfrm>
              <a:custGeom>
                <a:avLst/>
                <a:gdLst/>
                <a:ahLst/>
                <a:cxnLst/>
                <a:rect l="l" t="t" r="r" b="b"/>
                <a:pathLst>
                  <a:path w="21822569" h="2500155">
                    <a:moveTo>
                      <a:pt x="0" y="0"/>
                    </a:moveTo>
                    <a:lnTo>
                      <a:pt x="21822569" y="0"/>
                    </a:lnTo>
                    <a:lnTo>
                      <a:pt x="21822569" y="2500155"/>
                    </a:lnTo>
                    <a:lnTo>
                      <a:pt x="0" y="250015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21822569" cy="25382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201144" cy="2500155"/>
              <a:chOff x="0" y="0"/>
              <a:chExt cx="201144" cy="250015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01144" cy="2500155"/>
              </a:xfrm>
              <a:custGeom>
                <a:avLst/>
                <a:gdLst/>
                <a:ahLst/>
                <a:cxnLst/>
                <a:rect l="l" t="t" r="r" b="b"/>
                <a:pathLst>
                  <a:path w="201144" h="2500155">
                    <a:moveTo>
                      <a:pt x="0" y="0"/>
                    </a:moveTo>
                    <a:lnTo>
                      <a:pt x="201144" y="0"/>
                    </a:lnTo>
                    <a:lnTo>
                      <a:pt x="201144" y="2500155"/>
                    </a:lnTo>
                    <a:lnTo>
                      <a:pt x="0" y="2500155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01144" cy="25382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635000" y="307975"/>
              <a:ext cx="5461000" cy="395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  SPESIFIK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000" y="866775"/>
              <a:ext cx="18415000" cy="122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“Artificial Intelligence” site:kemdikbud.go.id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“Artificial Intelligence” file:pdf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09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Operator pencarian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2840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001500" y="2790825"/>
            <a:ext cx="49530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Cari lebih akurat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01500" y="4019550"/>
            <a:ext cx="4762500" cy="202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 ”  kalimat persis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site:  situs tertentu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filetype:  PDF / PPT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-  kecualikan kata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  salah satu kata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10856" y="8334375"/>
            <a:ext cx="6624644" cy="9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9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COBA:  </a:t>
            </a:r>
          </a:p>
          <a:p>
            <a:pPr algn="l">
              <a:lnSpc>
                <a:spcPts val="3793"/>
              </a:lnSpc>
            </a:pPr>
            <a:r>
              <a:rPr lang="en-US" sz="2709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Karhutla site:bmkg.go.id filetype:pdf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0125" y="2619375"/>
            <a:ext cx="10287000" cy="5295900"/>
            <a:chOff x="0" y="0"/>
            <a:chExt cx="13716000" cy="706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16000" cy="7061200"/>
            </a:xfrm>
            <a:custGeom>
              <a:avLst/>
              <a:gdLst/>
              <a:ahLst/>
              <a:cxnLst/>
              <a:rect l="l" t="t" r="r" b="b"/>
              <a:pathLst>
                <a:path w="13716000" h="7061200">
                  <a:moveTo>
                    <a:pt x="152400" y="0"/>
                  </a:moveTo>
                  <a:lnTo>
                    <a:pt x="13563600" y="0"/>
                  </a:lnTo>
                  <a:cubicBezTo>
                    <a:pt x="13647769" y="0"/>
                    <a:pt x="13716000" y="68232"/>
                    <a:pt x="13716000" y="152400"/>
                  </a:cubicBezTo>
                  <a:lnTo>
                    <a:pt x="13716000" y="6908800"/>
                  </a:lnTo>
                  <a:cubicBezTo>
                    <a:pt x="13716000" y="6992969"/>
                    <a:pt x="13647769" y="7061200"/>
                    <a:pt x="13563600" y="7061200"/>
                  </a:cubicBezTo>
                  <a:lnTo>
                    <a:pt x="152400" y="7061200"/>
                  </a:lnTo>
                  <a:cubicBezTo>
                    <a:pt x="68232" y="7061200"/>
                    <a:pt x="0" y="6992969"/>
                    <a:pt x="0" y="6908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930"/>
            </a:solidFill>
            <a:ln w="19050" cap="sq">
              <a:solidFill>
                <a:srgbClr val="18A9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716000" cy="709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0125" y="2619375"/>
            <a:ext cx="10287000" cy="781050"/>
            <a:chOff x="0" y="0"/>
            <a:chExt cx="13716000" cy="1041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16000" cy="1041400"/>
            </a:xfrm>
            <a:custGeom>
              <a:avLst/>
              <a:gdLst/>
              <a:ahLst/>
              <a:cxnLst/>
              <a:rect l="l" t="t" r="r" b="b"/>
              <a:pathLst>
                <a:path w="13716000" h="1041400">
                  <a:moveTo>
                    <a:pt x="152400" y="0"/>
                  </a:moveTo>
                  <a:lnTo>
                    <a:pt x="13563600" y="0"/>
                  </a:lnTo>
                  <a:cubicBezTo>
                    <a:pt x="13647769" y="0"/>
                    <a:pt x="13716000" y="68232"/>
                    <a:pt x="13716000" y="152400"/>
                  </a:cubicBezTo>
                  <a:lnTo>
                    <a:pt x="13716000" y="889000"/>
                  </a:lnTo>
                  <a:cubicBezTo>
                    <a:pt x="13716000" y="973168"/>
                    <a:pt x="13647769" y="1041400"/>
                    <a:pt x="13563600" y="1041400"/>
                  </a:cubicBezTo>
                  <a:lnTo>
                    <a:pt x="152400" y="1041400"/>
                  </a:lnTo>
                  <a:cubicBezTo>
                    <a:pt x="68232" y="1041400"/>
                    <a:pt x="0" y="973168"/>
                    <a:pt x="0" y="889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8A9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716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0125" y="3286125"/>
            <a:ext cx="10287000" cy="114300"/>
            <a:chOff x="0" y="0"/>
            <a:chExt cx="13716000" cy="15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16000" cy="152400"/>
            </a:xfrm>
            <a:custGeom>
              <a:avLst/>
              <a:gdLst/>
              <a:ahLst/>
              <a:cxnLst/>
              <a:rect l="l" t="t" r="r" b="b"/>
              <a:pathLst>
                <a:path w="13716000" h="152400">
                  <a:moveTo>
                    <a:pt x="0" y="0"/>
                  </a:moveTo>
                  <a:lnTo>
                    <a:pt x="13716000" y="0"/>
                  </a:lnTo>
                  <a:lnTo>
                    <a:pt x="13716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8A9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7160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0125" y="4303395"/>
            <a:ext cx="10287000" cy="902970"/>
            <a:chOff x="0" y="0"/>
            <a:chExt cx="13716000" cy="12039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16000" cy="1203960"/>
            </a:xfrm>
            <a:custGeom>
              <a:avLst/>
              <a:gdLst/>
              <a:ahLst/>
              <a:cxnLst/>
              <a:rect l="l" t="t" r="r" b="b"/>
              <a:pathLst>
                <a:path w="13716000" h="1203960">
                  <a:moveTo>
                    <a:pt x="0" y="0"/>
                  </a:moveTo>
                  <a:lnTo>
                    <a:pt x="13716000" y="0"/>
                  </a:lnTo>
                  <a:lnTo>
                    <a:pt x="13716000" y="1203960"/>
                  </a:lnTo>
                  <a:lnTo>
                    <a:pt x="0" y="1203960"/>
                  </a:lnTo>
                  <a:close/>
                </a:path>
              </a:pathLst>
            </a:custGeom>
            <a:solidFill>
              <a:srgbClr val="1223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716000" cy="1242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0125" y="6109335"/>
            <a:ext cx="10287000" cy="902970"/>
            <a:chOff x="0" y="0"/>
            <a:chExt cx="13716000" cy="12039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716000" cy="1203960"/>
            </a:xfrm>
            <a:custGeom>
              <a:avLst/>
              <a:gdLst/>
              <a:ahLst/>
              <a:cxnLst/>
              <a:rect l="l" t="t" r="r" b="b"/>
              <a:pathLst>
                <a:path w="13716000" h="1203960">
                  <a:moveTo>
                    <a:pt x="0" y="0"/>
                  </a:moveTo>
                  <a:lnTo>
                    <a:pt x="13716000" y="0"/>
                  </a:lnTo>
                  <a:lnTo>
                    <a:pt x="13716000" y="1203960"/>
                  </a:lnTo>
                  <a:lnTo>
                    <a:pt x="0" y="1203960"/>
                  </a:lnTo>
                  <a:close/>
                </a:path>
              </a:pathLst>
            </a:custGeom>
            <a:solidFill>
              <a:srgbClr val="1223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716000" cy="1242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0125" y="3400425"/>
            <a:ext cx="10287000" cy="19050"/>
            <a:chOff x="0" y="0"/>
            <a:chExt cx="13716000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716000" cy="25400"/>
            </a:xfrm>
            <a:custGeom>
              <a:avLst/>
              <a:gdLst/>
              <a:ahLst/>
              <a:cxnLst/>
              <a:rect l="l" t="t" r="r" b="b"/>
              <a:pathLst>
                <a:path w="13716000" h="254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8A9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3716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048125" y="2619375"/>
            <a:ext cx="19050" cy="5295900"/>
            <a:chOff x="0" y="0"/>
            <a:chExt cx="25400" cy="7061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" cy="7061200"/>
            </a:xfrm>
            <a:custGeom>
              <a:avLst/>
              <a:gdLst/>
              <a:ahLst/>
              <a:cxnLst/>
              <a:rect l="l" t="t" r="r" b="b"/>
              <a:pathLst>
                <a:path w="25400" h="7061200">
                  <a:moveTo>
                    <a:pt x="0" y="0"/>
                  </a:moveTo>
                  <a:lnTo>
                    <a:pt x="25400" y="0"/>
                  </a:lnTo>
                  <a:lnTo>
                    <a:pt x="25400" y="7061200"/>
                  </a:lnTo>
                  <a:lnTo>
                    <a:pt x="0" y="7061200"/>
                  </a:lnTo>
                  <a:close/>
                </a:path>
              </a:pathLst>
            </a:custGeom>
            <a:solidFill>
              <a:srgbClr val="18A9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5400" cy="709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0125" y="4303395"/>
            <a:ext cx="10287000" cy="19050"/>
            <a:chOff x="0" y="0"/>
            <a:chExt cx="13716000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716000" cy="25400"/>
            </a:xfrm>
            <a:custGeom>
              <a:avLst/>
              <a:gdLst/>
              <a:ahLst/>
              <a:cxnLst/>
              <a:rect l="l" t="t" r="r" b="b"/>
              <a:pathLst>
                <a:path w="13716000" h="254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05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716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0125" y="5206365"/>
            <a:ext cx="10287000" cy="19050"/>
            <a:chOff x="0" y="0"/>
            <a:chExt cx="13716000" cy="25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716000" cy="25400"/>
            </a:xfrm>
            <a:custGeom>
              <a:avLst/>
              <a:gdLst/>
              <a:ahLst/>
              <a:cxnLst/>
              <a:rect l="l" t="t" r="r" b="b"/>
              <a:pathLst>
                <a:path w="13716000" h="254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05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3716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0125" y="6109335"/>
            <a:ext cx="10287000" cy="19050"/>
            <a:chOff x="0" y="0"/>
            <a:chExt cx="13716000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716000" cy="25400"/>
            </a:xfrm>
            <a:custGeom>
              <a:avLst/>
              <a:gdLst/>
              <a:ahLst/>
              <a:cxnLst/>
              <a:rect l="l" t="t" r="r" b="b"/>
              <a:pathLst>
                <a:path w="13716000" h="254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05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3716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0125" y="7012305"/>
            <a:ext cx="10287000" cy="19050"/>
            <a:chOff x="0" y="0"/>
            <a:chExt cx="13716000" cy="25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716000" cy="25400"/>
            </a:xfrm>
            <a:custGeom>
              <a:avLst/>
              <a:gdLst/>
              <a:ahLst/>
              <a:cxnLst/>
              <a:rect l="l" t="t" r="r" b="b"/>
              <a:pathLst>
                <a:path w="13716000" h="254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05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3716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66825" y="2819400"/>
            <a:ext cx="25146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B193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314825" y="2819400"/>
            <a:ext cx="67056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B193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Fungsi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6825" y="3656647"/>
            <a:ext cx="2514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" "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14825" y="3656647"/>
            <a:ext cx="6705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mencari kalimat persis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6825" y="4559617"/>
            <a:ext cx="2514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site: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14825" y="4559617"/>
            <a:ext cx="6705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situs tertentu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6825" y="5462587"/>
            <a:ext cx="2514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filetype: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14825" y="5462587"/>
            <a:ext cx="6705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PDF / PPT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66825" y="6365557"/>
            <a:ext cx="2514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-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14825" y="6365557"/>
            <a:ext cx="6705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mengecualikan kata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6825" y="7268528"/>
            <a:ext cx="2514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OR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314825" y="7268528"/>
            <a:ext cx="6705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salah satu kata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Search vs Search Engine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57500" y="8029575"/>
            <a:ext cx="125730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membantu — tetapi tidak menggantikan berpikir kritis.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2857500"/>
            <a:ext cx="16383000" cy="4743450"/>
            <a:chOff x="0" y="0"/>
            <a:chExt cx="21844000" cy="6324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44000" cy="6324600"/>
            </a:xfrm>
            <a:custGeom>
              <a:avLst/>
              <a:gdLst/>
              <a:ahLst/>
              <a:cxnLst/>
              <a:rect l="l" t="t" r="r" b="b"/>
              <a:pathLst>
                <a:path w="21844000" h="6324600">
                  <a:moveTo>
                    <a:pt x="0" y="0"/>
                  </a:moveTo>
                  <a:lnTo>
                    <a:pt x="21844000" y="0"/>
                  </a:lnTo>
                  <a:lnTo>
                    <a:pt x="21844000" y="6324600"/>
                  </a:lnTo>
                  <a:lnTo>
                    <a:pt x="0" y="6324600"/>
                  </a:lnTo>
                  <a:close/>
                </a:path>
              </a:pathLst>
            </a:custGeom>
            <a:solidFill>
              <a:srgbClr val="1223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844000" cy="6372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500" y="2857500"/>
            <a:ext cx="16383000" cy="781050"/>
            <a:chOff x="0" y="0"/>
            <a:chExt cx="21844000" cy="1041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844000" cy="1041400"/>
            </a:xfrm>
            <a:custGeom>
              <a:avLst/>
              <a:gdLst/>
              <a:ahLst/>
              <a:cxnLst/>
              <a:rect l="l" t="t" r="r" b="b"/>
              <a:pathLst>
                <a:path w="21844000" h="1041400">
                  <a:moveTo>
                    <a:pt x="0" y="0"/>
                  </a:moveTo>
                  <a:lnTo>
                    <a:pt x="21844000" y="0"/>
                  </a:lnTo>
                  <a:lnTo>
                    <a:pt x="21844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0B193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844000" cy="1089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3638550"/>
            <a:ext cx="16383000" cy="9525"/>
            <a:chOff x="0" y="0"/>
            <a:chExt cx="2184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6B7E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1844000" cy="60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4629150"/>
            <a:ext cx="16383000" cy="9525"/>
            <a:chOff x="0" y="0"/>
            <a:chExt cx="21844000" cy="12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6B7E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1844000" cy="60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5619750"/>
            <a:ext cx="16383000" cy="9525"/>
            <a:chOff x="0" y="0"/>
            <a:chExt cx="21844000" cy="12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6B7E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1844000" cy="60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6610350"/>
            <a:ext cx="16383000" cy="9525"/>
            <a:chOff x="0" y="0"/>
            <a:chExt cx="21844000" cy="12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6B7E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1844000" cy="60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09700" y="3064193"/>
            <a:ext cx="740092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Search Engine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7375" y="3064193"/>
            <a:ext cx="740092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AI Assistant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9700" y="39690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Menampilkan daftar halaman web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7375" y="39690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Memberikan jawaban atau penjelasan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9700" y="49596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Pengguna memilih sumber sendiri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77375" y="49596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merangkum informasi dari berbagai sumber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9700" y="59502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Cocok mencari referensi asli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77375" y="59502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Cocok memahami konsep atau brainstorming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09700" y="69408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Tetap perlu mengevaluasi sumber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7375" y="6940868"/>
            <a:ext cx="74009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Tetap perlu memverifikasi jawaban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Apakah semua informasi benar?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62000" y="3524250"/>
            <a:ext cx="2000250" cy="1238250"/>
            <a:chOff x="0" y="0"/>
            <a:chExt cx="2667000" cy="165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Website A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27622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238500" y="4286250"/>
            <a:ext cx="2000250" cy="1238250"/>
            <a:chOff x="0" y="0"/>
            <a:chExt cx="2667000" cy="165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Website B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52387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715000" y="3524250"/>
            <a:ext cx="2000250" cy="1238250"/>
            <a:chOff x="0" y="0"/>
            <a:chExt cx="2667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TikTok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7152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8191500" y="4286250"/>
            <a:ext cx="2000250" cy="1238250"/>
            <a:chOff x="0" y="0"/>
            <a:chExt cx="2667000" cy="165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Instagram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101917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0668000" y="3524250"/>
            <a:ext cx="2000250" cy="1238250"/>
            <a:chOff x="0" y="0"/>
            <a:chExt cx="2667000" cy="165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ChatGPT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26682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3144500" y="4286250"/>
            <a:ext cx="2000250" cy="1238250"/>
            <a:chOff x="0" y="0"/>
            <a:chExt cx="2667000" cy="165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1223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Blog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15144750" y="4143375"/>
            <a:ext cx="428625" cy="762000"/>
          </a:xfrm>
          <a:prstGeom prst="line">
            <a:avLst/>
          </a:prstGeom>
          <a:ln w="28575" cap="flat">
            <a:solidFill>
              <a:srgbClr val="5D6B7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5621000" y="3524250"/>
            <a:ext cx="2000250" cy="1238250"/>
            <a:chOff x="0" y="0"/>
            <a:chExt cx="2667000" cy="1651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67000" cy="1651000"/>
            </a:xfrm>
            <a:custGeom>
              <a:avLst/>
              <a:gdLst/>
              <a:ahLst/>
              <a:cxnLst/>
              <a:rect l="l" t="t" r="r" b="b"/>
              <a:pathLst>
                <a:path w="2667000" h="1651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578429"/>
                  </a:lnTo>
                  <a:cubicBezTo>
                    <a:pt x="2667000" y="1597676"/>
                    <a:pt x="2659354" y="1616135"/>
                    <a:pt x="2645744" y="1629744"/>
                  </a:cubicBezTo>
                  <a:cubicBezTo>
                    <a:pt x="2632134" y="1643354"/>
                    <a:pt x="2613676" y="1651000"/>
                    <a:pt x="2594429" y="1651000"/>
                  </a:cubicBezTo>
                  <a:lnTo>
                    <a:pt x="72571" y="1651000"/>
                  </a:lnTo>
                  <a:cubicBezTo>
                    <a:pt x="53324" y="1651000"/>
                    <a:pt x="34865" y="1643354"/>
                    <a:pt x="21256" y="1629744"/>
                  </a:cubicBezTo>
                  <a:cubicBezTo>
                    <a:pt x="7646" y="1616135"/>
                    <a:pt x="0" y="1597676"/>
                    <a:pt x="0" y="1578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667000" cy="167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Jurnal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429000" y="6591300"/>
            <a:ext cx="114300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Mana yang paling dapat dipercaya?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9000" y="7486650"/>
            <a:ext cx="114300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2233F"/>
                </a:solidFill>
                <a:latin typeface="DM Sans"/>
                <a:ea typeface="DM Sans"/>
                <a:cs typeface="DM Sans"/>
                <a:sym typeface="DM Sans"/>
              </a:rPr>
              <a:t>Jenis media tidak otomatis menentukan kredibilitas. Periksa isi, pembuat, bukti, dan konteksnya.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Evaluasi sumber dengan metode 5C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2840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62000" y="2762250"/>
            <a:ext cx="3143250" cy="3905250"/>
            <a:chOff x="0" y="0"/>
            <a:chExt cx="4191000" cy="5207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191000" cy="5207000"/>
              <a:chOff x="0" y="0"/>
              <a:chExt cx="4191000" cy="5207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191000" cy="520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207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18325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191000" cy="524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81000" y="422275"/>
              <a:ext cx="1270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1000" y="2047875"/>
              <a:ext cx="3556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Currency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000" y="2955925"/>
              <a:ext cx="3556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C8D4E2"/>
                  </a:solidFill>
                  <a:latin typeface="DM Sans"/>
                  <a:ea typeface="DM Sans"/>
                  <a:cs typeface="DM Sans"/>
                  <a:sym typeface="DM Sans"/>
                </a:rPr>
                <a:t>Apakah masih terbaru?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38625" y="2762250"/>
            <a:ext cx="3143250" cy="3905250"/>
            <a:chOff x="0" y="0"/>
            <a:chExt cx="4191000" cy="5207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191000" cy="5207000"/>
              <a:chOff x="0" y="0"/>
              <a:chExt cx="4191000" cy="5207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191000" cy="520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207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18325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4191000" cy="524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81000" y="422275"/>
              <a:ext cx="1270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000" y="2047875"/>
              <a:ext cx="3556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Credibility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000" y="2955925"/>
              <a:ext cx="3556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C8D4E2"/>
                  </a:solidFill>
                  <a:latin typeface="DM Sans"/>
                  <a:ea typeface="DM Sans"/>
                  <a:cs typeface="DM Sans"/>
                  <a:sym typeface="DM Sans"/>
                </a:rPr>
                <a:t>Siapa penulisnya?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715250" y="2762250"/>
            <a:ext cx="3143250" cy="3905250"/>
            <a:chOff x="0" y="0"/>
            <a:chExt cx="4191000" cy="5207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191000" cy="5207000"/>
              <a:chOff x="0" y="0"/>
              <a:chExt cx="4191000" cy="5207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191000" cy="520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207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18325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4191000" cy="524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81000" y="422275"/>
              <a:ext cx="1270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000" y="2047875"/>
              <a:ext cx="3556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Correctness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000" y="2955925"/>
              <a:ext cx="3556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C8D4E2"/>
                  </a:solidFill>
                  <a:latin typeface="DM Sans"/>
                  <a:ea typeface="DM Sans"/>
                  <a:cs typeface="DM Sans"/>
                  <a:sym typeface="DM Sans"/>
                </a:rPr>
                <a:t>Ada bukti pendukung?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191875" y="2762250"/>
            <a:ext cx="3143250" cy="3905250"/>
            <a:chOff x="0" y="0"/>
            <a:chExt cx="4191000" cy="5207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191000" cy="5207000"/>
              <a:chOff x="0" y="0"/>
              <a:chExt cx="4191000" cy="5207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191000" cy="520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207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18325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4191000" cy="524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81000" y="422275"/>
              <a:ext cx="1270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000" y="2047875"/>
              <a:ext cx="3556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Coverage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1000" y="2955925"/>
              <a:ext cx="3556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C8D4E2"/>
                  </a:solidFill>
                  <a:latin typeface="DM Sans"/>
                  <a:ea typeface="DM Sans"/>
                  <a:cs typeface="DM Sans"/>
                  <a:sym typeface="DM Sans"/>
                </a:rPr>
                <a:t>Cukup lengkap?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668500" y="2762250"/>
            <a:ext cx="3143250" cy="3905250"/>
            <a:chOff x="0" y="0"/>
            <a:chExt cx="4191000" cy="5207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191000" cy="5207000"/>
              <a:chOff x="0" y="0"/>
              <a:chExt cx="4191000" cy="520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191000" cy="520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207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4191000" cy="524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81000" y="422275"/>
              <a:ext cx="127000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1223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1000" y="2047875"/>
              <a:ext cx="3556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Citation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1000" y="2955925"/>
              <a:ext cx="3556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Rujukannya jelas?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Mengenali hoaks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62000" y="2476500"/>
            <a:ext cx="10858500" cy="3905250"/>
            <a:chOff x="0" y="0"/>
            <a:chExt cx="14478000" cy="520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78000" cy="5207000"/>
            </a:xfrm>
            <a:custGeom>
              <a:avLst/>
              <a:gdLst/>
              <a:ahLst/>
              <a:cxnLst/>
              <a:rect l="l" t="t" r="r" b="b"/>
              <a:pathLst>
                <a:path w="14478000" h="5207000">
                  <a:moveTo>
                    <a:pt x="0" y="0"/>
                  </a:moveTo>
                  <a:lnTo>
                    <a:pt x="14478000" y="0"/>
                  </a:lnTo>
                  <a:lnTo>
                    <a:pt x="14478000" y="5207000"/>
                  </a:lnTo>
                  <a:lnTo>
                    <a:pt x="0" y="5207000"/>
                  </a:lnTo>
                  <a:close/>
                </a:path>
              </a:pathLst>
            </a:custGeom>
            <a:solidFill>
              <a:srgbClr val="EF6F6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78000" cy="524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01500" y="2476500"/>
            <a:ext cx="5334000" cy="3905250"/>
            <a:chOff x="0" y="0"/>
            <a:chExt cx="7112000" cy="520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2000" cy="5207000"/>
            </a:xfrm>
            <a:custGeom>
              <a:avLst/>
              <a:gdLst/>
              <a:ahLst/>
              <a:cxnLst/>
              <a:rect l="l" t="t" r="r" b="b"/>
              <a:pathLst>
                <a:path w="7112000" h="5207000">
                  <a:moveTo>
                    <a:pt x="0" y="0"/>
                  </a:moveTo>
                  <a:lnTo>
                    <a:pt x="7112000" y="0"/>
                  </a:lnTo>
                  <a:lnTo>
                    <a:pt x="7112000" y="5207000"/>
                  </a:lnTo>
                  <a:lnTo>
                    <a:pt x="0" y="520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112000" cy="524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838450"/>
            <a:ext cx="10453093" cy="166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9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Pada pidato Pimpinan Negara mengatakan: </a:t>
            </a:r>
          </a:p>
          <a:p>
            <a:pPr algn="l">
              <a:lnSpc>
                <a:spcPts val="4368"/>
              </a:lnSpc>
            </a:pPr>
            <a:r>
              <a:rPr lang="en-US" sz="39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“Bu Susana mendapatkan upah Rp700.000/kg dari mengupas bawang”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5429250"/>
            <a:ext cx="857250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JUDUL MENGEJUTKAN ≠ HOAKS (Ucapan Keliru)</a:t>
            </a:r>
          </a:p>
          <a:p>
            <a:pPr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Kekeliruan tanpa adanya klarifikasi = HOAKS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82500" y="2933700"/>
            <a:ext cx="4286250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1  Cek sumber</a:t>
            </a:r>
          </a:p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2  Cek tanggal</a:t>
            </a:r>
          </a:p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3  Cari media pembanding</a:t>
            </a:r>
          </a:p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4  Periksa bukti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8372475"/>
            <a:ext cx="15240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2233F"/>
                </a:solidFill>
                <a:latin typeface="DM Sans"/>
                <a:ea typeface="DM Sans"/>
                <a:cs typeface="DM Sans"/>
                <a:sym typeface="DM Sans"/>
              </a:rPr>
              <a:t>Hubungkan dengan Ekosistem Periksa Fakta di buku Informatika.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838950"/>
            <a:ext cx="1059180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Berita asli pendapatan bu susana:</a:t>
            </a:r>
          </a:p>
          <a:p>
            <a:pPr algn="l">
              <a:lnSpc>
                <a:spcPts val="3359"/>
              </a:lnSpc>
            </a:pPr>
            <a:r>
              <a:rPr lang="en-US" sz="2400" u="sng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  <a:hlinkClick r:id="rId2" tooltip="https://www.youtube.com/watch?v=tLaIdEedoU4"/>
              </a:rPr>
              <a:t>Youtube Badan Komunikasi Pemerintah RI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(2:33)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Studi </a:t>
            </a:r>
            <a:r>
              <a:rPr lang="en-US" sz="4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kasus</a:t>
            </a:r>
            <a:r>
              <a:rPr lang="en-US" sz="4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berbasis</a:t>
            </a:r>
            <a:r>
              <a:rPr lang="en-US" sz="4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kelompok</a:t>
            </a:r>
            <a:endParaRPr lang="en-US" sz="4800" b="1" dirty="0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2840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38250" y="2388746"/>
            <a:ext cx="15811500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“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Mulai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tahun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depan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semua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pekerjaan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administrasi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akan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digantikan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AI.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Lulusan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SMK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sudah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tidak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diperlukan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4800" b="1" dirty="0" err="1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lagi</a:t>
            </a:r>
            <a:r>
              <a:rPr lang="en-US" sz="4800" b="1" dirty="0">
                <a:solidFill>
                  <a:srgbClr val="FFC8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5816957"/>
            <a:ext cx="38100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dirty="0">
                <a:solidFill>
                  <a:srgbClr val="18A999"/>
                </a:solidFill>
                <a:latin typeface="Archivo Black"/>
                <a:ea typeface="Archivo Black"/>
                <a:cs typeface="Archivo Black"/>
                <a:sym typeface="Archivo Black"/>
              </a:rPr>
              <a:t>TUGAS KELOMPOK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6813668"/>
            <a:ext cx="16897350" cy="474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sz="2775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PAHAMI  →  STRATEGI  →  BUKTI  →  ANALISIS 5C  →  BANDINGKAN → KESIMPULAN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0850" y="8946963"/>
            <a:ext cx="12573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Latihan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berpikir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kritis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jangan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menerima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klaim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besar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tanpa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memeriksa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dasar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buktinya</a:t>
            </a:r>
            <a:r>
              <a:rPr lang="en-US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Aktivitas investigasi berkelompok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52500" y="2333625"/>
            <a:ext cx="7239000" cy="6191250"/>
          </a:xfrm>
          <a:custGeom>
            <a:avLst/>
            <a:gdLst/>
            <a:ahLst/>
            <a:cxnLst/>
            <a:rect l="l" t="t" r="r" b="b"/>
            <a:pathLst>
              <a:path w="7239000" h="6191250">
                <a:moveTo>
                  <a:pt x="0" y="0"/>
                </a:moveTo>
                <a:lnTo>
                  <a:pt x="7239000" y="0"/>
                </a:lnTo>
                <a:lnTo>
                  <a:pt x="7239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023" r="-2602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334500" y="2638425"/>
            <a:ext cx="57150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TOPIK CONTOH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0" y="3114675"/>
            <a:ext cx="72390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Apakah AI berbahaya?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0" y="4476750"/>
            <a:ext cx="4762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F6F6C"/>
                </a:solidFill>
                <a:latin typeface="Archivo Black"/>
                <a:ea typeface="Archivo Black"/>
                <a:cs typeface="Archivo Black"/>
                <a:sym typeface="Archivo Black"/>
              </a:rPr>
              <a:t>TEMUKAN MINIMAL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4500" y="5019675"/>
            <a:ext cx="6667500" cy="172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01  Artikel berita</a:t>
            </a:r>
          </a:p>
          <a:p>
            <a:pPr algn="l">
              <a:lnSpc>
                <a:spcPts val="3487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02  Jurnal</a:t>
            </a:r>
          </a:p>
          <a:p>
            <a:pPr algn="l">
              <a:lnSpc>
                <a:spcPts val="3487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03  Website pemerintah</a:t>
            </a:r>
          </a:p>
          <a:p>
            <a:pPr algn="l">
              <a:lnSpc>
                <a:spcPts val="3487"/>
              </a:lnSpc>
            </a:pPr>
            <a:r>
              <a:rPr lang="en-US" sz="2250" b="1">
                <a:solidFill>
                  <a:srgbClr val="12233F"/>
                </a:solidFill>
                <a:latin typeface="DM Sans Bold"/>
                <a:ea typeface="DM Sans Bold"/>
                <a:cs typeface="DM Sans Bold"/>
                <a:sym typeface="DM Sans Bold"/>
              </a:rPr>
              <a:t>04  Hasil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4500" y="7762875"/>
            <a:ext cx="6667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8A999"/>
                </a:solidFill>
                <a:latin typeface="Archivo Black"/>
                <a:ea typeface="Archivo Black"/>
                <a:cs typeface="Archivo Black"/>
                <a:sym typeface="Archivo Black"/>
              </a:rPr>
              <a:t>Bandingkan • Diskusikan • Simpulkan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Diskusi kelas: buktikan pilihanmu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2667000"/>
            <a:ext cx="5095875" cy="4095750"/>
            <a:chOff x="0" y="0"/>
            <a:chExt cx="6794500" cy="5461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94500" cy="5461000"/>
              <a:chOff x="0" y="0"/>
              <a:chExt cx="6794500" cy="5461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7945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794500" h="54610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7945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44500" y="431800"/>
              <a:ext cx="1270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4500" y="2111375"/>
              <a:ext cx="6096000" cy="405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SUMBER TERKUAT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4500" y="3019425"/>
              <a:ext cx="609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Sumber paling kredibel yang ditemukan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4625" y="2667000"/>
            <a:ext cx="5095875" cy="4095750"/>
            <a:chOff x="0" y="0"/>
            <a:chExt cx="6794500" cy="5461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94500" cy="5461000"/>
              <a:chOff x="0" y="0"/>
              <a:chExt cx="6794500" cy="546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7945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794500" h="54610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7945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4500" y="431800"/>
              <a:ext cx="1270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4500" y="2111375"/>
              <a:ext cx="6096000" cy="405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ALASAN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500" y="3019425"/>
              <a:ext cx="6096000" cy="43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Mengapa sumber itu layak dipercaya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96750" y="2667000"/>
            <a:ext cx="5095875" cy="4095750"/>
            <a:chOff x="0" y="0"/>
            <a:chExt cx="6794500" cy="5461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6794500" cy="5461000"/>
              <a:chOff x="0" y="0"/>
              <a:chExt cx="6794500" cy="5461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7945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794500" h="54610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7945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44500" y="431800"/>
              <a:ext cx="1270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>
                  <a:solidFill>
                    <a:srgbClr val="FFC8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500" y="2111375"/>
              <a:ext cx="6096000" cy="405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8A99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PERBEDAAN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500" y="3019425"/>
              <a:ext cx="6096000" cy="43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2233F"/>
                  </a:solidFill>
                  <a:latin typeface="DM Sans"/>
                  <a:ea typeface="DM Sans"/>
                  <a:cs typeface="DM Sans"/>
                  <a:sym typeface="DM Sans"/>
                </a:rPr>
                <a:t>Apa yang berbeda antar sumber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333750" y="7753350"/>
            <a:ext cx="11620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Guru memfasilitasi pertanyaan, bukan memberi jawaban instan.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930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828675"/>
            <a:ext cx="809625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FFC857"/>
                </a:solidFill>
                <a:latin typeface="DM Sans Bold"/>
                <a:ea typeface="DM Sans Bold"/>
                <a:cs typeface="DM Sans Bold"/>
                <a:sym typeface="DM Sans Bold"/>
              </a:rPr>
              <a:t>ETIKA MENGGUNAKAN INFORMASI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1638300"/>
            <a:ext cx="9525000" cy="140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517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Gunakan informasi dengan integritas.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4400550"/>
            <a:ext cx="8572500" cy="207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Cantumkan sumber dengan benar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Hindari plagiarisme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Jangan menyebarkan hoaks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Verifikasi sebelum membagikan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Gunakan AI sebagai alat bantu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7943850"/>
            <a:ext cx="9525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C857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bukan pengganti berpikir kritis.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8BA0BB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04825"/>
            <a:ext cx="85725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18A999"/>
                </a:solidFill>
                <a:latin typeface="DM Sans Bold"/>
                <a:ea typeface="DM Sans Bold"/>
                <a:cs typeface="DM Sans Bold"/>
                <a:sym typeface="DM Sans Bold"/>
              </a:rPr>
              <a:t>MODUL INFORMASI DIGITAL  •  18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028700"/>
            <a:ext cx="142875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Refleksi pembelajaran</a:t>
            </a:r>
          </a:p>
        </p:txBody>
      </p:sp>
      <p:sp>
        <p:nvSpPr>
          <p:cNvPr id="4" name="AutoShape 4"/>
          <p:cNvSpPr/>
          <p:nvPr/>
        </p:nvSpPr>
        <p:spPr>
          <a:xfrm>
            <a:off x="952500" y="1962150"/>
            <a:ext cx="16383000" cy="0"/>
          </a:xfrm>
          <a:prstGeom prst="line">
            <a:avLst/>
          </a:prstGeom>
          <a:ln w="19050" cap="flat">
            <a:solidFill>
              <a:srgbClr val="D9D1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52500" y="2714625"/>
            <a:ext cx="7810500" cy="1809750"/>
            <a:chOff x="0" y="0"/>
            <a:chExt cx="10414000" cy="2413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414000" cy="2413000"/>
              <a:chOff x="0" y="0"/>
              <a:chExt cx="10414000" cy="2413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41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413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041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52400" cy="2413000"/>
              <a:chOff x="0" y="0"/>
              <a:chExt cx="152400" cy="2413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24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413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524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4500" y="409575"/>
              <a:ext cx="9525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Hari ini saya belajar…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2714625"/>
            <a:ext cx="7810500" cy="1809750"/>
            <a:chOff x="0" y="0"/>
            <a:chExt cx="10414000" cy="2413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414000" cy="2413000"/>
              <a:chOff x="0" y="0"/>
              <a:chExt cx="10414000" cy="2413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41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413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41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52400" cy="2413000"/>
              <a:chOff x="0" y="0"/>
              <a:chExt cx="152400" cy="2413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524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413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524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44500" y="409575"/>
              <a:ext cx="9525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Hal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baru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yang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saya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ketahui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…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2500" y="5048250"/>
            <a:ext cx="7810500" cy="1809750"/>
            <a:chOff x="0" y="0"/>
            <a:chExt cx="10414000" cy="2413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414000" cy="2413000"/>
              <a:chOff x="0" y="0"/>
              <a:chExt cx="10414000" cy="2413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41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413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41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152400" cy="2413000"/>
              <a:chOff x="0" y="0"/>
              <a:chExt cx="152400" cy="2413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524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413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524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44500" y="409575"/>
              <a:ext cx="9525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Hal yang masih membingungkan…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0" y="5048250"/>
            <a:ext cx="7810500" cy="1809750"/>
            <a:chOff x="0" y="0"/>
            <a:chExt cx="10414000" cy="2413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0414000" cy="2413000"/>
              <a:chOff x="0" y="0"/>
              <a:chExt cx="10414000" cy="2413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41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413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41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0"/>
              <a:ext cx="152400" cy="2413000"/>
              <a:chOff x="0" y="0"/>
              <a:chExt cx="152400" cy="2413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524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413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524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44500" y="409575"/>
              <a:ext cx="9525000" cy="501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Mulai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sekarang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saya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</a:t>
              </a:r>
              <a:r>
                <a:rPr lang="en-US" sz="2250" b="1" dirty="0" err="1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akan</a:t>
              </a:r>
              <a:r>
                <a:rPr lang="en-US" sz="2250" b="1" dirty="0">
                  <a:solidFill>
                    <a:srgbClr val="12233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…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14500" y="7791450"/>
            <a:ext cx="148590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1223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Terima kasih — terus belajar, bertanya, dan memeriksa.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2500" y="9772650"/>
            <a:ext cx="952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D6B7E"/>
                </a:solidFill>
                <a:latin typeface="DM Sans Bold"/>
                <a:ea typeface="DM Sans Bold"/>
                <a:cs typeface="DM Sans Bold"/>
                <a:sym typeface="DM Sans Bold"/>
              </a:rPr>
              <a:t>BERPIKIR KRITIS  •  VERIFIKASI  •  BERTANGGUNG JAWAB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383000" y="9753600"/>
            <a:ext cx="95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12233F"/>
                </a:solidFill>
                <a:latin typeface="Archivo Black"/>
                <a:ea typeface="Archivo Black"/>
                <a:cs typeface="Archivo Black"/>
                <a:sym typeface="Archivo Black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946</Words>
  <Application>Microsoft Macintosh PowerPoint</Application>
  <PresentationFormat>Custom</PresentationFormat>
  <Paragraphs>233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DM Sans Bold</vt:lpstr>
      <vt:lpstr>Arial</vt:lpstr>
      <vt:lpstr>Bricolage Grotesque Bold</vt:lpstr>
      <vt:lpstr>Calibri</vt:lpstr>
      <vt:lpstr>Archivo Black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PRODUK</dc:title>
  <cp:lastModifiedBy>ibnu allika prabo warasto</cp:lastModifiedBy>
  <cp:revision>3</cp:revision>
  <dcterms:created xsi:type="dcterms:W3CDTF">2006-08-16T00:00:00Z</dcterms:created>
  <dcterms:modified xsi:type="dcterms:W3CDTF">2026-09-03T11:40:45Z</dcterms:modified>
  <dc:identifier>DAHUDXsm2HM</dc:identifier>
</cp:coreProperties>
</file>